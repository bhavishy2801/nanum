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6"/>
                </a:solidFill>
                <a:latin typeface="Segoe UI"/>
              </a:defRPr>
            </a:pPr>
            <a:r>
              <a:rPr sz="1300" b="0" i="0" u="none" strike="noStrike">
                <a:solidFill>
                  <a:srgbClr val="161616"/>
                </a:solidFill>
                <a:latin typeface="Segoe UI"/>
              </a:rPr>
              <a:t>Food rescued (%)</a:t>
            </a:r>
          </a:p>
        </c:rich>
      </c:tx>
      <c:layout/>
      <c:overlay val="0"/>
    </c:title>
    <c:autoTitleDeleted val="0"/>
    <c:plotArea>
      <c:layout/>
      <c:barChart>
        <c:barDir val="col"/>
        <c:grouping val="clustered"/>
        <c:varyColors val="0"/>
        <c:ser>
          <c:idx val="0"/>
          <c:order val="0"/>
          <c:tx>
            <c:strRef>
              <c:f>Sheet1!$B$1</c:f>
              <c:strCache>
                <c:ptCount val="1"/>
                <c:pt idx="0">
                  <c:v>Food rescued %</c:v>
                </c:pt>
              </c:strCache>
            </c:strRef>
          </c:tx>
          <c:spPr>
            <a:solidFill>
              <a:srgbClr val="B8B8C6"/>
            </a:solidFill>
            <a:effectLst/>
          </c:spPr>
          <c:invertIfNegative val="0"/>
          <c:dLbls>
            <c:numFmt formatCode="0.0" sourceLinked="0"/>
            <c:txPr>
              <a:bodyPr/>
              <a:lstStyle/>
              <a:p>
                <a:pPr>
                  <a:defRPr b="1" i="0" strike="noStrike" sz="1000" u="none">
                    <a:solidFill>
                      <a:srgbClr val="161616"/>
                    </a:solidFill>
                    <a:latin typeface="Arial"/>
                  </a:defRPr>
                </a:pPr>
              </a:p>
            </c:txPr>
            <c:showLegendKey val="0"/>
            <c:showVal val="1"/>
            <c:showCatName val="0"/>
            <c:showSerName val="0"/>
            <c:showPercent val="0"/>
            <c:showBubbleSize val="0"/>
            <c:showLeaderLines val="0"/>
          </c:dLbls>
          <c:dPt>
            <c:idx val="0"/>
            <c:invertIfNegative val="0"/>
            <c:bubble3D val="0"/>
            <c:spPr>
              <a:solidFill>
                <a:srgbClr val="B8B8C6"/>
              </a:solidFill>
              <a:effectLst/>
            </c:spPr>
          </c:dPt>
          <c:dPt>
            <c:idx val="1"/>
            <c:invertIfNegative val="0"/>
            <c:bubble3D val="0"/>
            <c:spPr>
              <a:solidFill>
                <a:srgbClr val="B8B8C6"/>
              </a:solidFill>
              <a:effectLst/>
            </c:spPr>
          </c:dPt>
          <c:dPt>
            <c:idx val="2"/>
            <c:invertIfNegative val="0"/>
            <c:bubble3D val="0"/>
            <c:spPr>
              <a:solidFill>
                <a:srgbClr val="A898F2"/>
              </a:solidFill>
              <a:effectLst/>
            </c:spPr>
          </c:dPt>
          <c:dPt>
            <c:idx val="3"/>
            <c:invertIfNegative val="0"/>
            <c:bubble3D val="0"/>
            <c:spPr>
              <a:solidFill>
                <a:srgbClr val="6C4EF5"/>
              </a:solidFill>
              <a:effectLst/>
            </c:spPr>
          </c:dPt>
          <c:cat>
            <c:multiLvlStrRef>
              <c:f>Sheet1!$A$2:$A$5</c:f>
              <c:multiLvlStrCache>
                <c:ptCount val="4"/>
                <c:lvl>
                  <c:pt idx="0">
                    <c:v>WhatsApp broadcast</c:v>
                  </c:pt>
                  <c:pt idx="1">
                    <c:v>412 static rule</c:v>
                  </c:pt>
                  <c:pt idx="2">
                    <c:v>Relay (rules)</c:v>
                  </c:pt>
                  <c:pt idx="3">
                    <c:v>Relay + RL</c:v>
                  </c:pt>
                </c:lvl>
              </c:multiLvlStrCache>
            </c:multiLvlStrRef>
          </c:cat>
          <c:val>
            <c:numRef>
              <c:f>Sheet1!$B$2:$B$5</c:f>
              <c:numCache>
                <c:formatCode>General</c:formatCode>
                <c:ptCount val="4"/>
                <c:pt idx="0">
                  <c:v>76.6</c:v>
                </c:pt>
                <c:pt idx="1">
                  <c:v>93.5</c:v>
                </c:pt>
                <c:pt idx="2">
                  <c:v>88.8</c:v>
                </c:pt>
                <c:pt idx="3">
                  <c:v>89.6</c:v>
                </c:pt>
              </c:numCache>
            </c:numRef>
          </c:val>
        </c:ser>
        <c:dLbls>
          <c:numFmt formatCode="0.0" sourceLinked="0"/>
          <c:txPr>
            <a:bodyPr/>
            <a:lstStyle/>
            <a:p>
              <a:pPr>
                <a:defRPr b="1" i="0" strike="noStrike" sz="1000" u="none">
                  <a:solidFill>
                    <a:srgbClr val="161616"/>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5B66"/>
                </a:solidFill>
                <a:latin typeface="Segoe U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6"/>
                </a:solidFill>
                <a:latin typeface="Segoe UI"/>
              </a:defRPr>
            </a:pPr>
            <a:r>
              <a:rPr sz="1300" b="0" i="0" u="none" strike="noStrike">
                <a:solidFill>
                  <a:srgbClr val="161616"/>
                </a:solidFill>
                <a:latin typeface="Segoe UI"/>
              </a:rPr>
              <a:t>Driver pings per rescue (lower = better)</a:t>
            </a:r>
          </a:p>
        </c:rich>
      </c:tx>
      <c:layout/>
      <c:overlay val="0"/>
    </c:title>
    <c:autoTitleDeleted val="0"/>
    <c:plotArea>
      <c:layout/>
      <c:barChart>
        <c:barDir val="col"/>
        <c:grouping val="clustered"/>
        <c:varyColors val="0"/>
        <c:ser>
          <c:idx val="0"/>
          <c:order val="0"/>
          <c:tx>
            <c:strRef>
              <c:f>Sheet1!$B$1</c:f>
              <c:strCache>
                <c:ptCount val="1"/>
                <c:pt idx="0">
                  <c:v>Pings per rescue</c:v>
                </c:pt>
              </c:strCache>
            </c:strRef>
          </c:tx>
          <c:spPr>
            <a:solidFill>
              <a:srgbClr val="B8B8C6"/>
            </a:solidFill>
            <a:effectLst/>
          </c:spPr>
          <c:invertIfNegative val="0"/>
          <c:dLbls>
            <c:numFmt formatCode="0.0" sourceLinked="0"/>
            <c:txPr>
              <a:bodyPr/>
              <a:lstStyle/>
              <a:p>
                <a:pPr>
                  <a:defRPr b="1" i="0" strike="noStrike" sz="1000" u="none">
                    <a:solidFill>
                      <a:srgbClr val="161616"/>
                    </a:solidFill>
                    <a:latin typeface="Arial"/>
                  </a:defRPr>
                </a:pPr>
              </a:p>
            </c:txPr>
            <c:showLegendKey val="0"/>
            <c:showVal val="1"/>
            <c:showCatName val="0"/>
            <c:showSerName val="0"/>
            <c:showPercent val="0"/>
            <c:showBubbleSize val="0"/>
            <c:showLeaderLines val="0"/>
          </c:dLbls>
          <c:dPt>
            <c:idx val="0"/>
            <c:invertIfNegative val="0"/>
            <c:bubble3D val="0"/>
            <c:spPr>
              <a:solidFill>
                <a:srgbClr val="B8B8C6"/>
              </a:solidFill>
              <a:effectLst/>
            </c:spPr>
          </c:dPt>
          <c:dPt>
            <c:idx val="1"/>
            <c:invertIfNegative val="0"/>
            <c:bubble3D val="0"/>
            <c:spPr>
              <a:solidFill>
                <a:srgbClr val="B8B8C6"/>
              </a:solidFill>
              <a:effectLst/>
            </c:spPr>
          </c:dPt>
          <c:dPt>
            <c:idx val="2"/>
            <c:invertIfNegative val="0"/>
            <c:bubble3D val="0"/>
            <c:spPr>
              <a:solidFill>
                <a:srgbClr val="A898F2"/>
              </a:solidFill>
              <a:effectLst/>
            </c:spPr>
          </c:dPt>
          <c:dPt>
            <c:idx val="3"/>
            <c:invertIfNegative val="0"/>
            <c:bubble3D val="0"/>
            <c:spPr>
              <a:solidFill>
                <a:srgbClr val="6C4EF5"/>
              </a:solidFill>
              <a:effectLst/>
            </c:spPr>
          </c:dPt>
          <c:cat>
            <c:multiLvlStrRef>
              <c:f>Sheet1!$A$2:$A$5</c:f>
              <c:multiLvlStrCache>
                <c:ptCount val="4"/>
                <c:lvl>
                  <c:pt idx="0">
                    <c:v>WhatsApp broadcast</c:v>
                  </c:pt>
                  <c:pt idx="1">
                    <c:v>412 static rule</c:v>
                  </c:pt>
                  <c:pt idx="2">
                    <c:v>Relay (rules)</c:v>
                  </c:pt>
                  <c:pt idx="3">
                    <c:v>Relay + RL</c:v>
                  </c:pt>
                </c:lvl>
              </c:multiLvlStrCache>
            </c:multiLvlStrRef>
          </c:cat>
          <c:val>
            <c:numRef>
              <c:f>Sheet1!$B$2:$B$5</c:f>
              <c:numCache>
                <c:formatCode>General</c:formatCode>
                <c:ptCount val="4"/>
                <c:pt idx="0">
                  <c:v>145.1</c:v>
                </c:pt>
                <c:pt idx="1">
                  <c:v>65.9</c:v>
                </c:pt>
                <c:pt idx="2">
                  <c:v>25</c:v>
                </c:pt>
                <c:pt idx="3">
                  <c:v>12.7</c:v>
                </c:pt>
              </c:numCache>
            </c:numRef>
          </c:val>
        </c:ser>
        <c:dLbls>
          <c:numFmt formatCode="0.0" sourceLinked="0"/>
          <c:txPr>
            <a:bodyPr/>
            <a:lstStyle/>
            <a:p>
              <a:pPr>
                <a:defRPr b="1" i="0" strike="noStrike" sz="1000" u="none">
                  <a:solidFill>
                    <a:srgbClr val="161616"/>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5B66"/>
                </a:solidFill>
                <a:latin typeface="Segoe UI"/>
              </a:defRPr>
            </a:pPr>
            <a:endParaRPr lang="en-US"/>
          </a:p>
        </c:txPr>
        <c:crossAx val="2094734552"/>
        <c:crosses val="autoZero"/>
        <c:auto val="1"/>
        <c:lblAlgn val="ctr"/>
        <c:noMultiLvlLbl val="1"/>
      </c:catAx>
      <c:valAx>
        <c:axId val="2094734552"/>
        <c:scaling>
          <c:orientation val="minMax"/>
          <c:max val="1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1616"/>
                </a:solidFill>
                <a:latin typeface="Segoe UI"/>
              </a:defRPr>
            </a:pPr>
            <a:r>
              <a:rPr sz="1200" b="0" i="0" u="none" strike="noStrike">
                <a:solidFill>
                  <a:srgbClr val="161616"/>
                </a:solidFill>
                <a:latin typeface="Segoe UI"/>
              </a:rPr>
              <a:t>RL training: how much the targets moved each round</a:t>
            </a:r>
          </a:p>
        </c:rich>
      </c:tx>
      <c:layout/>
      <c:overlay val="0"/>
    </c:title>
    <c:autoTitleDeleted val="0"/>
    <c:plotArea>
      <c:layout/>
      <c:lineChart>
        <c:varyColors val="0"/>
        <c:ser>
          <c:idx val="0"/>
          <c:order val="0"/>
          <c:tx>
            <c:strRef>
              <c:f>Sheet1!$B$1</c:f>
              <c:strCache>
                <c:ptCount val="1"/>
                <c:pt idx="0">
                  <c:v>Bellman change</c:v>
                </c:pt>
              </c:strCache>
            </c:strRef>
          </c:tx>
          <c:spPr>
            <a:solidFill>
              <a:srgbClr val="6C4EF5"/>
            </a:solidFill>
            <a:ln w="31750" cap="flat">
              <a:solidFill>
                <a:srgbClr val="6C4EF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C4EF5"/>
              </a:solidFill>
              <a:ln w="9525" cap="flat">
                <a:solidFill>
                  <a:srgbClr val="6C4EF5"/>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5.01</c:v>
                </c:pt>
                <c:pt idx="1">
                  <c:v>2.17</c:v>
                </c:pt>
                <c:pt idx="2">
                  <c:v>0.89</c:v>
                </c:pt>
                <c:pt idx="3">
                  <c:v>0.58</c:v>
                </c:pt>
                <c:pt idx="4">
                  <c:v>0.4</c:v>
                </c:pt>
                <c:pt idx="5">
                  <c:v>0.32</c:v>
                </c:pt>
                <c:pt idx="6">
                  <c:v>0.28</c:v>
                </c:pt>
                <c:pt idx="7">
                  <c:v>0.28</c:v>
                </c:pt>
                <c:pt idx="8">
                  <c:v>0.25</c:v>
                </c:pt>
                <c:pt idx="9">
                  <c:v>0.23</c:v>
                </c:pt>
                <c:pt idx="10">
                  <c:v>0.23</c:v>
                </c:pt>
                <c:pt idx="11">
                  <c:v>0.26</c:v>
                </c:pt>
                <c:pt idx="12">
                  <c:v>0.28</c:v>
                </c:pt>
                <c:pt idx="13">
                  <c:v>0.23</c:v>
                </c:pt>
                <c:pt idx="14">
                  <c:v>0.24</c:v>
                </c:pt>
                <c:pt idx="15">
                  <c:v>0.23</c:v>
                </c:pt>
                <c:pt idx="16">
                  <c:v>0.22</c:v>
                </c:pt>
                <c:pt idx="17">
                  <c:v>0.24</c:v>
                </c:pt>
                <c:pt idx="18">
                  <c:v>0.24</c:v>
                </c:pt>
                <c:pt idx="19">
                  <c:v>0.21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5B66"/>
                    </a:solidFill>
                    <a:latin typeface="Arial"/>
                  </a:defRPr>
                </a:pPr>
                <a:r>
                  <a:rPr sz="900" b="0" i="0" u="none" strike="noStrike">
                    <a:solidFill>
                      <a:srgbClr val="5B5B66"/>
                    </a:solidFill>
                    <a:latin typeface="Arial"/>
                  </a:rPr>
                  <a:t>training round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5B66"/>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C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5B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Relay turns a restaurant's unsold food into a shelter's next meal before the food-safety clock runs out. It's a working, deployed product: Google sign-in, a section for every role, real ML and RL, MongoDB storage and email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gives a 2–6 hour usable window. Coordination today is phone, spreadsheets and WhatsApp. The best public data (412 Food Rescue, 4,574 rescues) shows 16.4% were never claimed or only claimed in the final hour. Shelters have no way to publish capacity, donors don't know if food was used, and nothing is recorded for impact or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reframed the problem. A commercial platform (Copia) reports a 99% match rate, so finding a recipient is solved. What fails is fulfilment under a hard deadline using volunteers you can't command. Three windows must overlap: the food-safety clock (FDA Food Code: 4 hours for cooked food), the donor's closing time, and the shelter's receiving hours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Relay does that manual coordination can't: it checks food will be safe at serving time; it asks the drivers most likely to say yes, and only as many as needed; it alerts a coordinator before it's too late; it proves delivery with a handover code; and it keeps every person informed in the app and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donor pastes a message; it becomes a structured card. Rules choose a shelter that can serve it safely. The acceptance model scores each driver, the RL agent decides how many to ask and when, and offers go out. Pickup has a safety checklist; the shelter's 4-digit code confirms delivery; impact and a receipt are recorded. If claim odds are too low, a human is alerted before the last safe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role uses one web app and signs in with Google; the server checks role and ownership on every route. The planner brain has three tiers: rules for safety, an ML acceptance model, and an RL wave policy. Every change is an immutable event, written in order by a background writer to MongoDB Atlas (or SQLite), so state can be rebuilt by replaying the log. The notifier turns events into in-app notes and emails (Brevo API or SMTP) with an outbox and retries. A living-city simulator replays real dataset behaviour for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tests every shelter with hard rules, including whether food will still be safe when the shelter serves it (use-lead). Stage 2: a calibrated logistic model with per-volunteer effects predicts each driver's chance of accepting within 8 minutes. Stage 3: a fitted-Q-iteration agent scores asking 0, 1, 2, 3, 5 or 8 drivers; the reward is meals rescued minus 0.02 per ping. The claim probability of a wave is 1 minus the product of (1 − p). If the latest safe escalation time L approaches, a coordinator is alerted.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audited the provided dataset first and found 5 critical issues: offer times were relative to posting, RL rewards were on the wrong steps, behaviour-cloning labels were empty, one feature was a leaked oracle, and the late-night flag used relative time. We rebuilt everything from raw logs. The acceptance model reaches AUC 0.786 against an oracle ceiling of 0.787. Offline RL (fitted Q-iteration on gradient-boosted trees) learns from 31,502 logged decisions. Every policy is then evaluated on 30 held-out nights that no model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 from the running app. Left: the admin live board, with every rescue sorted by urgency, the claim odds ring, the drivers asked, and a one-click backup courier when a human is needed. Right: the donor's phone, showing the 5-step tracker and the notification bell.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Relay thinks' replays one live decision in 8 animated steps: the safety rules test every shelter, the ML model scores each driver, the RL agent's Q-values for each wave size, the offers, the reward, how the agent learned over 20 rounds, and the results. It has a presenter mode with camera zoom and narration, so anyone can follow why Relay decided what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person signs in with Google and sees only their part. Donors post in seconds and follow their food live. Drivers get offers only when they're a good fit, see the exact address only after accepting, and confirm food condition at pickup. Shelters control what they can take and give a code at handover. Coordinators see the whole city, can send a backup courier, and can inspect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moment produces an in-app notification and an email: HTML plus plain text, sent through Brevo's HTTPS API or SMTP, with an outbox and retries. The donor never receives the handover code, since the code proves delivery. A confidential shelter's address is never emailed to a driver. Admins get escalation emails only for real donors, and each person can turn emails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30 held-out nights for every policy. Against a WhatsApp-style broadcast, Relay + RL rescues 13 points more food (76.6% → 89.6%) with 91% fewer pings (145 → 12.7 per rescue). Against the 412 Food Rescue static rule, it pings 5× less for 3.9 points less food; that's a burnout setting, not a hidden flaw. Zero food-safety violations for every policy (the original logs had 17). Be clear these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model's AUC is 0.786, within 0.001 of the oracle ceiling (the true probabilities in the data), and it's well calibrated (ECE 0.005). Behaviour cloning of the dispatcher reaches 70% accuracy vs 43% for the majority class. Fitted Q-iteration's Bellman change falls from 5.0 to about 0.2 and stabilises after about 6 rounds. The planner runs in about 15 ms at p95, so matching feels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we believe are new together: serve-time safety (use-lead, not just delivery time); probabilistic offer waves instead of dispatch; an explicit escalation deadline so humans act in time; and an offline-RL policy that sizes each wave, which halved notifications compared with our rules-only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FastAPI and Uvicorn on the server. scikit-learn for the logistic acceptance model, gradient-boosted fitted Q-iteration and behaviour cloning; pandas and PyArrow for the data. MongoDB Atlas (or SQLite) for storage, Google Identity Services for sign-in, Leaflet with CARTO tiles for maps, vanilla JS with SVG and Web Animations for the UI, Brevo's HTTPS email API (or SMTP), and Docker on Render's free tier. No GPU, no paid AI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the product is built and deployable. 25 end-to-end checks, 8 storage and email tests and 7 property tests pass. It runs in about 215 MB with no GPU, on free tiers. If MongoDB is off it uses SQLite; if email isn't configured, emails are kept as previews; if drivers don't respond, a backup courier is one click away. Viability (proposed): free for NGOs and volunteers, paid verified ESG/CSR reports for food chains, and expansion city by city. The first step is a 6-week shadow-mode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a WhatsApp-style broadcast on the same simulated nights: about 16% more meals, 59% less food lost, and 78% fewer pings to the most-asked volunteers, which means less burnout. Restaurants donate in 30 seconds and get receipts; shelters get food they can serve safely; governments and ESG teams get an audit-ready log. Aligned with SDG 2, SDG 12.3 and SDG 13. Don't quote a CO2 figure unless you cite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researched the problem and real food-rescue data, audited the dataset, built safety rules first, then the acceptance model, then offline RL, evaluated everything on 30 held-out simulated nights, and built the full product with roles, email, MongoDB and a free deployment. Next: a 6-week shadow-mode pilot with our campus dining hall and one NGO chapter (Relay recommends, humans decide), then scale city by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about 3 minutes: 1) sign in as a restaurant, post '30 plates veg biryani…' and watch it match in under a second; 2) watch the tracker, the bell and the emails, then the receipt on delivery; 3) admin → How Relay thinks in presenter mode (press F, then Space); 4) Simulation lab: the same night side by side. Close with: Relay makes sure surplus food reaches a plate while it's still safe to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slideLayout" Target="../slideLayouts/slideLayout1.xm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Shape 2"/>
          <p:cNvSpPr/>
          <p:nvPr/>
        </p:nvSpPr>
        <p:spPr>
          <a:xfrm>
            <a:off x="3063240" y="1600200"/>
            <a:ext cx="868680" cy="868680"/>
          </a:xfrm>
          <a:prstGeom prst="roundRect">
            <a:avLst>
              <a:gd name="adj" fmla="val 25000"/>
            </a:avLst>
          </a:prstGeom>
          <a:solidFill>
            <a:srgbClr val="6C4EF5"/>
          </a:solidFill>
          <a:ln w="12700">
            <a:solidFill>
              <a:srgbClr val="6C4EF5"/>
            </a:solidFill>
            <a:prstDash val="solid"/>
          </a:ln>
        </p:spPr>
      </p:sp>
      <p:pic>
        <p:nvPicPr>
          <p:cNvPr id="6" name="Image 1" descr="preencoded.png">    </p:cNvPr>
          <p:cNvPicPr>
            <a:picLocks noChangeAspect="1"/>
          </p:cNvPicPr>
          <p:nvPr/>
        </p:nvPicPr>
        <p:blipFill>
          <a:blip r:embed="rId2"/>
          <a:stretch>
            <a:fillRect/>
          </a:stretch>
        </p:blipFill>
        <p:spPr>
          <a:xfrm>
            <a:off x="3254350" y="1791310"/>
            <a:ext cx="486461" cy="486461"/>
          </a:xfrm>
          <a:prstGeom prst="rect">
            <a:avLst/>
          </a:prstGeom>
        </p:spPr>
      </p:pic>
      <p:sp>
        <p:nvSpPr>
          <p:cNvPr id="7" name="Text 3"/>
          <p:cNvSpPr txBox="1"/>
          <p:nvPr/>
        </p:nvSpPr>
        <p:spPr>
          <a:xfrm>
            <a:off x="4041648" y="1490472"/>
            <a:ext cx="2743200" cy="1088136"/>
          </a:xfrm>
          <a:prstGeom prst="rect">
            <a:avLst/>
          </a:prstGeom>
          <a:noFill/>
          <a:ln/>
        </p:spPr>
        <p:txBody>
          <a:bodyPr wrap="square" lIns="0" tIns="0" rIns="0" bIns="0" rtlCol="0" anchor="ctr"/>
          <a:lstStyle/>
          <a:p>
            <a:pPr indent="0" marL="0">
              <a:buNone/>
            </a:pPr>
            <a:r>
              <a:rPr lang="en-US" sz="6000" b="1" dirty="0">
                <a:solidFill>
                  <a:srgbClr val="6C4EF5"/>
                </a:solidFill>
                <a:latin typeface="Segoe UI" pitchFamily="34" charset="0"/>
                <a:ea typeface="Segoe UI" pitchFamily="34" charset="-122"/>
                <a:cs typeface="Segoe UI" pitchFamily="34" charset="-120"/>
              </a:rPr>
              <a:t>relay</a:t>
            </a:r>
            <a:endParaRPr lang="en-US" sz="6000" dirty="0"/>
          </a:p>
        </p:txBody>
      </p:sp>
      <p:sp>
        <p:nvSpPr>
          <p:cNvPr id="8" name="Text 4"/>
          <p:cNvSpPr txBox="1"/>
          <p:nvPr/>
        </p:nvSpPr>
        <p:spPr>
          <a:xfrm>
            <a:off x="914400" y="2651760"/>
            <a:ext cx="7315200" cy="502920"/>
          </a:xfrm>
          <a:prstGeom prst="rect">
            <a:avLst/>
          </a:prstGeom>
          <a:noFill/>
          <a:ln/>
        </p:spPr>
        <p:txBody>
          <a:bodyPr wrap="square" lIns="0" tIns="0" rIns="0" bIns="0" rtlCol="0" anchor="ctr"/>
          <a:lstStyle/>
          <a:p>
            <a:pPr algn="ctr" indent="0" marL="0">
              <a:buNone/>
            </a:pPr>
            <a:r>
              <a:rPr lang="en-US" sz="2600" dirty="0">
                <a:solidFill>
                  <a:srgbClr val="161616"/>
                </a:solidFill>
                <a:latin typeface="Segoe UI" pitchFamily="34" charset="0"/>
                <a:ea typeface="Segoe UI" pitchFamily="34" charset="-122"/>
                <a:cs typeface="Segoe UI" pitchFamily="34" charset="-120"/>
              </a:rPr>
              <a:t>Deadline-Aware Food Rescue Dispatch</a:t>
            </a:r>
            <a:endParaRPr lang="en-US" sz="2600" dirty="0"/>
          </a:p>
        </p:txBody>
      </p:sp>
      <p:sp>
        <p:nvSpPr>
          <p:cNvPr id="9" name="Shape 5"/>
          <p:cNvSpPr/>
          <p:nvPr/>
        </p:nvSpPr>
        <p:spPr>
          <a:xfrm>
            <a:off x="3063240" y="3310128"/>
            <a:ext cx="457200" cy="457200"/>
          </a:xfrm>
          <a:prstGeom prst="ellipse">
            <a:avLst/>
          </a:prstGeom>
          <a:solidFill>
            <a:srgbClr val="EFEBFE"/>
          </a:solidFill>
          <a:ln w="15875">
            <a:solidFill>
              <a:srgbClr val="6C4EF5"/>
            </a:solidFill>
            <a:prstDash val="solid"/>
          </a:ln>
        </p:spPr>
      </p:sp>
      <p:pic>
        <p:nvPicPr>
          <p:cNvPr id="10" name="Image 2" descr="preencoded.png">    </p:cNvPr>
          <p:cNvPicPr>
            <a:picLocks noChangeAspect="1"/>
          </p:cNvPicPr>
          <p:nvPr/>
        </p:nvPicPr>
        <p:blipFill>
          <a:blip r:embed="rId3"/>
          <a:stretch>
            <a:fillRect/>
          </a:stretch>
        </p:blipFill>
        <p:spPr>
          <a:xfrm>
            <a:off x="3182112" y="3429000"/>
            <a:ext cx="219456" cy="219456"/>
          </a:xfrm>
          <a:prstGeom prst="rect">
            <a:avLst/>
          </a:prstGeom>
        </p:spPr>
      </p:pic>
      <p:sp>
        <p:nvSpPr>
          <p:cNvPr id="11" name="Text 6"/>
          <p:cNvSpPr txBox="1"/>
          <p:nvPr/>
        </p:nvSpPr>
        <p:spPr>
          <a:xfrm>
            <a:off x="2697480" y="3794760"/>
            <a:ext cx="1188720" cy="201168"/>
          </a:xfrm>
          <a:prstGeom prst="rect">
            <a:avLst/>
          </a:prstGeom>
          <a:noFill/>
          <a:ln/>
        </p:spPr>
        <p:txBody>
          <a:bodyPr wrap="square" lIns="0" tIns="0" rIns="0" bIns="0" rtlCol="0" anchor="ctr"/>
          <a:lstStyle/>
          <a:p>
            <a:pPr algn="ctr" indent="0" marL="0">
              <a:buNone/>
            </a:pPr>
            <a:r>
              <a:rPr lang="en-US" sz="1000" dirty="0">
                <a:solidFill>
                  <a:srgbClr val="7A7A85"/>
                </a:solidFill>
                <a:latin typeface="Segoe UI" pitchFamily="34" charset="0"/>
                <a:ea typeface="Segoe UI" pitchFamily="34" charset="-122"/>
                <a:cs typeface="Segoe UI" pitchFamily="34" charset="-120"/>
              </a:rPr>
              <a:t>Restaurant</a:t>
            </a:r>
            <a:endParaRPr lang="en-US" sz="1000" dirty="0"/>
          </a:p>
        </p:txBody>
      </p:sp>
      <p:sp>
        <p:nvSpPr>
          <p:cNvPr id="12" name="Shape 7"/>
          <p:cNvSpPr/>
          <p:nvPr/>
        </p:nvSpPr>
        <p:spPr>
          <a:xfrm>
            <a:off x="3593592" y="3538728"/>
            <a:ext cx="905256" cy="0"/>
          </a:xfrm>
          <a:prstGeom prst="line">
            <a:avLst/>
          </a:prstGeom>
          <a:noFill/>
          <a:ln w="12700">
            <a:solidFill>
              <a:srgbClr val="6C4EF5"/>
            </a:solidFill>
            <a:prstDash val="dash"/>
            <a:tailEnd type="triangle"/>
          </a:ln>
        </p:spPr>
      </p:sp>
      <p:sp>
        <p:nvSpPr>
          <p:cNvPr id="13" name="Shape 8"/>
          <p:cNvSpPr/>
          <p:nvPr/>
        </p:nvSpPr>
        <p:spPr>
          <a:xfrm>
            <a:off x="4572000" y="3310128"/>
            <a:ext cx="457200" cy="457200"/>
          </a:xfrm>
          <a:prstGeom prst="ellipse">
            <a:avLst/>
          </a:prstGeom>
          <a:solidFill>
            <a:srgbClr val="EFEBFE"/>
          </a:solidFill>
          <a:ln w="15875">
            <a:solidFill>
              <a:srgbClr val="6C4EF5"/>
            </a:solidFill>
            <a:prstDash val="solid"/>
          </a:ln>
        </p:spPr>
      </p:sp>
      <p:pic>
        <p:nvPicPr>
          <p:cNvPr id="14" name="Image 3" descr="preencoded.png">    </p:cNvPr>
          <p:cNvPicPr>
            <a:picLocks noChangeAspect="1"/>
          </p:cNvPicPr>
          <p:nvPr/>
        </p:nvPicPr>
        <p:blipFill>
          <a:blip r:embed="rId4"/>
          <a:stretch>
            <a:fillRect/>
          </a:stretch>
        </p:blipFill>
        <p:spPr>
          <a:xfrm>
            <a:off x="4690872" y="3429000"/>
            <a:ext cx="219456" cy="219456"/>
          </a:xfrm>
          <a:prstGeom prst="rect">
            <a:avLst/>
          </a:prstGeom>
        </p:spPr>
      </p:pic>
      <p:sp>
        <p:nvSpPr>
          <p:cNvPr id="15" name="Text 9"/>
          <p:cNvSpPr txBox="1"/>
          <p:nvPr/>
        </p:nvSpPr>
        <p:spPr>
          <a:xfrm>
            <a:off x="4206240" y="3794760"/>
            <a:ext cx="1188720" cy="201168"/>
          </a:xfrm>
          <a:prstGeom prst="rect">
            <a:avLst/>
          </a:prstGeom>
          <a:noFill/>
          <a:ln/>
        </p:spPr>
        <p:txBody>
          <a:bodyPr wrap="square" lIns="0" tIns="0" rIns="0" bIns="0" rtlCol="0" anchor="ctr"/>
          <a:lstStyle/>
          <a:p>
            <a:pPr algn="ctr" indent="0" marL="0">
              <a:buNone/>
            </a:pPr>
            <a:r>
              <a:rPr lang="en-US" sz="1000" dirty="0">
                <a:solidFill>
                  <a:srgbClr val="7A7A85"/>
                </a:solidFill>
                <a:latin typeface="Segoe UI" pitchFamily="34" charset="0"/>
                <a:ea typeface="Segoe UI" pitchFamily="34" charset="-122"/>
                <a:cs typeface="Segoe UI" pitchFamily="34" charset="-120"/>
              </a:rPr>
              <a:t>Driver</a:t>
            </a:r>
            <a:endParaRPr lang="en-US" sz="1000" dirty="0"/>
          </a:p>
        </p:txBody>
      </p:sp>
      <p:sp>
        <p:nvSpPr>
          <p:cNvPr id="16" name="Shape 10"/>
          <p:cNvSpPr/>
          <p:nvPr/>
        </p:nvSpPr>
        <p:spPr>
          <a:xfrm>
            <a:off x="5102352" y="3538728"/>
            <a:ext cx="905256" cy="0"/>
          </a:xfrm>
          <a:prstGeom prst="line">
            <a:avLst/>
          </a:prstGeom>
          <a:noFill/>
          <a:ln w="12700">
            <a:solidFill>
              <a:srgbClr val="6C4EF5"/>
            </a:solidFill>
            <a:prstDash val="dash"/>
            <a:tailEnd type="triangle"/>
          </a:ln>
        </p:spPr>
      </p:sp>
      <p:sp>
        <p:nvSpPr>
          <p:cNvPr id="17" name="Shape 11"/>
          <p:cNvSpPr/>
          <p:nvPr/>
        </p:nvSpPr>
        <p:spPr>
          <a:xfrm>
            <a:off x="6080760" y="3310128"/>
            <a:ext cx="457200" cy="457200"/>
          </a:xfrm>
          <a:prstGeom prst="ellipse">
            <a:avLst/>
          </a:prstGeom>
          <a:solidFill>
            <a:srgbClr val="EFEBFE"/>
          </a:solidFill>
          <a:ln w="15875">
            <a:solidFill>
              <a:srgbClr val="6C4EF5"/>
            </a:solidFill>
            <a:prstDash val="solid"/>
          </a:ln>
        </p:spPr>
      </p:sp>
      <p:pic>
        <p:nvPicPr>
          <p:cNvPr id="18" name="Image 4" descr="preencoded.png">    </p:cNvPr>
          <p:cNvPicPr>
            <a:picLocks noChangeAspect="1"/>
          </p:cNvPicPr>
          <p:nvPr/>
        </p:nvPicPr>
        <p:blipFill>
          <a:blip r:embed="rId5"/>
          <a:stretch>
            <a:fillRect/>
          </a:stretch>
        </p:blipFill>
        <p:spPr>
          <a:xfrm>
            <a:off x="6199632" y="3429000"/>
            <a:ext cx="219456" cy="219456"/>
          </a:xfrm>
          <a:prstGeom prst="rect">
            <a:avLst/>
          </a:prstGeom>
        </p:spPr>
      </p:pic>
      <p:sp>
        <p:nvSpPr>
          <p:cNvPr id="19" name="Text 12"/>
          <p:cNvSpPr txBox="1"/>
          <p:nvPr/>
        </p:nvSpPr>
        <p:spPr>
          <a:xfrm>
            <a:off x="5715000" y="3794760"/>
            <a:ext cx="1188720" cy="201168"/>
          </a:xfrm>
          <a:prstGeom prst="rect">
            <a:avLst/>
          </a:prstGeom>
          <a:noFill/>
          <a:ln/>
        </p:spPr>
        <p:txBody>
          <a:bodyPr wrap="square" lIns="0" tIns="0" rIns="0" bIns="0" rtlCol="0" anchor="ctr"/>
          <a:lstStyle/>
          <a:p>
            <a:pPr algn="ctr" indent="0" marL="0">
              <a:buNone/>
            </a:pPr>
            <a:r>
              <a:rPr lang="en-US" sz="1000" dirty="0">
                <a:solidFill>
                  <a:srgbClr val="7A7A85"/>
                </a:solidFill>
                <a:latin typeface="Segoe UI" pitchFamily="34" charset="0"/>
                <a:ea typeface="Segoe UI" pitchFamily="34" charset="-122"/>
                <a:cs typeface="Segoe UI" pitchFamily="34" charset="-120"/>
              </a:rPr>
              <a:t>Shelter</a:t>
            </a:r>
            <a:endParaRPr lang="en-US" sz="1000" dirty="0"/>
          </a:p>
        </p:txBody>
      </p:sp>
      <p:sp>
        <p:nvSpPr>
          <p:cNvPr id="20" name="Text 13"/>
          <p:cNvSpPr txBox="1"/>
          <p:nvPr/>
        </p:nvSpPr>
        <p:spPr>
          <a:xfrm>
            <a:off x="914400" y="4343400"/>
            <a:ext cx="7315200" cy="365760"/>
          </a:xfrm>
          <a:prstGeom prst="rect">
            <a:avLst/>
          </a:prstGeom>
          <a:noFill/>
          <a:ln/>
        </p:spPr>
        <p:txBody>
          <a:bodyPr wrap="square" lIns="0" tIns="0" rIns="0" bIns="0" rtlCol="0" anchor="ctr"/>
          <a:lstStyle/>
          <a:p>
            <a:pPr algn="ctr" indent="0" marL="0">
              <a:buNone/>
            </a:pPr>
            <a:r>
              <a:rPr lang="en-US" sz="1600" b="1" dirty="0">
                <a:solidFill>
                  <a:srgbClr val="161616"/>
                </a:solidFill>
                <a:latin typeface="Segoe UI" pitchFamily="34" charset="0"/>
                <a:ea typeface="Segoe UI" pitchFamily="34" charset="-122"/>
                <a:cs typeface="Segoe UI" pitchFamily="34" charset="-120"/>
              </a:rPr>
              <a:t>Team ____</a:t>
            </a:r>
            <a:pPr algn="ctr" indent="0" marL="0">
              <a:buNone/>
            </a:pPr>
            <a:r>
              <a:rPr lang="en-US" sz="1600" dirty="0">
                <a:solidFill>
                  <a:srgbClr val="161616"/>
                </a:solidFill>
                <a:latin typeface="Segoe UI" pitchFamily="34" charset="0"/>
                <a:ea typeface="Segoe UI" pitchFamily="34" charset="-122"/>
                <a:cs typeface="Segoe UI" pitchFamily="34" charset="-120"/>
              </a:rPr>
              <a:t>  |  AmiHacks · Track A · PS-1 Surplus-to-Shelter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Why Surplus Food Still Gets Wasted</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Key challenges in real-time food rescue</a:t>
            </a:r>
            <a:endParaRPr lang="en-US" sz="1350" dirty="0"/>
          </a:p>
        </p:txBody>
      </p:sp>
      <p:sp>
        <p:nvSpPr>
          <p:cNvPr id="7" name="Shape 4"/>
          <p:cNvSpPr/>
          <p:nvPr/>
        </p:nvSpPr>
        <p:spPr>
          <a:xfrm>
            <a:off x="502920" y="1325880"/>
            <a:ext cx="2560320" cy="1554480"/>
          </a:xfrm>
          <a:prstGeom prst="roundRect">
            <a:avLst>
              <a:gd name="adj" fmla="val 9412"/>
            </a:avLst>
          </a:prstGeom>
          <a:solidFill>
            <a:srgbClr val="EFEBFE"/>
          </a:solidFill>
          <a:ln w="12700">
            <a:solidFill>
              <a:srgbClr val="EFEBFE"/>
            </a:solidFill>
            <a:prstDash val="solid"/>
          </a:ln>
        </p:spPr>
      </p:sp>
      <p:sp>
        <p:nvSpPr>
          <p:cNvPr id="8" name="Shape 5"/>
          <p:cNvSpPr/>
          <p:nvPr/>
        </p:nvSpPr>
        <p:spPr>
          <a:xfrm>
            <a:off x="502920" y="1325880"/>
            <a:ext cx="2560320" cy="566928"/>
          </a:xfrm>
          <a:prstGeom prst="roundRect">
            <a:avLst>
              <a:gd name="adj" fmla="val 25806"/>
            </a:avLst>
          </a:prstGeom>
          <a:solidFill>
            <a:srgbClr val="6C4EF5"/>
          </a:solidFill>
          <a:ln w="12700">
            <a:solidFill>
              <a:srgbClr val="6C4EF5"/>
            </a:solidFill>
            <a:prstDash val="solid"/>
          </a:ln>
        </p:spPr>
      </p:sp>
      <p:pic>
        <p:nvPicPr>
          <p:cNvPr id="9" name="Image 1" descr="preencoded.png">    </p:cNvPr>
          <p:cNvPicPr>
            <a:picLocks noChangeAspect="1"/>
          </p:cNvPicPr>
          <p:nvPr/>
        </p:nvPicPr>
        <p:blipFill>
          <a:blip r:embed="rId2"/>
          <a:stretch>
            <a:fillRect/>
          </a:stretch>
        </p:blipFill>
        <p:spPr>
          <a:xfrm>
            <a:off x="685800" y="1444752"/>
            <a:ext cx="329184" cy="329184"/>
          </a:xfrm>
          <a:prstGeom prst="rect">
            <a:avLst/>
          </a:prstGeom>
        </p:spPr>
      </p:pic>
      <p:sp>
        <p:nvSpPr>
          <p:cNvPr id="10" name="Text 6"/>
          <p:cNvSpPr txBox="1"/>
          <p:nvPr/>
        </p:nvSpPr>
        <p:spPr>
          <a:xfrm>
            <a:off x="1124712" y="1325880"/>
            <a:ext cx="1773936"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2–6 Hour Window</a:t>
            </a:r>
            <a:endParaRPr lang="en-US" sz="1350" dirty="0"/>
          </a:p>
        </p:txBody>
      </p:sp>
      <p:sp>
        <p:nvSpPr>
          <p:cNvPr id="11" name="Text 7"/>
          <p:cNvSpPr txBox="1"/>
          <p:nvPr/>
        </p:nvSpPr>
        <p:spPr>
          <a:xfrm>
            <a:off x="667512" y="19659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Food spoils before a match is found</a:t>
            </a:r>
            <a:endParaRPr lang="en-US" sz="1200" dirty="0"/>
          </a:p>
        </p:txBody>
      </p:sp>
      <p:sp>
        <p:nvSpPr>
          <p:cNvPr id="12" name="Shape 8"/>
          <p:cNvSpPr/>
          <p:nvPr/>
        </p:nvSpPr>
        <p:spPr>
          <a:xfrm>
            <a:off x="3291840" y="1325880"/>
            <a:ext cx="2560320" cy="1554480"/>
          </a:xfrm>
          <a:prstGeom prst="roundRect">
            <a:avLst>
              <a:gd name="adj" fmla="val 9412"/>
            </a:avLst>
          </a:prstGeom>
          <a:solidFill>
            <a:srgbClr val="EFEBFE"/>
          </a:solidFill>
          <a:ln w="12700">
            <a:solidFill>
              <a:srgbClr val="EFEBFE"/>
            </a:solidFill>
            <a:prstDash val="solid"/>
          </a:ln>
        </p:spPr>
      </p:sp>
      <p:sp>
        <p:nvSpPr>
          <p:cNvPr id="13" name="Shape 9"/>
          <p:cNvSpPr/>
          <p:nvPr/>
        </p:nvSpPr>
        <p:spPr>
          <a:xfrm>
            <a:off x="3291840" y="1325880"/>
            <a:ext cx="2560320" cy="566928"/>
          </a:xfrm>
          <a:prstGeom prst="roundRect">
            <a:avLst>
              <a:gd name="adj" fmla="val 25806"/>
            </a:avLst>
          </a:prstGeom>
          <a:solidFill>
            <a:srgbClr val="6C4EF5"/>
          </a:solidFill>
          <a:ln w="12700">
            <a:solidFill>
              <a:srgbClr val="6C4EF5"/>
            </a:solidFill>
            <a:prstDash val="solid"/>
          </a:ln>
        </p:spPr>
      </p:sp>
      <p:pic>
        <p:nvPicPr>
          <p:cNvPr id="14" name="Image 2" descr="preencoded.png">    </p:cNvPr>
          <p:cNvPicPr>
            <a:picLocks noChangeAspect="1"/>
          </p:cNvPicPr>
          <p:nvPr/>
        </p:nvPicPr>
        <p:blipFill>
          <a:blip r:embed="rId3"/>
          <a:stretch>
            <a:fillRect/>
          </a:stretch>
        </p:blipFill>
        <p:spPr>
          <a:xfrm>
            <a:off x="3474720" y="1444752"/>
            <a:ext cx="329184" cy="329184"/>
          </a:xfrm>
          <a:prstGeom prst="rect">
            <a:avLst/>
          </a:prstGeom>
        </p:spPr>
      </p:pic>
      <p:sp>
        <p:nvSpPr>
          <p:cNvPr id="15" name="Text 10"/>
          <p:cNvSpPr txBox="1"/>
          <p:nvPr/>
        </p:nvSpPr>
        <p:spPr>
          <a:xfrm>
            <a:off x="3913632" y="1325880"/>
            <a:ext cx="1773936"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WhatsApp &amp; Phone Calls</a:t>
            </a:r>
            <a:endParaRPr lang="en-US" sz="1350" dirty="0"/>
          </a:p>
        </p:txBody>
      </p:sp>
      <p:sp>
        <p:nvSpPr>
          <p:cNvPr id="16" name="Text 11"/>
          <p:cNvSpPr txBox="1"/>
          <p:nvPr/>
        </p:nvSpPr>
        <p:spPr>
          <a:xfrm>
            <a:off x="3456432" y="19659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Manual coordination breaks at scale</a:t>
            </a:r>
            <a:endParaRPr lang="en-US" sz="1200" dirty="0"/>
          </a:p>
        </p:txBody>
      </p:sp>
      <p:sp>
        <p:nvSpPr>
          <p:cNvPr id="17" name="Shape 12"/>
          <p:cNvSpPr/>
          <p:nvPr/>
        </p:nvSpPr>
        <p:spPr>
          <a:xfrm>
            <a:off x="6080760" y="1325880"/>
            <a:ext cx="2560320" cy="1554480"/>
          </a:xfrm>
          <a:prstGeom prst="roundRect">
            <a:avLst>
              <a:gd name="adj" fmla="val 9412"/>
            </a:avLst>
          </a:prstGeom>
          <a:solidFill>
            <a:srgbClr val="EFEBFE"/>
          </a:solidFill>
          <a:ln w="12700">
            <a:solidFill>
              <a:srgbClr val="EFEBFE"/>
            </a:solidFill>
            <a:prstDash val="solid"/>
          </a:ln>
        </p:spPr>
      </p:sp>
      <p:sp>
        <p:nvSpPr>
          <p:cNvPr id="18" name="Shape 13"/>
          <p:cNvSpPr/>
          <p:nvPr/>
        </p:nvSpPr>
        <p:spPr>
          <a:xfrm>
            <a:off x="6080760" y="1325880"/>
            <a:ext cx="2560320" cy="566928"/>
          </a:xfrm>
          <a:prstGeom prst="roundRect">
            <a:avLst>
              <a:gd name="adj" fmla="val 25806"/>
            </a:avLst>
          </a:prstGeom>
          <a:solidFill>
            <a:srgbClr val="6C4EF5"/>
          </a:solidFill>
          <a:ln w="12700">
            <a:solidFill>
              <a:srgbClr val="6C4EF5"/>
            </a:solidFill>
            <a:prstDash val="solid"/>
          </a:ln>
        </p:spPr>
      </p:sp>
      <p:pic>
        <p:nvPicPr>
          <p:cNvPr id="19" name="Image 3" descr="preencoded.png">    </p:cNvPr>
          <p:cNvPicPr>
            <a:picLocks noChangeAspect="1"/>
          </p:cNvPicPr>
          <p:nvPr/>
        </p:nvPicPr>
        <p:blipFill>
          <a:blip r:embed="rId4"/>
          <a:stretch>
            <a:fillRect/>
          </a:stretch>
        </p:blipFill>
        <p:spPr>
          <a:xfrm>
            <a:off x="6263640" y="1444752"/>
            <a:ext cx="329184" cy="329184"/>
          </a:xfrm>
          <a:prstGeom prst="rect">
            <a:avLst/>
          </a:prstGeom>
        </p:spPr>
      </p:pic>
      <p:sp>
        <p:nvSpPr>
          <p:cNvPr id="20" name="Text 14"/>
          <p:cNvSpPr txBox="1"/>
          <p:nvPr/>
        </p:nvSpPr>
        <p:spPr>
          <a:xfrm>
            <a:off x="6702552" y="1325880"/>
            <a:ext cx="1773936"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Volunteers Can Say No</a:t>
            </a:r>
            <a:endParaRPr lang="en-US" sz="1350" dirty="0"/>
          </a:p>
        </p:txBody>
      </p:sp>
      <p:sp>
        <p:nvSpPr>
          <p:cNvPr id="21" name="Text 15"/>
          <p:cNvSpPr txBox="1"/>
          <p:nvPr/>
        </p:nvSpPr>
        <p:spPr>
          <a:xfrm>
            <a:off x="6245352" y="19659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16.4% of rescues unclaimed or last-hour</a:t>
            </a:r>
            <a:endParaRPr lang="en-US" sz="1200" dirty="0"/>
          </a:p>
        </p:txBody>
      </p:sp>
      <p:sp>
        <p:nvSpPr>
          <p:cNvPr id="22" name="Shape 16"/>
          <p:cNvSpPr/>
          <p:nvPr/>
        </p:nvSpPr>
        <p:spPr>
          <a:xfrm>
            <a:off x="502920" y="3154680"/>
            <a:ext cx="2560320" cy="1554480"/>
          </a:xfrm>
          <a:prstGeom prst="roundRect">
            <a:avLst>
              <a:gd name="adj" fmla="val 9412"/>
            </a:avLst>
          </a:prstGeom>
          <a:solidFill>
            <a:srgbClr val="EFEBFE"/>
          </a:solidFill>
          <a:ln w="12700">
            <a:solidFill>
              <a:srgbClr val="EFEBFE"/>
            </a:solidFill>
            <a:prstDash val="solid"/>
          </a:ln>
        </p:spPr>
      </p:sp>
      <p:sp>
        <p:nvSpPr>
          <p:cNvPr id="23" name="Shape 17"/>
          <p:cNvSpPr/>
          <p:nvPr/>
        </p:nvSpPr>
        <p:spPr>
          <a:xfrm>
            <a:off x="502920" y="3154680"/>
            <a:ext cx="2560320" cy="566928"/>
          </a:xfrm>
          <a:prstGeom prst="roundRect">
            <a:avLst>
              <a:gd name="adj" fmla="val 25806"/>
            </a:avLst>
          </a:prstGeom>
          <a:solidFill>
            <a:srgbClr val="6C4EF5"/>
          </a:solidFill>
          <a:ln w="12700">
            <a:solidFill>
              <a:srgbClr val="6C4EF5"/>
            </a:solidFill>
            <a:prstDash val="solid"/>
          </a:ln>
        </p:spPr>
      </p:sp>
      <p:pic>
        <p:nvPicPr>
          <p:cNvPr id="24" name="Image 4" descr="preencoded.png">    </p:cNvPr>
          <p:cNvPicPr>
            <a:picLocks noChangeAspect="1"/>
          </p:cNvPicPr>
          <p:nvPr/>
        </p:nvPicPr>
        <p:blipFill>
          <a:blip r:embed="rId5"/>
          <a:stretch>
            <a:fillRect/>
          </a:stretch>
        </p:blipFill>
        <p:spPr>
          <a:xfrm>
            <a:off x="685800" y="3273552"/>
            <a:ext cx="329184" cy="329184"/>
          </a:xfrm>
          <a:prstGeom prst="rect">
            <a:avLst/>
          </a:prstGeom>
        </p:spPr>
      </p:pic>
      <p:sp>
        <p:nvSpPr>
          <p:cNvPr id="25" name="Text 18"/>
          <p:cNvSpPr txBox="1"/>
          <p:nvPr/>
        </p:nvSpPr>
        <p:spPr>
          <a:xfrm>
            <a:off x="1124712" y="3154680"/>
            <a:ext cx="1773936"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No Capacity View</a:t>
            </a:r>
            <a:endParaRPr lang="en-US" sz="1350" dirty="0"/>
          </a:p>
        </p:txBody>
      </p:sp>
      <p:sp>
        <p:nvSpPr>
          <p:cNvPr id="26" name="Text 19"/>
          <p:cNvSpPr txBox="1"/>
          <p:nvPr/>
        </p:nvSpPr>
        <p:spPr>
          <a:xfrm>
            <a:off x="667512" y="37947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Can the shelter take 40 kg tonight?</a:t>
            </a:r>
            <a:endParaRPr lang="en-US" sz="1200" dirty="0"/>
          </a:p>
        </p:txBody>
      </p:sp>
      <p:sp>
        <p:nvSpPr>
          <p:cNvPr id="27" name="Shape 20"/>
          <p:cNvSpPr/>
          <p:nvPr/>
        </p:nvSpPr>
        <p:spPr>
          <a:xfrm>
            <a:off x="3291840" y="3154680"/>
            <a:ext cx="2560320" cy="1554480"/>
          </a:xfrm>
          <a:prstGeom prst="roundRect">
            <a:avLst>
              <a:gd name="adj" fmla="val 9412"/>
            </a:avLst>
          </a:prstGeom>
          <a:solidFill>
            <a:srgbClr val="EFEBFE"/>
          </a:solidFill>
          <a:ln w="12700">
            <a:solidFill>
              <a:srgbClr val="EFEBFE"/>
            </a:solidFill>
            <a:prstDash val="solid"/>
          </a:ln>
        </p:spPr>
      </p:sp>
      <p:sp>
        <p:nvSpPr>
          <p:cNvPr id="28" name="Shape 21"/>
          <p:cNvSpPr/>
          <p:nvPr/>
        </p:nvSpPr>
        <p:spPr>
          <a:xfrm>
            <a:off x="3291840" y="3154680"/>
            <a:ext cx="2560320" cy="566928"/>
          </a:xfrm>
          <a:prstGeom prst="roundRect">
            <a:avLst>
              <a:gd name="adj" fmla="val 25806"/>
            </a:avLst>
          </a:prstGeom>
          <a:solidFill>
            <a:srgbClr val="6C4EF5"/>
          </a:solidFill>
          <a:ln w="12700">
            <a:solidFill>
              <a:srgbClr val="6C4EF5"/>
            </a:solidFill>
            <a:prstDash val="solid"/>
          </a:ln>
        </p:spPr>
      </p:sp>
      <p:pic>
        <p:nvPicPr>
          <p:cNvPr id="29" name="Image 5" descr="preencoded.png">    </p:cNvPr>
          <p:cNvPicPr>
            <a:picLocks noChangeAspect="1"/>
          </p:cNvPicPr>
          <p:nvPr/>
        </p:nvPicPr>
        <p:blipFill>
          <a:blip r:embed="rId6"/>
          <a:stretch>
            <a:fillRect/>
          </a:stretch>
        </p:blipFill>
        <p:spPr>
          <a:xfrm>
            <a:off x="3474720" y="3273552"/>
            <a:ext cx="329184" cy="329184"/>
          </a:xfrm>
          <a:prstGeom prst="rect">
            <a:avLst/>
          </a:prstGeom>
        </p:spPr>
      </p:pic>
      <p:sp>
        <p:nvSpPr>
          <p:cNvPr id="30" name="Text 22"/>
          <p:cNvSpPr txBox="1"/>
          <p:nvPr/>
        </p:nvSpPr>
        <p:spPr>
          <a:xfrm>
            <a:off x="3913632" y="3154680"/>
            <a:ext cx="1773936"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Trust Gap</a:t>
            </a:r>
            <a:endParaRPr lang="en-US" sz="1350" dirty="0"/>
          </a:p>
        </p:txBody>
      </p:sp>
      <p:sp>
        <p:nvSpPr>
          <p:cNvPr id="31" name="Text 23"/>
          <p:cNvSpPr txBox="1"/>
          <p:nvPr/>
        </p:nvSpPr>
        <p:spPr>
          <a:xfrm>
            <a:off x="3456432" y="37947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Was it picked up safely and used?</a:t>
            </a:r>
            <a:endParaRPr lang="en-US" sz="1200" dirty="0"/>
          </a:p>
        </p:txBody>
      </p:sp>
      <p:sp>
        <p:nvSpPr>
          <p:cNvPr id="32" name="Shape 24"/>
          <p:cNvSpPr/>
          <p:nvPr/>
        </p:nvSpPr>
        <p:spPr>
          <a:xfrm>
            <a:off x="6080760" y="3154680"/>
            <a:ext cx="2560320" cy="1554480"/>
          </a:xfrm>
          <a:prstGeom prst="roundRect">
            <a:avLst>
              <a:gd name="adj" fmla="val 9412"/>
            </a:avLst>
          </a:prstGeom>
          <a:solidFill>
            <a:srgbClr val="EFEBFE"/>
          </a:solidFill>
          <a:ln w="12700">
            <a:solidFill>
              <a:srgbClr val="EFEBFE"/>
            </a:solidFill>
            <a:prstDash val="solid"/>
          </a:ln>
        </p:spPr>
      </p:sp>
      <p:sp>
        <p:nvSpPr>
          <p:cNvPr id="33" name="Shape 25"/>
          <p:cNvSpPr/>
          <p:nvPr/>
        </p:nvSpPr>
        <p:spPr>
          <a:xfrm>
            <a:off x="6080760" y="3154680"/>
            <a:ext cx="2560320" cy="566928"/>
          </a:xfrm>
          <a:prstGeom prst="roundRect">
            <a:avLst>
              <a:gd name="adj" fmla="val 25806"/>
            </a:avLst>
          </a:prstGeom>
          <a:solidFill>
            <a:srgbClr val="6C4EF5"/>
          </a:solidFill>
          <a:ln w="12700">
            <a:solidFill>
              <a:srgbClr val="6C4EF5"/>
            </a:solidFill>
            <a:prstDash val="solid"/>
          </a:ln>
        </p:spPr>
      </p:sp>
      <p:pic>
        <p:nvPicPr>
          <p:cNvPr id="34" name="Image 6" descr="preencoded.png">    </p:cNvPr>
          <p:cNvPicPr>
            <a:picLocks noChangeAspect="1"/>
          </p:cNvPicPr>
          <p:nvPr/>
        </p:nvPicPr>
        <p:blipFill>
          <a:blip r:embed="rId7"/>
          <a:stretch>
            <a:fillRect/>
          </a:stretch>
        </p:blipFill>
        <p:spPr>
          <a:xfrm>
            <a:off x="6263640" y="3273552"/>
            <a:ext cx="329184" cy="329184"/>
          </a:xfrm>
          <a:prstGeom prst="rect">
            <a:avLst/>
          </a:prstGeom>
        </p:spPr>
      </p:pic>
      <p:sp>
        <p:nvSpPr>
          <p:cNvPr id="35" name="Text 26"/>
          <p:cNvSpPr txBox="1"/>
          <p:nvPr/>
        </p:nvSpPr>
        <p:spPr>
          <a:xfrm>
            <a:off x="6702552" y="3154680"/>
            <a:ext cx="1773936"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No Impact Trail</a:t>
            </a:r>
            <a:endParaRPr lang="en-US" sz="1350" dirty="0"/>
          </a:p>
        </p:txBody>
      </p:sp>
      <p:sp>
        <p:nvSpPr>
          <p:cNvPr id="36" name="Text 27"/>
          <p:cNvSpPr txBox="1"/>
          <p:nvPr/>
        </p:nvSpPr>
        <p:spPr>
          <a:xfrm>
            <a:off x="6245352" y="37947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No records for CSR, tax or audits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The Real Problem</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Matching is easy. Getting a human to commit in time is hard.</a:t>
            </a:r>
            <a:endParaRPr lang="en-US" sz="1350" dirty="0"/>
          </a:p>
        </p:txBody>
      </p:sp>
      <p:sp>
        <p:nvSpPr>
          <p:cNvPr id="7" name="Shape 4"/>
          <p:cNvSpPr/>
          <p:nvPr/>
        </p:nvSpPr>
        <p:spPr>
          <a:xfrm>
            <a:off x="960120" y="1371600"/>
            <a:ext cx="2011680" cy="2011680"/>
          </a:xfrm>
          <a:prstGeom prst="ellipse">
            <a:avLst/>
          </a:prstGeom>
          <a:solidFill>
            <a:srgbClr val="FDE2E4">
              <a:alpha val="75000"/>
            </a:srgbClr>
          </a:solidFill>
          <a:ln w="15875">
            <a:solidFill>
              <a:srgbClr val="E79AA3"/>
            </a:solidFill>
            <a:prstDash val="solid"/>
          </a:ln>
        </p:spPr>
      </p:sp>
      <p:sp>
        <p:nvSpPr>
          <p:cNvPr id="8" name="Shape 5"/>
          <p:cNvSpPr/>
          <p:nvPr/>
        </p:nvSpPr>
        <p:spPr>
          <a:xfrm>
            <a:off x="2331720" y="1371600"/>
            <a:ext cx="2011680" cy="2011680"/>
          </a:xfrm>
          <a:prstGeom prst="ellipse">
            <a:avLst/>
          </a:prstGeom>
          <a:solidFill>
            <a:srgbClr val="DCE8FD">
              <a:alpha val="75000"/>
            </a:srgbClr>
          </a:solidFill>
          <a:ln w="15875">
            <a:solidFill>
              <a:srgbClr val="8FB1EE"/>
            </a:solidFill>
            <a:prstDash val="solid"/>
          </a:ln>
        </p:spPr>
      </p:sp>
      <p:sp>
        <p:nvSpPr>
          <p:cNvPr id="9" name="Shape 6"/>
          <p:cNvSpPr/>
          <p:nvPr/>
        </p:nvSpPr>
        <p:spPr>
          <a:xfrm>
            <a:off x="1645920" y="2514600"/>
            <a:ext cx="2011680" cy="2011680"/>
          </a:xfrm>
          <a:prstGeom prst="ellipse">
            <a:avLst/>
          </a:prstGeom>
          <a:solidFill>
            <a:srgbClr val="FDF3C8">
              <a:alpha val="75000"/>
            </a:srgbClr>
          </a:solidFill>
          <a:ln w="15875">
            <a:solidFill>
              <a:srgbClr val="E4C766"/>
            </a:solidFill>
            <a:prstDash val="solid"/>
          </a:ln>
        </p:spPr>
      </p:sp>
      <p:sp>
        <p:nvSpPr>
          <p:cNvPr id="10" name="Text 7"/>
          <p:cNvSpPr txBox="1"/>
          <p:nvPr/>
        </p:nvSpPr>
        <p:spPr>
          <a:xfrm>
            <a:off x="1051560" y="1783080"/>
            <a:ext cx="1234440" cy="548640"/>
          </a:xfrm>
          <a:prstGeom prst="rect">
            <a:avLst/>
          </a:prstGeom>
          <a:noFill/>
          <a:ln/>
        </p:spPr>
        <p:txBody>
          <a:bodyPr wrap="square" lIns="0" tIns="0" rIns="0" bIns="0" rtlCol="0" anchor="ctr"/>
          <a:lstStyle/>
          <a:p>
            <a:pPr algn="ctr" indent="0" marL="0">
              <a:buNone/>
            </a:pPr>
            <a:r>
              <a:rPr lang="en-US" sz="1100" b="1" dirty="0">
                <a:solidFill>
                  <a:srgbClr val="161616"/>
                </a:solidFill>
                <a:latin typeface="Segoe UI" pitchFamily="34" charset="0"/>
                <a:ea typeface="Segoe UI" pitchFamily="34" charset="-122"/>
                <a:cs typeface="Segoe UI" pitchFamily="34" charset="-120"/>
              </a:rPr>
              <a:t>Food-safety clock</a:t>
            </a:r>
            <a:endParaRPr lang="en-US" sz="1100" dirty="0"/>
          </a:p>
          <a:p>
            <a:pPr algn="ctr" indent="0" marL="0">
              <a:buNone/>
            </a:pPr>
            <a:r>
              <a:rPr lang="en-US" sz="900" dirty="0">
                <a:solidFill>
                  <a:srgbClr val="5B5B66"/>
                </a:solidFill>
                <a:latin typeface="Segoe UI" pitchFamily="34" charset="0"/>
                <a:ea typeface="Segoe UI" pitchFamily="34" charset="-122"/>
                <a:cs typeface="Segoe UI" pitchFamily="34" charset="-120"/>
              </a:rPr>
              <a:t>4 h for cooked food</a:t>
            </a:r>
            <a:endParaRPr lang="en-US" sz="1100" dirty="0"/>
          </a:p>
        </p:txBody>
      </p:sp>
      <p:sp>
        <p:nvSpPr>
          <p:cNvPr id="11" name="Text 8"/>
          <p:cNvSpPr txBox="1"/>
          <p:nvPr/>
        </p:nvSpPr>
        <p:spPr>
          <a:xfrm>
            <a:off x="3017520" y="1783080"/>
            <a:ext cx="1234440" cy="548640"/>
          </a:xfrm>
          <a:prstGeom prst="rect">
            <a:avLst/>
          </a:prstGeom>
          <a:noFill/>
          <a:ln/>
        </p:spPr>
        <p:txBody>
          <a:bodyPr wrap="square" lIns="0" tIns="0" rIns="0" bIns="0" rtlCol="0" anchor="ctr"/>
          <a:lstStyle/>
          <a:p>
            <a:pPr algn="ctr" indent="0" marL="0">
              <a:buNone/>
            </a:pPr>
            <a:r>
              <a:rPr lang="en-US" sz="1100" b="1" dirty="0">
                <a:solidFill>
                  <a:srgbClr val="161616"/>
                </a:solidFill>
                <a:latin typeface="Segoe UI" pitchFamily="34" charset="0"/>
                <a:ea typeface="Segoe UI" pitchFamily="34" charset="-122"/>
                <a:cs typeface="Segoe UI" pitchFamily="34" charset="-120"/>
              </a:rPr>
              <a:t>Donor's window</a:t>
            </a:r>
            <a:endParaRPr lang="en-US" sz="1100" dirty="0"/>
          </a:p>
          <a:p>
            <a:pPr algn="ctr" indent="0" marL="0">
              <a:buNone/>
            </a:pPr>
            <a:r>
              <a:rPr lang="en-US" sz="900" dirty="0">
                <a:solidFill>
                  <a:srgbClr val="5B5B66"/>
                </a:solidFill>
                <a:latin typeface="Segoe UI" pitchFamily="34" charset="0"/>
                <a:ea typeface="Segoe UI" pitchFamily="34" charset="-122"/>
                <a:cs typeface="Segoe UI" pitchFamily="34" charset="-120"/>
              </a:rPr>
              <a:t>they close &amp; leave</a:t>
            </a:r>
            <a:endParaRPr lang="en-US" sz="1100" dirty="0"/>
          </a:p>
        </p:txBody>
      </p:sp>
      <p:sp>
        <p:nvSpPr>
          <p:cNvPr id="12" name="Text 9"/>
          <p:cNvSpPr txBox="1"/>
          <p:nvPr/>
        </p:nvSpPr>
        <p:spPr>
          <a:xfrm>
            <a:off x="1965960" y="3840480"/>
            <a:ext cx="1371600" cy="548640"/>
          </a:xfrm>
          <a:prstGeom prst="rect">
            <a:avLst/>
          </a:prstGeom>
          <a:noFill/>
          <a:ln/>
        </p:spPr>
        <p:txBody>
          <a:bodyPr wrap="square" lIns="0" tIns="0" rIns="0" bIns="0" rtlCol="0" anchor="ctr"/>
          <a:lstStyle/>
          <a:p>
            <a:pPr algn="ctr" indent="0" marL="0">
              <a:buNone/>
            </a:pPr>
            <a:r>
              <a:rPr lang="en-US" sz="1100" b="1" dirty="0">
                <a:solidFill>
                  <a:srgbClr val="161616"/>
                </a:solidFill>
                <a:latin typeface="Segoe UI" pitchFamily="34" charset="0"/>
                <a:ea typeface="Segoe UI" pitchFamily="34" charset="-122"/>
                <a:cs typeface="Segoe UI" pitchFamily="34" charset="-120"/>
              </a:rPr>
              <a:t>Shelter hours + space</a:t>
            </a:r>
            <a:endParaRPr lang="en-US" sz="1100" dirty="0"/>
          </a:p>
          <a:p>
            <a:pPr algn="ctr" indent="0" marL="0">
              <a:buNone/>
            </a:pPr>
            <a:r>
              <a:rPr lang="en-US" sz="900" dirty="0">
                <a:solidFill>
                  <a:srgbClr val="5B5B66"/>
                </a:solidFill>
                <a:latin typeface="Segoe UI" pitchFamily="34" charset="0"/>
                <a:ea typeface="Segoe UI" pitchFamily="34" charset="-122"/>
                <a:cs typeface="Segoe UI" pitchFamily="34" charset="-120"/>
              </a:rPr>
              <a:t>open? room for it?</a:t>
            </a:r>
            <a:endParaRPr lang="en-US" sz="1100" dirty="0"/>
          </a:p>
        </p:txBody>
      </p:sp>
      <p:sp>
        <p:nvSpPr>
          <p:cNvPr id="13" name="Shape 10"/>
          <p:cNvSpPr/>
          <p:nvPr/>
        </p:nvSpPr>
        <p:spPr>
          <a:xfrm>
            <a:off x="2103120" y="2487168"/>
            <a:ext cx="1097280" cy="384048"/>
          </a:xfrm>
          <a:prstGeom prst="roundRect">
            <a:avLst>
              <a:gd name="adj" fmla="val 47619"/>
            </a:avLst>
          </a:prstGeom>
          <a:solidFill>
            <a:srgbClr val="6C4EF5"/>
          </a:solidFill>
          <a:ln w="12700">
            <a:solidFill>
              <a:srgbClr val="6C4EF5"/>
            </a:solidFill>
            <a:prstDash val="solid"/>
          </a:ln>
        </p:spPr>
      </p:sp>
      <p:sp>
        <p:nvSpPr>
          <p:cNvPr id="14" name="Text 11"/>
          <p:cNvSpPr txBox="1"/>
          <p:nvPr/>
        </p:nvSpPr>
        <p:spPr>
          <a:xfrm>
            <a:off x="2103120" y="2487168"/>
            <a:ext cx="10972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Rescue window</a:t>
            </a:r>
            <a:endParaRPr lang="en-US" sz="1050" dirty="0"/>
          </a:p>
        </p:txBody>
      </p:sp>
      <p:sp>
        <p:nvSpPr>
          <p:cNvPr id="15" name="Shape 12"/>
          <p:cNvSpPr/>
          <p:nvPr/>
        </p:nvSpPr>
        <p:spPr>
          <a:xfrm>
            <a:off x="5074920" y="1325880"/>
            <a:ext cx="3611880" cy="987552"/>
          </a:xfrm>
          <a:prstGeom prst="roundRect">
            <a:avLst>
              <a:gd name="adj" fmla="val 12963"/>
            </a:avLst>
          </a:prstGeom>
          <a:solidFill>
            <a:srgbClr val="EFEBFE"/>
          </a:solidFill>
          <a:ln w="12700">
            <a:solidFill>
              <a:srgbClr val="EFEBFE"/>
            </a:solidFill>
            <a:prstDash val="solid"/>
          </a:ln>
        </p:spPr>
      </p:sp>
      <p:sp>
        <p:nvSpPr>
          <p:cNvPr id="16" name="Text 13"/>
          <p:cNvSpPr txBox="1"/>
          <p:nvPr/>
        </p:nvSpPr>
        <p:spPr>
          <a:xfrm>
            <a:off x="5257800" y="1399032"/>
            <a:ext cx="3291840" cy="457200"/>
          </a:xfrm>
          <a:prstGeom prst="rect">
            <a:avLst/>
          </a:prstGeom>
          <a:noFill/>
          <a:ln/>
        </p:spPr>
        <p:txBody>
          <a:bodyPr wrap="square" lIns="0" tIns="0" rIns="0" bIns="0" rtlCol="0" anchor="ctr"/>
          <a:lstStyle/>
          <a:p>
            <a:pPr indent="0" marL="0">
              <a:buNone/>
            </a:pPr>
            <a:r>
              <a:rPr lang="en-US" sz="2800" b="1" dirty="0">
                <a:solidFill>
                  <a:srgbClr val="6C4EF5"/>
                </a:solidFill>
                <a:latin typeface="Segoe UI" pitchFamily="34" charset="0"/>
                <a:ea typeface="Segoe UI" pitchFamily="34" charset="-122"/>
                <a:cs typeface="Segoe UI" pitchFamily="34" charset="-120"/>
              </a:rPr>
              <a:t>99%</a:t>
            </a:r>
            <a:endParaRPr lang="en-US" sz="2800" dirty="0"/>
          </a:p>
        </p:txBody>
      </p:sp>
      <p:sp>
        <p:nvSpPr>
          <p:cNvPr id="17" name="Text 14"/>
          <p:cNvSpPr txBox="1"/>
          <p:nvPr/>
        </p:nvSpPr>
        <p:spPr>
          <a:xfrm>
            <a:off x="5257800" y="1837944"/>
            <a:ext cx="3291840" cy="420624"/>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match rate: finding a shelter is solved</a:t>
            </a:r>
            <a:endParaRPr lang="en-US" sz="1050" dirty="0"/>
          </a:p>
          <a:p>
            <a:pPr indent="0" marL="0">
              <a:buNone/>
            </a:pPr>
            <a:r>
              <a:rPr lang="en-US" sz="850" i="1" dirty="0">
                <a:solidFill>
                  <a:srgbClr val="7A7A85"/>
                </a:solidFill>
                <a:latin typeface="Segoe UI" pitchFamily="34" charset="0"/>
                <a:ea typeface="Segoe UI" pitchFamily="34" charset="-122"/>
                <a:cs typeface="Segoe UI" pitchFamily="34" charset="-120"/>
              </a:rPr>
              <a:t>Copia</a:t>
            </a:r>
            <a:endParaRPr lang="en-US" sz="1050" dirty="0"/>
          </a:p>
        </p:txBody>
      </p:sp>
      <p:sp>
        <p:nvSpPr>
          <p:cNvPr id="18" name="Shape 15"/>
          <p:cNvSpPr/>
          <p:nvPr/>
        </p:nvSpPr>
        <p:spPr>
          <a:xfrm>
            <a:off x="5074920" y="2468880"/>
            <a:ext cx="3611880" cy="987552"/>
          </a:xfrm>
          <a:prstGeom prst="roundRect">
            <a:avLst>
              <a:gd name="adj" fmla="val 12963"/>
            </a:avLst>
          </a:prstGeom>
          <a:solidFill>
            <a:srgbClr val="EFEBFE"/>
          </a:solidFill>
          <a:ln w="12700">
            <a:solidFill>
              <a:srgbClr val="EFEBFE"/>
            </a:solidFill>
            <a:prstDash val="solid"/>
          </a:ln>
        </p:spPr>
      </p:sp>
      <p:sp>
        <p:nvSpPr>
          <p:cNvPr id="19" name="Text 16"/>
          <p:cNvSpPr txBox="1"/>
          <p:nvPr/>
        </p:nvSpPr>
        <p:spPr>
          <a:xfrm>
            <a:off x="5257800" y="2542032"/>
            <a:ext cx="3291840" cy="457200"/>
          </a:xfrm>
          <a:prstGeom prst="rect">
            <a:avLst/>
          </a:prstGeom>
          <a:noFill/>
          <a:ln/>
        </p:spPr>
        <p:txBody>
          <a:bodyPr wrap="square" lIns="0" tIns="0" rIns="0" bIns="0" rtlCol="0" anchor="ctr"/>
          <a:lstStyle/>
          <a:p>
            <a:pPr indent="0" marL="0">
              <a:buNone/>
            </a:pPr>
            <a:r>
              <a:rPr lang="en-US" sz="2800" b="1" dirty="0">
                <a:solidFill>
                  <a:srgbClr val="6C4EF5"/>
                </a:solidFill>
                <a:latin typeface="Segoe UI" pitchFamily="34" charset="0"/>
                <a:ea typeface="Segoe UI" pitchFamily="34" charset="-122"/>
                <a:cs typeface="Segoe UI" pitchFamily="34" charset="-120"/>
              </a:rPr>
              <a:t>16.4%</a:t>
            </a:r>
            <a:endParaRPr lang="en-US" sz="2800" dirty="0"/>
          </a:p>
        </p:txBody>
      </p:sp>
      <p:sp>
        <p:nvSpPr>
          <p:cNvPr id="20" name="Text 17"/>
          <p:cNvSpPr txBox="1"/>
          <p:nvPr/>
        </p:nvSpPr>
        <p:spPr>
          <a:xfrm>
            <a:off x="5257800" y="2980944"/>
            <a:ext cx="3291840" cy="420624"/>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of rescues never claimed or only in the final hour</a:t>
            </a:r>
            <a:endParaRPr lang="en-US" sz="1050" dirty="0"/>
          </a:p>
          <a:p>
            <a:pPr indent="0" marL="0">
              <a:buNone/>
            </a:pPr>
            <a:r>
              <a:rPr lang="en-US" sz="850" i="1" dirty="0">
                <a:solidFill>
                  <a:srgbClr val="7A7A85"/>
                </a:solidFill>
                <a:latin typeface="Segoe UI" pitchFamily="34" charset="0"/>
                <a:ea typeface="Segoe UI" pitchFamily="34" charset="-122"/>
                <a:cs typeface="Segoe UI" pitchFamily="34" charset="-120"/>
              </a:rPr>
              <a:t>412 Food Rescue, 4,574 rescues</a:t>
            </a:r>
            <a:endParaRPr lang="en-US" sz="1050" dirty="0"/>
          </a:p>
        </p:txBody>
      </p:sp>
      <p:sp>
        <p:nvSpPr>
          <p:cNvPr id="21" name="Shape 18"/>
          <p:cNvSpPr/>
          <p:nvPr/>
        </p:nvSpPr>
        <p:spPr>
          <a:xfrm>
            <a:off x="5074920" y="3611880"/>
            <a:ext cx="3611880" cy="987552"/>
          </a:xfrm>
          <a:prstGeom prst="roundRect">
            <a:avLst>
              <a:gd name="adj" fmla="val 12963"/>
            </a:avLst>
          </a:prstGeom>
          <a:solidFill>
            <a:srgbClr val="6C4EF5"/>
          </a:solidFill>
          <a:ln w="12700">
            <a:solidFill>
              <a:srgbClr val="6C4EF5"/>
            </a:solidFill>
            <a:prstDash val="solid"/>
          </a:ln>
        </p:spPr>
      </p:sp>
      <p:sp>
        <p:nvSpPr>
          <p:cNvPr id="22" name="Text 19"/>
          <p:cNvSpPr txBox="1"/>
          <p:nvPr/>
        </p:nvSpPr>
        <p:spPr>
          <a:xfrm>
            <a:off x="5257800" y="3685032"/>
            <a:ext cx="3291840" cy="457200"/>
          </a:xfrm>
          <a:prstGeom prst="rect">
            <a:avLst/>
          </a:prstGeom>
          <a:noFill/>
          <a:ln/>
        </p:spPr>
        <p:txBody>
          <a:bodyPr wrap="square" lIns="0" tIns="0" rIns="0" bIns="0"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Ask ≠ Dispatch</a:t>
            </a:r>
            <a:endParaRPr lang="en-US" sz="2200" dirty="0"/>
          </a:p>
        </p:txBody>
      </p:sp>
      <p:sp>
        <p:nvSpPr>
          <p:cNvPr id="23" name="Text 20"/>
          <p:cNvSpPr txBox="1"/>
          <p:nvPr/>
        </p:nvSpPr>
        <p:spPr>
          <a:xfrm>
            <a:off x="5257800" y="4123944"/>
            <a:ext cx="3291840" cy="420624"/>
          </a:xfrm>
          <a:prstGeom prst="rect">
            <a:avLst/>
          </a:prstGeom>
          <a:noFill/>
          <a:ln/>
        </p:spPr>
        <p:txBody>
          <a:bodyPr wrap="square" lIns="0" tIns="0" rIns="0" bIns="0" rtlCol="0" anchor="ctr"/>
          <a:lstStyle/>
          <a:p>
            <a:pPr indent="0" marL="0">
              <a:buNone/>
            </a:pPr>
            <a:r>
              <a:rPr lang="en-US" sz="1050" dirty="0">
                <a:solidFill>
                  <a:srgbClr val="FFFFFF"/>
                </a:solidFill>
                <a:latin typeface="Segoe UI" pitchFamily="34" charset="0"/>
                <a:ea typeface="Segoe UI" pitchFamily="34" charset="-122"/>
                <a:cs typeface="Segoe UI" pitchFamily="34" charset="-120"/>
              </a:rPr>
              <a:t>volunteers can say no, not reply, or cancel</a:t>
            </a:r>
            <a:endParaRPr lang="en-US" sz="1050" dirty="0"/>
          </a:p>
          <a:p>
            <a:pPr indent="0" marL="0">
              <a:buNone/>
            </a:pPr>
            <a:r>
              <a:rPr lang="en-US" sz="850" i="1" dirty="0">
                <a:solidFill>
                  <a:srgbClr val="E4DEFF"/>
                </a:solidFill>
                <a:latin typeface="Segoe UI" pitchFamily="34" charset="0"/>
                <a:ea typeface="Segoe UI" pitchFamily="34" charset="-122"/>
                <a:cs typeface="Segoe UI" pitchFamily="34" charset="-120"/>
              </a:rPr>
              <a:t>our key insight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What Relay Solves</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One co-pilot for donors, drivers, shelters and coordinators</a:t>
            </a:r>
            <a:endParaRPr lang="en-US" sz="1350" dirty="0"/>
          </a:p>
        </p:txBody>
      </p:sp>
      <p:sp>
        <p:nvSpPr>
          <p:cNvPr id="7" name="Shape 4"/>
          <p:cNvSpPr/>
          <p:nvPr/>
        </p:nvSpPr>
        <p:spPr>
          <a:xfrm>
            <a:off x="502920" y="1325880"/>
            <a:ext cx="2560320" cy="1554480"/>
          </a:xfrm>
          <a:prstGeom prst="roundRect">
            <a:avLst>
              <a:gd name="adj" fmla="val 9412"/>
            </a:avLst>
          </a:prstGeom>
          <a:solidFill>
            <a:srgbClr val="EFEBFE"/>
          </a:solidFill>
          <a:ln w="12700">
            <a:solidFill>
              <a:srgbClr val="EFEBFE"/>
            </a:solidFill>
            <a:prstDash val="solid"/>
          </a:ln>
        </p:spPr>
      </p:sp>
      <p:sp>
        <p:nvSpPr>
          <p:cNvPr id="8" name="Shape 5"/>
          <p:cNvSpPr/>
          <p:nvPr/>
        </p:nvSpPr>
        <p:spPr>
          <a:xfrm>
            <a:off x="502920" y="1325880"/>
            <a:ext cx="2560320" cy="566928"/>
          </a:xfrm>
          <a:prstGeom prst="roundRect">
            <a:avLst>
              <a:gd name="adj" fmla="val 25806"/>
            </a:avLst>
          </a:prstGeom>
          <a:solidFill>
            <a:srgbClr val="6C4EF5"/>
          </a:solidFill>
          <a:ln w="12700">
            <a:solidFill>
              <a:srgbClr val="6C4EF5"/>
            </a:solidFill>
            <a:prstDash val="solid"/>
          </a:ln>
        </p:spPr>
      </p:sp>
      <p:pic>
        <p:nvPicPr>
          <p:cNvPr id="9" name="Image 1" descr="preencoded.png">    </p:cNvPr>
          <p:cNvPicPr>
            <a:picLocks noChangeAspect="1"/>
          </p:cNvPicPr>
          <p:nvPr/>
        </p:nvPicPr>
        <p:blipFill>
          <a:blip r:embed="rId2"/>
          <a:stretch>
            <a:fillRect/>
          </a:stretch>
        </p:blipFill>
        <p:spPr>
          <a:xfrm>
            <a:off x="685800" y="1444752"/>
            <a:ext cx="329184" cy="329184"/>
          </a:xfrm>
          <a:prstGeom prst="rect">
            <a:avLst/>
          </a:prstGeom>
        </p:spPr>
      </p:pic>
      <p:sp>
        <p:nvSpPr>
          <p:cNvPr id="10" name="Text 6"/>
          <p:cNvSpPr txBox="1"/>
          <p:nvPr/>
        </p:nvSpPr>
        <p:spPr>
          <a:xfrm>
            <a:off x="1124712" y="1325880"/>
            <a:ext cx="177393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Serve-Time Safety</a:t>
            </a:r>
            <a:endParaRPr lang="en-US" sz="1300" dirty="0"/>
          </a:p>
        </p:txBody>
      </p:sp>
      <p:sp>
        <p:nvSpPr>
          <p:cNvPr id="11" name="Text 7"/>
          <p:cNvSpPr txBox="1"/>
          <p:nvPr/>
        </p:nvSpPr>
        <p:spPr>
          <a:xfrm>
            <a:off x="667512" y="19659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Safe when eaten, not just when delivered</a:t>
            </a:r>
            <a:endParaRPr lang="en-US" sz="1200" dirty="0"/>
          </a:p>
        </p:txBody>
      </p:sp>
      <p:sp>
        <p:nvSpPr>
          <p:cNvPr id="12" name="Shape 8"/>
          <p:cNvSpPr/>
          <p:nvPr/>
        </p:nvSpPr>
        <p:spPr>
          <a:xfrm>
            <a:off x="3291840" y="1325880"/>
            <a:ext cx="2560320" cy="1554480"/>
          </a:xfrm>
          <a:prstGeom prst="roundRect">
            <a:avLst>
              <a:gd name="adj" fmla="val 9412"/>
            </a:avLst>
          </a:prstGeom>
          <a:solidFill>
            <a:srgbClr val="EFEBFE"/>
          </a:solidFill>
          <a:ln w="12700">
            <a:solidFill>
              <a:srgbClr val="EFEBFE"/>
            </a:solidFill>
            <a:prstDash val="solid"/>
          </a:ln>
        </p:spPr>
      </p:sp>
      <p:sp>
        <p:nvSpPr>
          <p:cNvPr id="13" name="Shape 9"/>
          <p:cNvSpPr/>
          <p:nvPr/>
        </p:nvSpPr>
        <p:spPr>
          <a:xfrm>
            <a:off x="3291840" y="1325880"/>
            <a:ext cx="2560320" cy="566928"/>
          </a:xfrm>
          <a:prstGeom prst="roundRect">
            <a:avLst>
              <a:gd name="adj" fmla="val 25806"/>
            </a:avLst>
          </a:prstGeom>
          <a:solidFill>
            <a:srgbClr val="6C4EF5"/>
          </a:solidFill>
          <a:ln w="12700">
            <a:solidFill>
              <a:srgbClr val="6C4EF5"/>
            </a:solidFill>
            <a:prstDash val="solid"/>
          </a:ln>
        </p:spPr>
      </p:sp>
      <p:pic>
        <p:nvPicPr>
          <p:cNvPr id="14" name="Image 2" descr="preencoded.png">    </p:cNvPr>
          <p:cNvPicPr>
            <a:picLocks noChangeAspect="1"/>
          </p:cNvPicPr>
          <p:nvPr/>
        </p:nvPicPr>
        <p:blipFill>
          <a:blip r:embed="rId3"/>
          <a:stretch>
            <a:fillRect/>
          </a:stretch>
        </p:blipFill>
        <p:spPr>
          <a:xfrm>
            <a:off x="3474720" y="1444752"/>
            <a:ext cx="329184" cy="329184"/>
          </a:xfrm>
          <a:prstGeom prst="rect">
            <a:avLst/>
          </a:prstGeom>
        </p:spPr>
      </p:pic>
      <p:sp>
        <p:nvSpPr>
          <p:cNvPr id="15" name="Text 10"/>
          <p:cNvSpPr txBox="1"/>
          <p:nvPr/>
        </p:nvSpPr>
        <p:spPr>
          <a:xfrm>
            <a:off x="3913632" y="1325880"/>
            <a:ext cx="177393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Right Drivers, Right Number</a:t>
            </a:r>
            <a:endParaRPr lang="en-US" sz="1300" dirty="0"/>
          </a:p>
        </p:txBody>
      </p:sp>
      <p:sp>
        <p:nvSpPr>
          <p:cNvPr id="16" name="Text 11"/>
          <p:cNvSpPr txBox="1"/>
          <p:nvPr/>
        </p:nvSpPr>
        <p:spPr>
          <a:xfrm>
            <a:off x="3456432" y="19659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ML odds · RL wave size · no spam</a:t>
            </a:r>
            <a:endParaRPr lang="en-US" sz="1200" dirty="0"/>
          </a:p>
        </p:txBody>
      </p:sp>
      <p:sp>
        <p:nvSpPr>
          <p:cNvPr id="17" name="Shape 12"/>
          <p:cNvSpPr/>
          <p:nvPr/>
        </p:nvSpPr>
        <p:spPr>
          <a:xfrm>
            <a:off x="6080760" y="1325880"/>
            <a:ext cx="2560320" cy="1554480"/>
          </a:xfrm>
          <a:prstGeom prst="roundRect">
            <a:avLst>
              <a:gd name="adj" fmla="val 9412"/>
            </a:avLst>
          </a:prstGeom>
          <a:solidFill>
            <a:srgbClr val="EFEBFE"/>
          </a:solidFill>
          <a:ln w="12700">
            <a:solidFill>
              <a:srgbClr val="EFEBFE"/>
            </a:solidFill>
            <a:prstDash val="solid"/>
          </a:ln>
        </p:spPr>
      </p:sp>
      <p:sp>
        <p:nvSpPr>
          <p:cNvPr id="18" name="Shape 13"/>
          <p:cNvSpPr/>
          <p:nvPr/>
        </p:nvSpPr>
        <p:spPr>
          <a:xfrm>
            <a:off x="6080760" y="1325880"/>
            <a:ext cx="2560320" cy="566928"/>
          </a:xfrm>
          <a:prstGeom prst="roundRect">
            <a:avLst>
              <a:gd name="adj" fmla="val 25806"/>
            </a:avLst>
          </a:prstGeom>
          <a:solidFill>
            <a:srgbClr val="6C4EF5"/>
          </a:solidFill>
          <a:ln w="12700">
            <a:solidFill>
              <a:srgbClr val="6C4EF5"/>
            </a:solidFill>
            <a:prstDash val="solid"/>
          </a:ln>
        </p:spPr>
      </p:sp>
      <p:pic>
        <p:nvPicPr>
          <p:cNvPr id="19" name="Image 3" descr="preencoded.png">    </p:cNvPr>
          <p:cNvPicPr>
            <a:picLocks noChangeAspect="1"/>
          </p:cNvPicPr>
          <p:nvPr/>
        </p:nvPicPr>
        <p:blipFill>
          <a:blip r:embed="rId4"/>
          <a:stretch>
            <a:fillRect/>
          </a:stretch>
        </p:blipFill>
        <p:spPr>
          <a:xfrm>
            <a:off x="6263640" y="1444752"/>
            <a:ext cx="329184" cy="329184"/>
          </a:xfrm>
          <a:prstGeom prst="rect">
            <a:avLst/>
          </a:prstGeom>
        </p:spPr>
      </p:pic>
      <p:sp>
        <p:nvSpPr>
          <p:cNvPr id="20" name="Text 14"/>
          <p:cNvSpPr txBox="1"/>
          <p:nvPr/>
        </p:nvSpPr>
        <p:spPr>
          <a:xfrm>
            <a:off x="6702552" y="1325880"/>
            <a:ext cx="177393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Early Human Alert</a:t>
            </a:r>
            <a:endParaRPr lang="en-US" sz="1300" dirty="0"/>
          </a:p>
        </p:txBody>
      </p:sp>
      <p:sp>
        <p:nvSpPr>
          <p:cNvPr id="21" name="Text 15"/>
          <p:cNvSpPr txBox="1"/>
          <p:nvPr/>
        </p:nvSpPr>
        <p:spPr>
          <a:xfrm>
            <a:off x="6245352" y="19659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Escalate before the last safe moment</a:t>
            </a:r>
            <a:endParaRPr lang="en-US" sz="1200" dirty="0"/>
          </a:p>
        </p:txBody>
      </p:sp>
      <p:sp>
        <p:nvSpPr>
          <p:cNvPr id="22" name="Shape 16"/>
          <p:cNvSpPr/>
          <p:nvPr/>
        </p:nvSpPr>
        <p:spPr>
          <a:xfrm>
            <a:off x="1874520" y="3154680"/>
            <a:ext cx="2560320" cy="1554480"/>
          </a:xfrm>
          <a:prstGeom prst="roundRect">
            <a:avLst>
              <a:gd name="adj" fmla="val 9412"/>
            </a:avLst>
          </a:prstGeom>
          <a:solidFill>
            <a:srgbClr val="EFEBFE"/>
          </a:solidFill>
          <a:ln w="12700">
            <a:solidFill>
              <a:srgbClr val="EFEBFE"/>
            </a:solidFill>
            <a:prstDash val="solid"/>
          </a:ln>
        </p:spPr>
      </p:sp>
      <p:sp>
        <p:nvSpPr>
          <p:cNvPr id="23" name="Shape 17"/>
          <p:cNvSpPr/>
          <p:nvPr/>
        </p:nvSpPr>
        <p:spPr>
          <a:xfrm>
            <a:off x="1874520" y="3154680"/>
            <a:ext cx="2560320" cy="566928"/>
          </a:xfrm>
          <a:prstGeom prst="roundRect">
            <a:avLst>
              <a:gd name="adj" fmla="val 25806"/>
            </a:avLst>
          </a:prstGeom>
          <a:solidFill>
            <a:srgbClr val="6C4EF5"/>
          </a:solidFill>
          <a:ln w="12700">
            <a:solidFill>
              <a:srgbClr val="6C4EF5"/>
            </a:solidFill>
            <a:prstDash val="solid"/>
          </a:ln>
        </p:spPr>
      </p:sp>
      <p:pic>
        <p:nvPicPr>
          <p:cNvPr id="24" name="Image 4" descr="preencoded.png">    </p:cNvPr>
          <p:cNvPicPr>
            <a:picLocks noChangeAspect="1"/>
          </p:cNvPicPr>
          <p:nvPr/>
        </p:nvPicPr>
        <p:blipFill>
          <a:blip r:embed="rId5"/>
          <a:stretch>
            <a:fillRect/>
          </a:stretch>
        </p:blipFill>
        <p:spPr>
          <a:xfrm>
            <a:off x="2057400" y="3273552"/>
            <a:ext cx="329184" cy="329184"/>
          </a:xfrm>
          <a:prstGeom prst="rect">
            <a:avLst/>
          </a:prstGeom>
        </p:spPr>
      </p:pic>
      <p:sp>
        <p:nvSpPr>
          <p:cNvPr id="25" name="Text 18"/>
          <p:cNvSpPr txBox="1"/>
          <p:nvPr/>
        </p:nvSpPr>
        <p:spPr>
          <a:xfrm>
            <a:off x="2496312" y="3154680"/>
            <a:ext cx="177393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Verified Handover</a:t>
            </a:r>
            <a:endParaRPr lang="en-US" sz="1300" dirty="0"/>
          </a:p>
        </p:txBody>
      </p:sp>
      <p:sp>
        <p:nvSpPr>
          <p:cNvPr id="26" name="Text 19"/>
          <p:cNvSpPr txBox="1"/>
          <p:nvPr/>
        </p:nvSpPr>
        <p:spPr>
          <a:xfrm>
            <a:off x="2039112" y="37947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4-digit code · pickup checklist · receipt</a:t>
            </a:r>
            <a:endParaRPr lang="en-US" sz="1200" dirty="0"/>
          </a:p>
        </p:txBody>
      </p:sp>
      <p:sp>
        <p:nvSpPr>
          <p:cNvPr id="27" name="Shape 20"/>
          <p:cNvSpPr/>
          <p:nvPr/>
        </p:nvSpPr>
        <p:spPr>
          <a:xfrm>
            <a:off x="4709160" y="3154680"/>
            <a:ext cx="2560320" cy="1554480"/>
          </a:xfrm>
          <a:prstGeom prst="roundRect">
            <a:avLst>
              <a:gd name="adj" fmla="val 9412"/>
            </a:avLst>
          </a:prstGeom>
          <a:solidFill>
            <a:srgbClr val="EFEBFE"/>
          </a:solidFill>
          <a:ln w="12700">
            <a:solidFill>
              <a:srgbClr val="EFEBFE"/>
            </a:solidFill>
            <a:prstDash val="solid"/>
          </a:ln>
        </p:spPr>
      </p:sp>
      <p:sp>
        <p:nvSpPr>
          <p:cNvPr id="28" name="Shape 21"/>
          <p:cNvSpPr/>
          <p:nvPr/>
        </p:nvSpPr>
        <p:spPr>
          <a:xfrm>
            <a:off x="4709160" y="3154680"/>
            <a:ext cx="2560320" cy="566928"/>
          </a:xfrm>
          <a:prstGeom prst="roundRect">
            <a:avLst>
              <a:gd name="adj" fmla="val 25806"/>
            </a:avLst>
          </a:prstGeom>
          <a:solidFill>
            <a:srgbClr val="6C4EF5"/>
          </a:solidFill>
          <a:ln w="12700">
            <a:solidFill>
              <a:srgbClr val="6C4EF5"/>
            </a:solidFill>
            <a:prstDash val="solid"/>
          </a:ln>
        </p:spPr>
      </p:sp>
      <p:pic>
        <p:nvPicPr>
          <p:cNvPr id="29" name="Image 5" descr="preencoded.png">    </p:cNvPr>
          <p:cNvPicPr>
            <a:picLocks noChangeAspect="1"/>
          </p:cNvPicPr>
          <p:nvPr/>
        </p:nvPicPr>
        <p:blipFill>
          <a:blip r:embed="rId6"/>
          <a:stretch>
            <a:fillRect/>
          </a:stretch>
        </p:blipFill>
        <p:spPr>
          <a:xfrm>
            <a:off x="4892040" y="3273552"/>
            <a:ext cx="329184" cy="329184"/>
          </a:xfrm>
          <a:prstGeom prst="rect">
            <a:avLst/>
          </a:prstGeom>
        </p:spPr>
      </p:pic>
      <p:sp>
        <p:nvSpPr>
          <p:cNvPr id="30" name="Text 22"/>
          <p:cNvSpPr txBox="1"/>
          <p:nvPr/>
        </p:nvSpPr>
        <p:spPr>
          <a:xfrm>
            <a:off x="5330952" y="3154680"/>
            <a:ext cx="177393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Every Role Informed</a:t>
            </a:r>
            <a:endParaRPr lang="en-US" sz="1300" dirty="0"/>
          </a:p>
        </p:txBody>
      </p:sp>
      <p:sp>
        <p:nvSpPr>
          <p:cNvPr id="31" name="Text 23"/>
          <p:cNvSpPr txBox="1"/>
          <p:nvPr/>
        </p:nvSpPr>
        <p:spPr>
          <a:xfrm>
            <a:off x="4873752" y="3794760"/>
            <a:ext cx="2231136" cy="841248"/>
          </a:xfrm>
          <a:prstGeom prst="rect">
            <a:avLst/>
          </a:prstGeom>
          <a:noFill/>
          <a:ln/>
        </p:spPr>
        <p:txBody>
          <a:bodyPr wrap="square" lIns="0" tIns="0" rIns="0" bIns="0" rtlCol="0" anchor="ctr"/>
          <a:lstStyle/>
          <a:p>
            <a:pPr algn="ctr" indent="0" marL="0">
              <a:buNone/>
            </a:pPr>
            <a:r>
              <a:rPr lang="en-US" sz="1200" dirty="0">
                <a:solidFill>
                  <a:srgbClr val="161616"/>
                </a:solidFill>
                <a:latin typeface="Segoe UI" pitchFamily="34" charset="0"/>
                <a:ea typeface="Segoe UI" pitchFamily="34" charset="-122"/>
                <a:cs typeface="Segoe UI" pitchFamily="34" charset="-120"/>
              </a:rPr>
              <a:t>In-app 🔔 + email at every moment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Relay in One Flow</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From a WhatsApp-style message to a delivered, receipted meal</a:t>
            </a:r>
            <a:endParaRPr lang="en-US" sz="1350" dirty="0"/>
          </a:p>
        </p:txBody>
      </p:sp>
      <p:sp>
        <p:nvSpPr>
          <p:cNvPr id="7" name="Shape 4"/>
          <p:cNvSpPr/>
          <p:nvPr/>
        </p:nvSpPr>
        <p:spPr>
          <a:xfrm>
            <a:off x="384048" y="1783080"/>
            <a:ext cx="896112" cy="1188720"/>
          </a:xfrm>
          <a:prstGeom prst="roundRect">
            <a:avLst>
              <a:gd name="adj" fmla="val 7143"/>
            </a:avLst>
          </a:prstGeom>
          <a:solidFill>
            <a:srgbClr val="FDE2E4"/>
          </a:solidFill>
          <a:ln w="12700">
            <a:solidFill>
              <a:srgbClr val="E79AA3"/>
            </a:solidFill>
            <a:prstDash val="dash"/>
          </a:ln>
        </p:spPr>
      </p:sp>
      <p:pic>
        <p:nvPicPr>
          <p:cNvPr id="8" name="Image 1" descr="preencoded.png">    </p:cNvPr>
          <p:cNvPicPr>
            <a:picLocks noChangeAspect="1"/>
          </p:cNvPicPr>
          <p:nvPr/>
        </p:nvPicPr>
        <p:blipFill>
          <a:blip r:embed="rId2"/>
          <a:stretch>
            <a:fillRect/>
          </a:stretch>
        </p:blipFill>
        <p:spPr>
          <a:xfrm>
            <a:off x="667512" y="1929384"/>
            <a:ext cx="329184" cy="329184"/>
          </a:xfrm>
          <a:prstGeom prst="rect">
            <a:avLst/>
          </a:prstGeom>
        </p:spPr>
      </p:pic>
      <p:sp>
        <p:nvSpPr>
          <p:cNvPr id="9" name="Text 5"/>
          <p:cNvSpPr txBox="1"/>
          <p:nvPr/>
        </p:nvSpPr>
        <p:spPr>
          <a:xfrm>
            <a:off x="384048"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Post</a:t>
            </a:r>
            <a:endParaRPr lang="en-US" sz="1250" dirty="0"/>
          </a:p>
        </p:txBody>
      </p:sp>
      <p:sp>
        <p:nvSpPr>
          <p:cNvPr id="10" name="Text 6"/>
          <p:cNvSpPr txBox="1"/>
          <p:nvPr/>
        </p:nvSpPr>
        <p:spPr>
          <a:xfrm>
            <a:off x="420624"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30 s, plain text</a:t>
            </a:r>
            <a:endParaRPr lang="en-US" sz="850" dirty="0"/>
          </a:p>
        </p:txBody>
      </p:sp>
      <p:sp>
        <p:nvSpPr>
          <p:cNvPr id="11" name="Shape 7"/>
          <p:cNvSpPr/>
          <p:nvPr/>
        </p:nvSpPr>
        <p:spPr>
          <a:xfrm>
            <a:off x="1298448" y="2377440"/>
            <a:ext cx="137160" cy="0"/>
          </a:xfrm>
          <a:prstGeom prst="line">
            <a:avLst/>
          </a:prstGeom>
          <a:noFill/>
          <a:ln w="12700">
            <a:solidFill>
              <a:srgbClr val="3A3A44"/>
            </a:solidFill>
            <a:prstDash val="solid"/>
            <a:tailEnd type="triangle"/>
          </a:ln>
        </p:spPr>
      </p:sp>
      <p:sp>
        <p:nvSpPr>
          <p:cNvPr id="12" name="Shape 8"/>
          <p:cNvSpPr/>
          <p:nvPr/>
        </p:nvSpPr>
        <p:spPr>
          <a:xfrm>
            <a:off x="1453896" y="1783080"/>
            <a:ext cx="896112" cy="1188720"/>
          </a:xfrm>
          <a:prstGeom prst="roundRect">
            <a:avLst>
              <a:gd name="adj" fmla="val 7143"/>
            </a:avLst>
          </a:prstGeom>
          <a:solidFill>
            <a:srgbClr val="DCE8FD"/>
          </a:solidFill>
          <a:ln w="12700">
            <a:solidFill>
              <a:srgbClr val="8FB1EE"/>
            </a:solidFill>
            <a:prstDash val="dash"/>
          </a:ln>
        </p:spPr>
      </p:sp>
      <p:pic>
        <p:nvPicPr>
          <p:cNvPr id="13" name="Image 2" descr="preencoded.png">    </p:cNvPr>
          <p:cNvPicPr>
            <a:picLocks noChangeAspect="1"/>
          </p:cNvPicPr>
          <p:nvPr/>
        </p:nvPicPr>
        <p:blipFill>
          <a:blip r:embed="rId3"/>
          <a:stretch>
            <a:fillRect/>
          </a:stretch>
        </p:blipFill>
        <p:spPr>
          <a:xfrm>
            <a:off x="1737360" y="1929384"/>
            <a:ext cx="329184" cy="329184"/>
          </a:xfrm>
          <a:prstGeom prst="rect">
            <a:avLst/>
          </a:prstGeom>
        </p:spPr>
      </p:pic>
      <p:sp>
        <p:nvSpPr>
          <p:cNvPr id="14" name="Text 9"/>
          <p:cNvSpPr txBox="1"/>
          <p:nvPr/>
        </p:nvSpPr>
        <p:spPr>
          <a:xfrm>
            <a:off x="1453896"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Rules</a:t>
            </a:r>
            <a:endParaRPr lang="en-US" sz="1250" dirty="0"/>
          </a:p>
        </p:txBody>
      </p:sp>
      <p:sp>
        <p:nvSpPr>
          <p:cNvPr id="15" name="Text 10"/>
          <p:cNvSpPr txBox="1"/>
          <p:nvPr/>
        </p:nvSpPr>
        <p:spPr>
          <a:xfrm>
            <a:off x="1490472"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safe shelter</a:t>
            </a:r>
            <a:endParaRPr lang="en-US" sz="850" dirty="0"/>
          </a:p>
        </p:txBody>
      </p:sp>
      <p:sp>
        <p:nvSpPr>
          <p:cNvPr id="16" name="Shape 11"/>
          <p:cNvSpPr/>
          <p:nvPr/>
        </p:nvSpPr>
        <p:spPr>
          <a:xfrm>
            <a:off x="2368296" y="2377440"/>
            <a:ext cx="137160" cy="0"/>
          </a:xfrm>
          <a:prstGeom prst="line">
            <a:avLst/>
          </a:prstGeom>
          <a:noFill/>
          <a:ln w="12700">
            <a:solidFill>
              <a:srgbClr val="3A3A44"/>
            </a:solidFill>
            <a:prstDash val="solid"/>
            <a:tailEnd type="triangle"/>
          </a:ln>
        </p:spPr>
      </p:sp>
      <p:sp>
        <p:nvSpPr>
          <p:cNvPr id="17" name="Shape 12"/>
          <p:cNvSpPr/>
          <p:nvPr/>
        </p:nvSpPr>
        <p:spPr>
          <a:xfrm>
            <a:off x="2523744" y="1783080"/>
            <a:ext cx="896112" cy="1188720"/>
          </a:xfrm>
          <a:prstGeom prst="roundRect">
            <a:avLst>
              <a:gd name="adj" fmla="val 7143"/>
            </a:avLst>
          </a:prstGeom>
          <a:solidFill>
            <a:srgbClr val="E9E3FE"/>
          </a:solidFill>
          <a:ln w="12700">
            <a:solidFill>
              <a:srgbClr val="A898F2"/>
            </a:solidFill>
            <a:prstDash val="dash"/>
          </a:ln>
        </p:spPr>
      </p:sp>
      <p:pic>
        <p:nvPicPr>
          <p:cNvPr id="18" name="Image 3" descr="preencoded.png">    </p:cNvPr>
          <p:cNvPicPr>
            <a:picLocks noChangeAspect="1"/>
          </p:cNvPicPr>
          <p:nvPr/>
        </p:nvPicPr>
        <p:blipFill>
          <a:blip r:embed="rId4"/>
          <a:stretch>
            <a:fillRect/>
          </a:stretch>
        </p:blipFill>
        <p:spPr>
          <a:xfrm>
            <a:off x="2807208" y="1929384"/>
            <a:ext cx="329184" cy="329184"/>
          </a:xfrm>
          <a:prstGeom prst="rect">
            <a:avLst/>
          </a:prstGeom>
        </p:spPr>
      </p:pic>
      <p:sp>
        <p:nvSpPr>
          <p:cNvPr id="19" name="Text 13"/>
          <p:cNvSpPr txBox="1"/>
          <p:nvPr/>
        </p:nvSpPr>
        <p:spPr>
          <a:xfrm>
            <a:off x="2523744"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ML</a:t>
            </a:r>
            <a:endParaRPr lang="en-US" sz="1250" dirty="0"/>
          </a:p>
        </p:txBody>
      </p:sp>
      <p:sp>
        <p:nvSpPr>
          <p:cNvPr id="20" name="Text 14"/>
          <p:cNvSpPr txBox="1"/>
          <p:nvPr/>
        </p:nvSpPr>
        <p:spPr>
          <a:xfrm>
            <a:off x="2560320"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who says yes</a:t>
            </a:r>
            <a:endParaRPr lang="en-US" sz="850" dirty="0"/>
          </a:p>
        </p:txBody>
      </p:sp>
      <p:sp>
        <p:nvSpPr>
          <p:cNvPr id="21" name="Shape 15"/>
          <p:cNvSpPr/>
          <p:nvPr/>
        </p:nvSpPr>
        <p:spPr>
          <a:xfrm>
            <a:off x="3438144" y="2377440"/>
            <a:ext cx="137160" cy="0"/>
          </a:xfrm>
          <a:prstGeom prst="line">
            <a:avLst/>
          </a:prstGeom>
          <a:noFill/>
          <a:ln w="12700">
            <a:solidFill>
              <a:srgbClr val="3A3A44"/>
            </a:solidFill>
            <a:prstDash val="solid"/>
            <a:tailEnd type="triangle"/>
          </a:ln>
        </p:spPr>
      </p:sp>
      <p:sp>
        <p:nvSpPr>
          <p:cNvPr id="22" name="Shape 16"/>
          <p:cNvSpPr/>
          <p:nvPr/>
        </p:nvSpPr>
        <p:spPr>
          <a:xfrm>
            <a:off x="3593592" y="1783080"/>
            <a:ext cx="896112" cy="1188720"/>
          </a:xfrm>
          <a:prstGeom prst="roundRect">
            <a:avLst>
              <a:gd name="adj" fmla="val 7143"/>
            </a:avLst>
          </a:prstGeom>
          <a:solidFill>
            <a:srgbClr val="DDF7E6"/>
          </a:solidFill>
          <a:ln w="12700">
            <a:solidFill>
              <a:srgbClr val="86D3A2"/>
            </a:solidFill>
            <a:prstDash val="dash"/>
          </a:ln>
        </p:spPr>
      </p:sp>
      <p:pic>
        <p:nvPicPr>
          <p:cNvPr id="23" name="Image 4" descr="preencoded.png">    </p:cNvPr>
          <p:cNvPicPr>
            <a:picLocks noChangeAspect="1"/>
          </p:cNvPicPr>
          <p:nvPr/>
        </p:nvPicPr>
        <p:blipFill>
          <a:blip r:embed="rId5"/>
          <a:stretch>
            <a:fillRect/>
          </a:stretch>
        </p:blipFill>
        <p:spPr>
          <a:xfrm>
            <a:off x="3877056" y="1929384"/>
            <a:ext cx="329184" cy="329184"/>
          </a:xfrm>
          <a:prstGeom prst="rect">
            <a:avLst/>
          </a:prstGeom>
        </p:spPr>
      </p:pic>
      <p:sp>
        <p:nvSpPr>
          <p:cNvPr id="24" name="Text 17"/>
          <p:cNvSpPr txBox="1"/>
          <p:nvPr/>
        </p:nvSpPr>
        <p:spPr>
          <a:xfrm>
            <a:off x="3593592"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RL</a:t>
            </a:r>
            <a:endParaRPr lang="en-US" sz="1250" dirty="0"/>
          </a:p>
        </p:txBody>
      </p:sp>
      <p:sp>
        <p:nvSpPr>
          <p:cNvPr id="25" name="Text 18"/>
          <p:cNvSpPr txBox="1"/>
          <p:nvPr/>
        </p:nvSpPr>
        <p:spPr>
          <a:xfrm>
            <a:off x="3630168"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how many to ask</a:t>
            </a:r>
            <a:endParaRPr lang="en-US" sz="850" dirty="0"/>
          </a:p>
        </p:txBody>
      </p:sp>
      <p:sp>
        <p:nvSpPr>
          <p:cNvPr id="26" name="Shape 19"/>
          <p:cNvSpPr/>
          <p:nvPr/>
        </p:nvSpPr>
        <p:spPr>
          <a:xfrm>
            <a:off x="4507992" y="2377440"/>
            <a:ext cx="137160" cy="0"/>
          </a:xfrm>
          <a:prstGeom prst="line">
            <a:avLst/>
          </a:prstGeom>
          <a:noFill/>
          <a:ln w="12700">
            <a:solidFill>
              <a:srgbClr val="3A3A44"/>
            </a:solidFill>
            <a:prstDash val="solid"/>
            <a:tailEnd type="triangle"/>
          </a:ln>
        </p:spPr>
      </p:sp>
      <p:sp>
        <p:nvSpPr>
          <p:cNvPr id="27" name="Shape 20"/>
          <p:cNvSpPr/>
          <p:nvPr/>
        </p:nvSpPr>
        <p:spPr>
          <a:xfrm>
            <a:off x="4663440" y="1783080"/>
            <a:ext cx="896112" cy="1188720"/>
          </a:xfrm>
          <a:prstGeom prst="roundRect">
            <a:avLst>
              <a:gd name="adj" fmla="val 7143"/>
            </a:avLst>
          </a:prstGeom>
          <a:solidFill>
            <a:srgbClr val="FDF3C8"/>
          </a:solidFill>
          <a:ln w="12700">
            <a:solidFill>
              <a:srgbClr val="E4C766"/>
            </a:solidFill>
            <a:prstDash val="dash"/>
          </a:ln>
        </p:spPr>
      </p:sp>
      <p:pic>
        <p:nvPicPr>
          <p:cNvPr id="28" name="Image 5" descr="preencoded.png">    </p:cNvPr>
          <p:cNvPicPr>
            <a:picLocks noChangeAspect="1"/>
          </p:cNvPicPr>
          <p:nvPr/>
        </p:nvPicPr>
        <p:blipFill>
          <a:blip r:embed="rId6"/>
          <a:stretch>
            <a:fillRect/>
          </a:stretch>
        </p:blipFill>
        <p:spPr>
          <a:xfrm>
            <a:off x="4946904" y="1929384"/>
            <a:ext cx="329184" cy="329184"/>
          </a:xfrm>
          <a:prstGeom prst="rect">
            <a:avLst/>
          </a:prstGeom>
        </p:spPr>
      </p:pic>
      <p:sp>
        <p:nvSpPr>
          <p:cNvPr id="29" name="Text 21"/>
          <p:cNvSpPr txBox="1"/>
          <p:nvPr/>
        </p:nvSpPr>
        <p:spPr>
          <a:xfrm>
            <a:off x="4663440"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Offers</a:t>
            </a:r>
            <a:endParaRPr lang="en-US" sz="1250" dirty="0"/>
          </a:p>
        </p:txBody>
      </p:sp>
      <p:sp>
        <p:nvSpPr>
          <p:cNvPr id="30" name="Text 22"/>
          <p:cNvSpPr txBox="1"/>
          <p:nvPr/>
        </p:nvSpPr>
        <p:spPr>
          <a:xfrm>
            <a:off x="4700016"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sized wave</a:t>
            </a:r>
            <a:endParaRPr lang="en-US" sz="850" dirty="0"/>
          </a:p>
        </p:txBody>
      </p:sp>
      <p:sp>
        <p:nvSpPr>
          <p:cNvPr id="31" name="Shape 23"/>
          <p:cNvSpPr/>
          <p:nvPr/>
        </p:nvSpPr>
        <p:spPr>
          <a:xfrm>
            <a:off x="5577840" y="2377440"/>
            <a:ext cx="137160" cy="0"/>
          </a:xfrm>
          <a:prstGeom prst="line">
            <a:avLst/>
          </a:prstGeom>
          <a:noFill/>
          <a:ln w="12700">
            <a:solidFill>
              <a:srgbClr val="3A3A44"/>
            </a:solidFill>
            <a:prstDash val="solid"/>
            <a:tailEnd type="triangle"/>
          </a:ln>
        </p:spPr>
      </p:sp>
      <p:sp>
        <p:nvSpPr>
          <p:cNvPr id="32" name="Shape 24"/>
          <p:cNvSpPr/>
          <p:nvPr/>
        </p:nvSpPr>
        <p:spPr>
          <a:xfrm>
            <a:off x="5733288" y="1783080"/>
            <a:ext cx="896112" cy="1188720"/>
          </a:xfrm>
          <a:prstGeom prst="roundRect">
            <a:avLst>
              <a:gd name="adj" fmla="val 7143"/>
            </a:avLst>
          </a:prstGeom>
          <a:solidFill>
            <a:srgbClr val="DCE8FD"/>
          </a:solidFill>
          <a:ln w="12700">
            <a:solidFill>
              <a:srgbClr val="8FB1EE"/>
            </a:solidFill>
            <a:prstDash val="dash"/>
          </a:ln>
        </p:spPr>
      </p:sp>
      <p:pic>
        <p:nvPicPr>
          <p:cNvPr id="33" name="Image 6" descr="preencoded.png">    </p:cNvPr>
          <p:cNvPicPr>
            <a:picLocks noChangeAspect="1"/>
          </p:cNvPicPr>
          <p:nvPr/>
        </p:nvPicPr>
        <p:blipFill>
          <a:blip r:embed="rId7"/>
          <a:stretch>
            <a:fillRect/>
          </a:stretch>
        </p:blipFill>
        <p:spPr>
          <a:xfrm>
            <a:off x="6016752" y="1929384"/>
            <a:ext cx="329184" cy="329184"/>
          </a:xfrm>
          <a:prstGeom prst="rect">
            <a:avLst/>
          </a:prstGeom>
        </p:spPr>
      </p:pic>
      <p:sp>
        <p:nvSpPr>
          <p:cNvPr id="34" name="Text 25"/>
          <p:cNvSpPr txBox="1"/>
          <p:nvPr/>
        </p:nvSpPr>
        <p:spPr>
          <a:xfrm>
            <a:off x="5733288"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Pickup</a:t>
            </a:r>
            <a:endParaRPr lang="en-US" sz="1250" dirty="0"/>
          </a:p>
        </p:txBody>
      </p:sp>
      <p:sp>
        <p:nvSpPr>
          <p:cNvPr id="35" name="Text 26"/>
          <p:cNvSpPr txBox="1"/>
          <p:nvPr/>
        </p:nvSpPr>
        <p:spPr>
          <a:xfrm>
            <a:off x="5769864"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safety checklist</a:t>
            </a:r>
            <a:endParaRPr lang="en-US" sz="850" dirty="0"/>
          </a:p>
        </p:txBody>
      </p:sp>
      <p:sp>
        <p:nvSpPr>
          <p:cNvPr id="36" name="Shape 27"/>
          <p:cNvSpPr/>
          <p:nvPr/>
        </p:nvSpPr>
        <p:spPr>
          <a:xfrm>
            <a:off x="6647688" y="2377440"/>
            <a:ext cx="137160" cy="0"/>
          </a:xfrm>
          <a:prstGeom prst="line">
            <a:avLst/>
          </a:prstGeom>
          <a:noFill/>
          <a:ln w="12700">
            <a:solidFill>
              <a:srgbClr val="3A3A44"/>
            </a:solidFill>
            <a:prstDash val="solid"/>
            <a:tailEnd type="triangle"/>
          </a:ln>
        </p:spPr>
      </p:sp>
      <p:sp>
        <p:nvSpPr>
          <p:cNvPr id="37" name="Shape 28"/>
          <p:cNvSpPr/>
          <p:nvPr/>
        </p:nvSpPr>
        <p:spPr>
          <a:xfrm>
            <a:off x="6803136" y="1783080"/>
            <a:ext cx="896112" cy="1188720"/>
          </a:xfrm>
          <a:prstGeom prst="roundRect">
            <a:avLst>
              <a:gd name="adj" fmla="val 7143"/>
            </a:avLst>
          </a:prstGeom>
          <a:solidFill>
            <a:srgbClr val="FDE2E4"/>
          </a:solidFill>
          <a:ln w="12700">
            <a:solidFill>
              <a:srgbClr val="E79AA3"/>
            </a:solidFill>
            <a:prstDash val="dash"/>
          </a:ln>
        </p:spPr>
      </p:sp>
      <p:pic>
        <p:nvPicPr>
          <p:cNvPr id="38" name="Image 7" descr="preencoded.png">    </p:cNvPr>
          <p:cNvPicPr>
            <a:picLocks noChangeAspect="1"/>
          </p:cNvPicPr>
          <p:nvPr/>
        </p:nvPicPr>
        <p:blipFill>
          <a:blip r:embed="rId8"/>
          <a:stretch>
            <a:fillRect/>
          </a:stretch>
        </p:blipFill>
        <p:spPr>
          <a:xfrm>
            <a:off x="7086600" y="1929384"/>
            <a:ext cx="329184" cy="329184"/>
          </a:xfrm>
          <a:prstGeom prst="rect">
            <a:avLst/>
          </a:prstGeom>
        </p:spPr>
      </p:pic>
      <p:sp>
        <p:nvSpPr>
          <p:cNvPr id="39" name="Text 29"/>
          <p:cNvSpPr txBox="1"/>
          <p:nvPr/>
        </p:nvSpPr>
        <p:spPr>
          <a:xfrm>
            <a:off x="6803136"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Handover</a:t>
            </a:r>
            <a:endParaRPr lang="en-US" sz="1250" dirty="0"/>
          </a:p>
        </p:txBody>
      </p:sp>
      <p:sp>
        <p:nvSpPr>
          <p:cNvPr id="40" name="Text 30"/>
          <p:cNvSpPr txBox="1"/>
          <p:nvPr/>
        </p:nvSpPr>
        <p:spPr>
          <a:xfrm>
            <a:off x="6839712"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4-digit code</a:t>
            </a:r>
            <a:endParaRPr lang="en-US" sz="850" dirty="0"/>
          </a:p>
        </p:txBody>
      </p:sp>
      <p:sp>
        <p:nvSpPr>
          <p:cNvPr id="41" name="Shape 31"/>
          <p:cNvSpPr/>
          <p:nvPr/>
        </p:nvSpPr>
        <p:spPr>
          <a:xfrm>
            <a:off x="7717536" y="2377440"/>
            <a:ext cx="137160" cy="0"/>
          </a:xfrm>
          <a:prstGeom prst="line">
            <a:avLst/>
          </a:prstGeom>
          <a:noFill/>
          <a:ln w="12700">
            <a:solidFill>
              <a:srgbClr val="3A3A44"/>
            </a:solidFill>
            <a:prstDash val="solid"/>
            <a:tailEnd type="triangle"/>
          </a:ln>
        </p:spPr>
      </p:sp>
      <p:sp>
        <p:nvSpPr>
          <p:cNvPr id="42" name="Shape 32"/>
          <p:cNvSpPr/>
          <p:nvPr/>
        </p:nvSpPr>
        <p:spPr>
          <a:xfrm>
            <a:off x="7872984" y="1783080"/>
            <a:ext cx="896112" cy="1188720"/>
          </a:xfrm>
          <a:prstGeom prst="roundRect">
            <a:avLst>
              <a:gd name="adj" fmla="val 7143"/>
            </a:avLst>
          </a:prstGeom>
          <a:solidFill>
            <a:srgbClr val="DDF7E6"/>
          </a:solidFill>
          <a:ln w="12700">
            <a:solidFill>
              <a:srgbClr val="86D3A2"/>
            </a:solidFill>
            <a:prstDash val="dash"/>
          </a:ln>
        </p:spPr>
      </p:sp>
      <p:pic>
        <p:nvPicPr>
          <p:cNvPr id="43" name="Image 8" descr="preencoded.png">    </p:cNvPr>
          <p:cNvPicPr>
            <a:picLocks noChangeAspect="1"/>
          </p:cNvPicPr>
          <p:nvPr/>
        </p:nvPicPr>
        <p:blipFill>
          <a:blip r:embed="rId9"/>
          <a:stretch>
            <a:fillRect/>
          </a:stretch>
        </p:blipFill>
        <p:spPr>
          <a:xfrm>
            <a:off x="8156448" y="1929384"/>
            <a:ext cx="329184" cy="329184"/>
          </a:xfrm>
          <a:prstGeom prst="rect">
            <a:avLst/>
          </a:prstGeom>
        </p:spPr>
      </p:pic>
      <p:sp>
        <p:nvSpPr>
          <p:cNvPr id="44" name="Text 33"/>
          <p:cNvSpPr txBox="1"/>
          <p:nvPr/>
        </p:nvSpPr>
        <p:spPr>
          <a:xfrm>
            <a:off x="7872984" y="2313432"/>
            <a:ext cx="896112" cy="274320"/>
          </a:xfrm>
          <a:prstGeom prst="rect">
            <a:avLst/>
          </a:prstGeom>
          <a:noFill/>
          <a:ln/>
        </p:spPr>
        <p:txBody>
          <a:bodyPr wrap="square" lIns="0" tIns="0" rIns="0" bIns="0" rtlCol="0" anchor="ctr"/>
          <a:lstStyle/>
          <a:p>
            <a:pPr algn="ctr" indent="0" marL="0">
              <a:buNone/>
            </a:pPr>
            <a:r>
              <a:rPr lang="en-US" sz="1250" b="1" dirty="0">
                <a:solidFill>
                  <a:srgbClr val="161616"/>
                </a:solidFill>
                <a:latin typeface="Segoe UI" pitchFamily="34" charset="0"/>
                <a:ea typeface="Segoe UI" pitchFamily="34" charset="-122"/>
                <a:cs typeface="Segoe UI" pitchFamily="34" charset="-120"/>
              </a:rPr>
              <a:t>Impact</a:t>
            </a:r>
            <a:endParaRPr lang="en-US" sz="1250" dirty="0"/>
          </a:p>
        </p:txBody>
      </p:sp>
      <p:sp>
        <p:nvSpPr>
          <p:cNvPr id="45" name="Text 34"/>
          <p:cNvSpPr txBox="1"/>
          <p:nvPr/>
        </p:nvSpPr>
        <p:spPr>
          <a:xfrm>
            <a:off x="7909560" y="2569464"/>
            <a:ext cx="822960" cy="329184"/>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kg · meals · receipt</a:t>
            </a:r>
            <a:endParaRPr lang="en-US" sz="850" dirty="0"/>
          </a:p>
        </p:txBody>
      </p:sp>
      <p:sp>
        <p:nvSpPr>
          <p:cNvPr id="46" name="Shape 35"/>
          <p:cNvSpPr/>
          <p:nvPr/>
        </p:nvSpPr>
        <p:spPr>
          <a:xfrm>
            <a:off x="5111496" y="2990088"/>
            <a:ext cx="0" cy="594360"/>
          </a:xfrm>
          <a:prstGeom prst="line">
            <a:avLst/>
          </a:prstGeom>
          <a:noFill/>
          <a:ln w="12700">
            <a:solidFill>
              <a:srgbClr val="EF4444"/>
            </a:solidFill>
            <a:prstDash val="solid"/>
            <a:tailEnd type="triangle"/>
          </a:ln>
        </p:spPr>
      </p:sp>
      <p:sp>
        <p:nvSpPr>
          <p:cNvPr id="47" name="Text 36"/>
          <p:cNvSpPr txBox="1"/>
          <p:nvPr/>
        </p:nvSpPr>
        <p:spPr>
          <a:xfrm>
            <a:off x="5184648" y="3108960"/>
            <a:ext cx="1188720" cy="182880"/>
          </a:xfrm>
          <a:prstGeom prst="rect">
            <a:avLst/>
          </a:prstGeom>
          <a:noFill/>
          <a:ln/>
        </p:spPr>
        <p:txBody>
          <a:bodyPr wrap="square" lIns="0" tIns="0" rIns="0" bIns="0" rtlCol="0" anchor="ctr"/>
          <a:lstStyle/>
          <a:p>
            <a:pPr algn="ctr" indent="0" marL="0">
              <a:buNone/>
            </a:pPr>
            <a:r>
              <a:rPr lang="en-US" sz="900" b="1" i="1" dirty="0">
                <a:solidFill>
                  <a:srgbClr val="3A3A44"/>
                </a:solidFill>
                <a:latin typeface="Segoe UI" pitchFamily="34" charset="0"/>
                <a:ea typeface="Segoe UI" pitchFamily="34" charset="-122"/>
                <a:cs typeface="Segoe UI" pitchFamily="34" charset="-120"/>
              </a:rPr>
              <a:t>odds too low?</a:t>
            </a:r>
            <a:endParaRPr lang="en-US" sz="900" dirty="0"/>
          </a:p>
        </p:txBody>
      </p:sp>
      <p:sp>
        <p:nvSpPr>
          <p:cNvPr id="48" name="Shape 37"/>
          <p:cNvSpPr/>
          <p:nvPr/>
        </p:nvSpPr>
        <p:spPr>
          <a:xfrm>
            <a:off x="3785616" y="3611880"/>
            <a:ext cx="2651760" cy="685800"/>
          </a:xfrm>
          <a:prstGeom prst="roundRect">
            <a:avLst>
              <a:gd name="adj" fmla="val 9333"/>
            </a:avLst>
          </a:prstGeom>
          <a:solidFill>
            <a:srgbClr val="FEE2E2"/>
          </a:solidFill>
          <a:ln w="12700">
            <a:solidFill>
              <a:srgbClr val="F19999"/>
            </a:solidFill>
            <a:prstDash val="dash"/>
          </a:ln>
        </p:spPr>
      </p:sp>
      <p:pic>
        <p:nvPicPr>
          <p:cNvPr id="49" name="Image 9" descr="preencoded.png">    </p:cNvPr>
          <p:cNvPicPr>
            <a:picLocks noChangeAspect="1"/>
          </p:cNvPicPr>
          <p:nvPr/>
        </p:nvPicPr>
        <p:blipFill>
          <a:blip r:embed="rId10"/>
          <a:stretch>
            <a:fillRect/>
          </a:stretch>
        </p:blipFill>
        <p:spPr>
          <a:xfrm>
            <a:off x="3922776" y="3794760"/>
            <a:ext cx="310896" cy="310896"/>
          </a:xfrm>
          <a:prstGeom prst="rect">
            <a:avLst/>
          </a:prstGeom>
        </p:spPr>
      </p:pic>
      <p:sp>
        <p:nvSpPr>
          <p:cNvPr id="50" name="Text 38"/>
          <p:cNvSpPr txBox="1"/>
          <p:nvPr/>
        </p:nvSpPr>
        <p:spPr>
          <a:xfrm>
            <a:off x="4306824" y="3657600"/>
            <a:ext cx="2103120" cy="594360"/>
          </a:xfrm>
          <a:prstGeom prst="rect">
            <a:avLst/>
          </a:prstGeom>
          <a:noFill/>
          <a:ln/>
        </p:spPr>
        <p:txBody>
          <a:bodyPr wrap="square" lIns="0" tIns="0" rIns="0" bIns="0" rtlCol="0" anchor="ctr"/>
          <a:lstStyle/>
          <a:p>
            <a:pPr indent="0" marL="0">
              <a:buNone/>
            </a:pPr>
            <a:r>
              <a:rPr lang="en-US" sz="1050" b="1" dirty="0">
                <a:solidFill>
                  <a:srgbClr val="161616"/>
                </a:solidFill>
                <a:latin typeface="Segoe UI" pitchFamily="34" charset="0"/>
                <a:ea typeface="Segoe UI" pitchFamily="34" charset="-122"/>
                <a:cs typeface="Segoe UI" pitchFamily="34" charset="-120"/>
              </a:rPr>
              <a:t>Human alerted before the last safe moment</a:t>
            </a:r>
            <a:endParaRPr lang="en-US" sz="1050" dirty="0"/>
          </a:p>
          <a:p>
            <a:pPr indent="0" marL="0">
              <a:buNone/>
            </a:pPr>
            <a:r>
              <a:rPr lang="en-US" sz="950" dirty="0">
                <a:solidFill>
                  <a:srgbClr val="5B5B66"/>
                </a:solidFill>
                <a:latin typeface="Segoe UI" pitchFamily="34" charset="0"/>
                <a:ea typeface="Segoe UI" pitchFamily="34" charset="-122"/>
                <a:cs typeface="Segoe UI" pitchFamily="34" charset="-120"/>
              </a:rPr>
              <a:t>one-click backup courier</a:t>
            </a:r>
            <a:endParaRPr lang="en-US" sz="1050" dirty="0"/>
          </a:p>
        </p:txBody>
      </p:sp>
      <p:sp>
        <p:nvSpPr>
          <p:cNvPr id="51" name="Shape 39"/>
          <p:cNvSpPr/>
          <p:nvPr/>
        </p:nvSpPr>
        <p:spPr>
          <a:xfrm flipV="1">
            <a:off x="5111496" y="1508760"/>
            <a:ext cx="0" cy="228600"/>
          </a:xfrm>
          <a:prstGeom prst="line">
            <a:avLst/>
          </a:prstGeom>
          <a:noFill/>
          <a:ln w="12700">
            <a:solidFill>
              <a:srgbClr val="6C4EF5"/>
            </a:solidFill>
            <a:prstDash val="solid"/>
          </a:ln>
        </p:spPr>
      </p:sp>
      <p:sp>
        <p:nvSpPr>
          <p:cNvPr id="52" name="Shape 40"/>
          <p:cNvSpPr/>
          <p:nvPr/>
        </p:nvSpPr>
        <p:spPr>
          <a:xfrm flipH="1">
            <a:off x="1901952" y="1508760"/>
            <a:ext cx="3209544" cy="0"/>
          </a:xfrm>
          <a:prstGeom prst="line">
            <a:avLst/>
          </a:prstGeom>
          <a:noFill/>
          <a:ln w="12700">
            <a:solidFill>
              <a:srgbClr val="6C4EF5"/>
            </a:solidFill>
            <a:prstDash val="solid"/>
          </a:ln>
        </p:spPr>
      </p:sp>
      <p:sp>
        <p:nvSpPr>
          <p:cNvPr id="53" name="Shape 41"/>
          <p:cNvSpPr/>
          <p:nvPr/>
        </p:nvSpPr>
        <p:spPr>
          <a:xfrm>
            <a:off x="1901952" y="1508760"/>
            <a:ext cx="0" cy="237744"/>
          </a:xfrm>
          <a:prstGeom prst="line">
            <a:avLst/>
          </a:prstGeom>
          <a:noFill/>
          <a:ln w="12700">
            <a:solidFill>
              <a:srgbClr val="6C4EF5"/>
            </a:solidFill>
            <a:prstDash val="solid"/>
            <a:tailEnd type="triangle"/>
          </a:ln>
        </p:spPr>
      </p:sp>
      <p:sp>
        <p:nvSpPr>
          <p:cNvPr id="54" name="Text 42"/>
          <p:cNvSpPr txBox="1"/>
          <p:nvPr/>
        </p:nvSpPr>
        <p:spPr>
          <a:xfrm>
            <a:off x="822960" y="1280160"/>
            <a:ext cx="4937760" cy="201168"/>
          </a:xfrm>
          <a:prstGeom prst="rect">
            <a:avLst/>
          </a:prstGeom>
          <a:noFill/>
          <a:ln/>
        </p:spPr>
        <p:txBody>
          <a:bodyPr wrap="square" lIns="0" tIns="0" rIns="0" bIns="0" rtlCol="0" anchor="ctr"/>
          <a:lstStyle/>
          <a:p>
            <a:pPr algn="ctr" indent="0" marL="0">
              <a:buNone/>
            </a:pPr>
            <a:r>
              <a:rPr lang="en-US" sz="900" b="1" i="1" dirty="0">
                <a:solidFill>
                  <a:srgbClr val="6C4EF5"/>
                </a:solidFill>
                <a:latin typeface="Segoe UI" pitchFamily="34" charset="0"/>
                <a:ea typeface="Segoe UI" pitchFamily="34" charset="-122"/>
                <a:cs typeface="Segoe UI" pitchFamily="34" charset="-120"/>
              </a:rPr>
              <a:t>re-plan every 8 min, or instantly on any change (cancel · shelter full · new food)</a:t>
            </a:r>
            <a:endParaRPr lang="en-US" sz="900" dirty="0"/>
          </a:p>
        </p:txBody>
      </p:sp>
      <p:sp>
        <p:nvSpPr>
          <p:cNvPr id="55" name="Text 43"/>
          <p:cNvSpPr txBox="1"/>
          <p:nvPr/>
        </p:nvSpPr>
        <p:spPr>
          <a:xfrm>
            <a:off x="457200" y="4572000"/>
            <a:ext cx="8229600" cy="274320"/>
          </a:xfrm>
          <a:prstGeom prst="rect">
            <a:avLst/>
          </a:prstGeom>
          <a:noFill/>
          <a:ln/>
        </p:spPr>
        <p:txBody>
          <a:bodyPr wrap="square" lIns="0" tIns="0" rIns="0" bIns="0" rtlCol="0" anchor="ctr"/>
          <a:lstStyle/>
          <a:p>
            <a:pPr algn="ctr" indent="0" marL="0">
              <a:buNone/>
            </a:pPr>
            <a:r>
              <a:rPr lang="en-US" sz="1100" i="1" dirty="0">
                <a:solidFill>
                  <a:srgbClr val="7A7A85"/>
                </a:solidFill>
                <a:latin typeface="Segoe UI" pitchFamily="34" charset="0"/>
                <a:ea typeface="Segoe UI" pitchFamily="34" charset="-122"/>
                <a:cs typeface="Segoe UI" pitchFamily="34" charset="-120"/>
              </a:rPr>
              <a:t>Matched in ~60 ms · planner p95 ~15 ms · 0 safety violations in simulation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Overall Architecture</a:t>
            </a:r>
            <a:endParaRPr lang="en-US" sz="3000" dirty="0"/>
          </a:p>
        </p:txBody>
      </p:sp>
      <p:sp>
        <p:nvSpPr>
          <p:cNvPr id="6" name="Shape 3"/>
          <p:cNvSpPr/>
          <p:nvPr/>
        </p:nvSpPr>
        <p:spPr>
          <a:xfrm>
            <a:off x="274320" y="1234440"/>
            <a:ext cx="1234440" cy="3291840"/>
          </a:xfrm>
          <a:prstGeom prst="roundRect">
            <a:avLst>
              <a:gd name="adj" fmla="val 5185"/>
            </a:avLst>
          </a:prstGeom>
          <a:solidFill>
            <a:srgbClr val="F6F4FF"/>
          </a:solidFill>
          <a:ln w="12700">
            <a:solidFill>
              <a:srgbClr val="A898F2"/>
            </a:solidFill>
            <a:prstDash val="dash"/>
          </a:ln>
        </p:spPr>
      </p:sp>
      <p:sp>
        <p:nvSpPr>
          <p:cNvPr id="7" name="Text 4"/>
          <p:cNvSpPr txBox="1"/>
          <p:nvPr/>
        </p:nvSpPr>
        <p:spPr>
          <a:xfrm>
            <a:off x="274320" y="1280160"/>
            <a:ext cx="1234440" cy="228600"/>
          </a:xfrm>
          <a:prstGeom prst="rect">
            <a:avLst/>
          </a:prstGeom>
          <a:noFill/>
          <a:ln/>
        </p:spPr>
        <p:txBody>
          <a:bodyPr wrap="square" lIns="0" tIns="0" rIns="0" bIns="0" rtlCol="0" anchor="ctr"/>
          <a:lstStyle/>
          <a:p>
            <a:pPr algn="ctr" indent="0" marL="0">
              <a:buNone/>
            </a:pPr>
            <a:r>
              <a:rPr lang="en-US" sz="1000" b="1" dirty="0">
                <a:solidFill>
                  <a:srgbClr val="161616"/>
                </a:solidFill>
                <a:latin typeface="Segoe UI" pitchFamily="34" charset="0"/>
                <a:ea typeface="Segoe UI" pitchFamily="34" charset="-122"/>
                <a:cs typeface="Segoe UI" pitchFamily="34" charset="-120"/>
              </a:rPr>
              <a:t>Users</a:t>
            </a:r>
            <a:endParaRPr lang="en-US" sz="1000" dirty="0"/>
          </a:p>
        </p:txBody>
      </p:sp>
      <p:sp>
        <p:nvSpPr>
          <p:cNvPr id="8" name="Shape 5"/>
          <p:cNvSpPr/>
          <p:nvPr/>
        </p:nvSpPr>
        <p:spPr>
          <a:xfrm>
            <a:off x="658368" y="1600200"/>
            <a:ext cx="457200" cy="457200"/>
          </a:xfrm>
          <a:prstGeom prst="ellipse">
            <a:avLst/>
          </a:prstGeom>
          <a:solidFill>
            <a:srgbClr val="6C4EF5"/>
          </a:solidFill>
          <a:ln w="12700">
            <a:solidFill>
              <a:srgbClr val="6C4EF5"/>
            </a:solidFill>
            <a:prstDash val="solid"/>
          </a:ln>
        </p:spPr>
      </p:sp>
      <p:pic>
        <p:nvPicPr>
          <p:cNvPr id="9" name="Image 1" descr="preencoded.png">    </p:cNvPr>
          <p:cNvPicPr>
            <a:picLocks noChangeAspect="1"/>
          </p:cNvPicPr>
          <p:nvPr/>
        </p:nvPicPr>
        <p:blipFill>
          <a:blip r:embed="rId2"/>
          <a:stretch>
            <a:fillRect/>
          </a:stretch>
        </p:blipFill>
        <p:spPr>
          <a:xfrm>
            <a:off x="777240" y="1719072"/>
            <a:ext cx="219456" cy="219456"/>
          </a:xfrm>
          <a:prstGeom prst="rect">
            <a:avLst/>
          </a:prstGeom>
        </p:spPr>
      </p:pic>
      <p:sp>
        <p:nvSpPr>
          <p:cNvPr id="10" name="Text 6"/>
          <p:cNvSpPr txBox="1"/>
          <p:nvPr/>
        </p:nvSpPr>
        <p:spPr>
          <a:xfrm>
            <a:off x="320040" y="2057400"/>
            <a:ext cx="1143000" cy="182880"/>
          </a:xfrm>
          <a:prstGeom prst="rect">
            <a:avLst/>
          </a:prstGeom>
          <a:noFill/>
          <a:ln/>
        </p:spPr>
        <p:txBody>
          <a:bodyPr wrap="square" lIns="0" tIns="0" rIns="0" bIns="0" rtlCol="0" anchor="ctr"/>
          <a:lstStyle/>
          <a:p>
            <a:pPr algn="ctr" indent="0" marL="0">
              <a:buNone/>
            </a:pPr>
            <a:r>
              <a:rPr lang="en-US" sz="850" dirty="0">
                <a:solidFill>
                  <a:srgbClr val="5B5B66"/>
                </a:solidFill>
                <a:latin typeface="Segoe UI" pitchFamily="34" charset="0"/>
                <a:ea typeface="Segoe UI" pitchFamily="34" charset="-122"/>
                <a:cs typeface="Segoe UI" pitchFamily="34" charset="-120"/>
              </a:rPr>
              <a:t>Donor</a:t>
            </a:r>
            <a:endParaRPr lang="en-US" sz="850" dirty="0"/>
          </a:p>
        </p:txBody>
      </p:sp>
      <p:sp>
        <p:nvSpPr>
          <p:cNvPr id="11" name="Shape 7"/>
          <p:cNvSpPr/>
          <p:nvPr/>
        </p:nvSpPr>
        <p:spPr>
          <a:xfrm>
            <a:off x="658368" y="2313432"/>
            <a:ext cx="457200" cy="457200"/>
          </a:xfrm>
          <a:prstGeom prst="ellipse">
            <a:avLst/>
          </a:prstGeom>
          <a:solidFill>
            <a:srgbClr val="6C4EF5"/>
          </a:solidFill>
          <a:ln w="12700">
            <a:solidFill>
              <a:srgbClr val="6C4EF5"/>
            </a:solidFill>
            <a:prstDash val="solid"/>
          </a:ln>
        </p:spPr>
      </p:sp>
      <p:pic>
        <p:nvPicPr>
          <p:cNvPr id="12" name="Image 2" descr="preencoded.png">    </p:cNvPr>
          <p:cNvPicPr>
            <a:picLocks noChangeAspect="1"/>
          </p:cNvPicPr>
          <p:nvPr/>
        </p:nvPicPr>
        <p:blipFill>
          <a:blip r:embed="rId3"/>
          <a:stretch>
            <a:fillRect/>
          </a:stretch>
        </p:blipFill>
        <p:spPr>
          <a:xfrm>
            <a:off x="777240" y="2432304"/>
            <a:ext cx="219456" cy="219456"/>
          </a:xfrm>
          <a:prstGeom prst="rect">
            <a:avLst/>
          </a:prstGeom>
        </p:spPr>
      </p:pic>
      <p:sp>
        <p:nvSpPr>
          <p:cNvPr id="13" name="Text 8"/>
          <p:cNvSpPr txBox="1"/>
          <p:nvPr/>
        </p:nvSpPr>
        <p:spPr>
          <a:xfrm>
            <a:off x="320040" y="2770632"/>
            <a:ext cx="1143000" cy="182880"/>
          </a:xfrm>
          <a:prstGeom prst="rect">
            <a:avLst/>
          </a:prstGeom>
          <a:noFill/>
          <a:ln/>
        </p:spPr>
        <p:txBody>
          <a:bodyPr wrap="square" lIns="0" tIns="0" rIns="0" bIns="0" rtlCol="0" anchor="ctr"/>
          <a:lstStyle/>
          <a:p>
            <a:pPr algn="ctr" indent="0" marL="0">
              <a:buNone/>
            </a:pPr>
            <a:r>
              <a:rPr lang="en-US" sz="850" dirty="0">
                <a:solidFill>
                  <a:srgbClr val="5B5B66"/>
                </a:solidFill>
                <a:latin typeface="Segoe UI" pitchFamily="34" charset="0"/>
                <a:ea typeface="Segoe UI" pitchFamily="34" charset="-122"/>
                <a:cs typeface="Segoe UI" pitchFamily="34" charset="-120"/>
              </a:rPr>
              <a:t>Driver</a:t>
            </a:r>
            <a:endParaRPr lang="en-US" sz="850" dirty="0"/>
          </a:p>
        </p:txBody>
      </p:sp>
      <p:sp>
        <p:nvSpPr>
          <p:cNvPr id="14" name="Shape 9"/>
          <p:cNvSpPr/>
          <p:nvPr/>
        </p:nvSpPr>
        <p:spPr>
          <a:xfrm>
            <a:off x="658368" y="3026664"/>
            <a:ext cx="457200" cy="457200"/>
          </a:xfrm>
          <a:prstGeom prst="ellipse">
            <a:avLst/>
          </a:prstGeom>
          <a:solidFill>
            <a:srgbClr val="6C4EF5"/>
          </a:solidFill>
          <a:ln w="12700">
            <a:solidFill>
              <a:srgbClr val="6C4EF5"/>
            </a:solidFill>
            <a:prstDash val="solid"/>
          </a:ln>
        </p:spPr>
      </p:sp>
      <p:pic>
        <p:nvPicPr>
          <p:cNvPr id="15" name="Image 3" descr="preencoded.png">    </p:cNvPr>
          <p:cNvPicPr>
            <a:picLocks noChangeAspect="1"/>
          </p:cNvPicPr>
          <p:nvPr/>
        </p:nvPicPr>
        <p:blipFill>
          <a:blip r:embed="rId4"/>
          <a:stretch>
            <a:fillRect/>
          </a:stretch>
        </p:blipFill>
        <p:spPr>
          <a:xfrm>
            <a:off x="777240" y="3145536"/>
            <a:ext cx="219456" cy="219456"/>
          </a:xfrm>
          <a:prstGeom prst="rect">
            <a:avLst/>
          </a:prstGeom>
        </p:spPr>
      </p:pic>
      <p:sp>
        <p:nvSpPr>
          <p:cNvPr id="16" name="Text 10"/>
          <p:cNvSpPr txBox="1"/>
          <p:nvPr/>
        </p:nvSpPr>
        <p:spPr>
          <a:xfrm>
            <a:off x="320040" y="3483864"/>
            <a:ext cx="1143000" cy="182880"/>
          </a:xfrm>
          <a:prstGeom prst="rect">
            <a:avLst/>
          </a:prstGeom>
          <a:noFill/>
          <a:ln/>
        </p:spPr>
        <p:txBody>
          <a:bodyPr wrap="square" lIns="0" tIns="0" rIns="0" bIns="0" rtlCol="0" anchor="ctr"/>
          <a:lstStyle/>
          <a:p>
            <a:pPr algn="ctr" indent="0" marL="0">
              <a:buNone/>
            </a:pPr>
            <a:r>
              <a:rPr lang="en-US" sz="850" dirty="0">
                <a:solidFill>
                  <a:srgbClr val="5B5B66"/>
                </a:solidFill>
                <a:latin typeface="Segoe UI" pitchFamily="34" charset="0"/>
                <a:ea typeface="Segoe UI" pitchFamily="34" charset="-122"/>
                <a:cs typeface="Segoe UI" pitchFamily="34" charset="-120"/>
              </a:rPr>
              <a:t>Shelter</a:t>
            </a:r>
            <a:endParaRPr lang="en-US" sz="850" dirty="0"/>
          </a:p>
        </p:txBody>
      </p:sp>
      <p:sp>
        <p:nvSpPr>
          <p:cNvPr id="17" name="Shape 11"/>
          <p:cNvSpPr/>
          <p:nvPr/>
        </p:nvSpPr>
        <p:spPr>
          <a:xfrm>
            <a:off x="658368" y="3739896"/>
            <a:ext cx="457200" cy="457200"/>
          </a:xfrm>
          <a:prstGeom prst="ellipse">
            <a:avLst/>
          </a:prstGeom>
          <a:solidFill>
            <a:srgbClr val="6C4EF5"/>
          </a:solidFill>
          <a:ln w="12700">
            <a:solidFill>
              <a:srgbClr val="6C4EF5"/>
            </a:solidFill>
            <a:prstDash val="solid"/>
          </a:ln>
        </p:spPr>
      </p:sp>
      <p:pic>
        <p:nvPicPr>
          <p:cNvPr id="18" name="Image 4" descr="preencoded.png">    </p:cNvPr>
          <p:cNvPicPr>
            <a:picLocks noChangeAspect="1"/>
          </p:cNvPicPr>
          <p:nvPr/>
        </p:nvPicPr>
        <p:blipFill>
          <a:blip r:embed="rId5"/>
          <a:stretch>
            <a:fillRect/>
          </a:stretch>
        </p:blipFill>
        <p:spPr>
          <a:xfrm>
            <a:off x="777240" y="3858768"/>
            <a:ext cx="219456" cy="219456"/>
          </a:xfrm>
          <a:prstGeom prst="rect">
            <a:avLst/>
          </a:prstGeom>
        </p:spPr>
      </p:pic>
      <p:sp>
        <p:nvSpPr>
          <p:cNvPr id="19" name="Text 12"/>
          <p:cNvSpPr txBox="1"/>
          <p:nvPr/>
        </p:nvSpPr>
        <p:spPr>
          <a:xfrm>
            <a:off x="320040" y="4197096"/>
            <a:ext cx="1143000" cy="182880"/>
          </a:xfrm>
          <a:prstGeom prst="rect">
            <a:avLst/>
          </a:prstGeom>
          <a:noFill/>
          <a:ln/>
        </p:spPr>
        <p:txBody>
          <a:bodyPr wrap="square" lIns="0" tIns="0" rIns="0" bIns="0" rtlCol="0" anchor="ctr"/>
          <a:lstStyle/>
          <a:p>
            <a:pPr algn="ctr" indent="0" marL="0">
              <a:buNone/>
            </a:pPr>
            <a:r>
              <a:rPr lang="en-US" sz="850" dirty="0">
                <a:solidFill>
                  <a:srgbClr val="5B5B66"/>
                </a:solidFill>
                <a:latin typeface="Segoe UI" pitchFamily="34" charset="0"/>
                <a:ea typeface="Segoe UI" pitchFamily="34" charset="-122"/>
                <a:cs typeface="Segoe UI" pitchFamily="34" charset="-120"/>
              </a:rPr>
              <a:t>Admin</a:t>
            </a:r>
            <a:endParaRPr lang="en-US" sz="850" dirty="0"/>
          </a:p>
        </p:txBody>
      </p:sp>
      <p:sp>
        <p:nvSpPr>
          <p:cNvPr id="20" name="Shape 13"/>
          <p:cNvSpPr/>
          <p:nvPr/>
        </p:nvSpPr>
        <p:spPr>
          <a:xfrm>
            <a:off x="1874520" y="1234440"/>
            <a:ext cx="1417320" cy="3291840"/>
          </a:xfrm>
          <a:prstGeom prst="roundRect">
            <a:avLst>
              <a:gd name="adj" fmla="val 4516"/>
            </a:avLst>
          </a:prstGeom>
          <a:solidFill>
            <a:srgbClr val="DCE8FD"/>
          </a:solidFill>
          <a:ln w="12700">
            <a:solidFill>
              <a:srgbClr val="8FB1EE"/>
            </a:solidFill>
            <a:prstDash val="dash"/>
          </a:ln>
        </p:spPr>
      </p:sp>
      <p:pic>
        <p:nvPicPr>
          <p:cNvPr id="21" name="Image 5" descr="preencoded.png">    </p:cNvPr>
          <p:cNvPicPr>
            <a:picLocks noChangeAspect="1"/>
          </p:cNvPicPr>
          <p:nvPr/>
        </p:nvPicPr>
        <p:blipFill>
          <a:blip r:embed="rId6"/>
          <a:stretch>
            <a:fillRect/>
          </a:stretch>
        </p:blipFill>
        <p:spPr>
          <a:xfrm>
            <a:off x="2414016" y="1371600"/>
            <a:ext cx="329184" cy="329184"/>
          </a:xfrm>
          <a:prstGeom prst="rect">
            <a:avLst/>
          </a:prstGeom>
        </p:spPr>
      </p:pic>
      <p:sp>
        <p:nvSpPr>
          <p:cNvPr id="22" name="Text 14"/>
          <p:cNvSpPr txBox="1"/>
          <p:nvPr/>
        </p:nvSpPr>
        <p:spPr>
          <a:xfrm>
            <a:off x="1920240" y="1783080"/>
            <a:ext cx="1325880" cy="2103120"/>
          </a:xfrm>
          <a:prstGeom prst="rect">
            <a:avLst/>
          </a:prstGeom>
          <a:noFill/>
          <a:ln/>
        </p:spPr>
        <p:txBody>
          <a:bodyPr wrap="square" lIns="0" tIns="0" rIns="0" bIns="0" rtlCol="0" anchor="t"/>
          <a:lstStyle/>
          <a:p>
            <a:pPr algn="ctr" indent="0" marL="0">
              <a:spcAft>
                <a:spcPts val="500"/>
              </a:spcAft>
              <a:buNone/>
            </a:pPr>
            <a:r>
              <a:rPr lang="en-US" sz="950" b="1" dirty="0">
                <a:solidFill>
                  <a:srgbClr val="161616"/>
                </a:solidFill>
                <a:latin typeface="Segoe UI" pitchFamily="34" charset="0"/>
                <a:ea typeface="Segoe UI" pitchFamily="34" charset="-122"/>
                <a:cs typeface="Segoe UI" pitchFamily="34" charset="-120"/>
              </a:rPr>
              <a:t>Web App</a:t>
            </a:r>
            <a:endParaRPr lang="en-US" sz="950" dirty="0"/>
          </a:p>
          <a:p>
            <a:pPr algn="ctr" indent="0" marL="0">
              <a:spcAft>
                <a:spcPts val="500"/>
              </a:spcAft>
              <a:buNone/>
            </a:pPr>
            <a:r>
              <a:rPr lang="en-US" sz="950" dirty="0">
                <a:solidFill>
                  <a:srgbClr val="161616"/>
                </a:solidFill>
                <a:latin typeface="Segoe UI" pitchFamily="34" charset="0"/>
                <a:ea typeface="Segoe UI" pitchFamily="34" charset="-122"/>
                <a:cs typeface="Segoe UI" pitchFamily="34" charset="-120"/>
              </a:rPr>
              <a:t>role-based SPA</a:t>
            </a:r>
            <a:endParaRPr lang="en-US" sz="950" dirty="0"/>
          </a:p>
          <a:p>
            <a:pPr algn="ctr" indent="0" marL="0">
              <a:spcAft>
                <a:spcPts val="500"/>
              </a:spcAft>
              <a:buNone/>
            </a:pPr>
            <a:r>
              <a:rPr lang="en-US" sz="950" dirty="0">
                <a:solidFill>
                  <a:srgbClr val="161616"/>
                </a:solidFill>
                <a:latin typeface="Segoe UI" pitchFamily="34" charset="0"/>
                <a:ea typeface="Segoe UI" pitchFamily="34" charset="-122"/>
                <a:cs typeface="Segoe UI" pitchFamily="34" charset="-120"/>
              </a:rPr>
              <a:t>Leaflet + CARTO maps</a:t>
            </a:r>
            <a:endParaRPr lang="en-US" sz="950" dirty="0"/>
          </a:p>
          <a:p>
            <a:pPr algn="ctr" indent="0" marL="0">
              <a:spcAft>
                <a:spcPts val="500"/>
              </a:spcAft>
              <a:buNone/>
            </a:pPr>
            <a:r>
              <a:rPr lang="en-US" sz="950" dirty="0">
                <a:solidFill>
                  <a:srgbClr val="161616"/>
                </a:solidFill>
                <a:latin typeface="Segoe UI" pitchFamily="34" charset="0"/>
                <a:ea typeface="Segoe UI" pitchFamily="34" charset="-122"/>
                <a:cs typeface="Segoe UI" pitchFamily="34" charset="-120"/>
              </a:rPr>
              <a:t>live board</a:t>
            </a:r>
            <a:endParaRPr lang="en-US" sz="950" dirty="0"/>
          </a:p>
          <a:p>
            <a:pPr algn="ctr" indent="0" marL="0">
              <a:spcAft>
                <a:spcPts val="500"/>
              </a:spcAft>
              <a:buNone/>
            </a:pPr>
            <a:r>
              <a:rPr lang="en-US" sz="950" dirty="0">
                <a:solidFill>
                  <a:srgbClr val="161616"/>
                </a:solidFill>
                <a:latin typeface="Segoe UI" pitchFamily="34" charset="0"/>
                <a:ea typeface="Segoe UI" pitchFamily="34" charset="-122"/>
                <a:cs typeface="Segoe UI" pitchFamily="34" charset="-120"/>
              </a:rPr>
              <a:t>AI explainer</a:t>
            </a:r>
            <a:endParaRPr lang="en-US" sz="950" dirty="0"/>
          </a:p>
          <a:p>
            <a:pPr algn="ctr" indent="0" marL="0">
              <a:spcAft>
                <a:spcPts val="500"/>
              </a:spcAft>
              <a:buNone/>
            </a:pPr>
            <a:r>
              <a:rPr lang="en-US" sz="950" dirty="0">
                <a:solidFill>
                  <a:srgbClr val="161616"/>
                </a:solidFill>
                <a:latin typeface="Segoe UI" pitchFamily="34" charset="0"/>
                <a:ea typeface="Segoe UI" pitchFamily="34" charset="-122"/>
                <a:cs typeface="Segoe UI" pitchFamily="34" charset="-120"/>
              </a:rPr>
              <a:t>bell 🔔 · receipts</a:t>
            </a:r>
            <a:endParaRPr lang="en-US" sz="950" dirty="0"/>
          </a:p>
        </p:txBody>
      </p:sp>
      <p:sp>
        <p:nvSpPr>
          <p:cNvPr id="23" name="Shape 15"/>
          <p:cNvSpPr/>
          <p:nvPr/>
        </p:nvSpPr>
        <p:spPr>
          <a:xfrm>
            <a:off x="1508760" y="2880360"/>
            <a:ext cx="347472" cy="0"/>
          </a:xfrm>
          <a:prstGeom prst="line">
            <a:avLst/>
          </a:prstGeom>
          <a:noFill/>
          <a:ln w="12700">
            <a:solidFill>
              <a:srgbClr val="3A3A44"/>
            </a:solidFill>
            <a:prstDash val="solid"/>
            <a:tailEnd type="triangle"/>
          </a:ln>
        </p:spPr>
      </p:sp>
      <p:sp>
        <p:nvSpPr>
          <p:cNvPr id="24" name="Text 16"/>
          <p:cNvSpPr txBox="1"/>
          <p:nvPr/>
        </p:nvSpPr>
        <p:spPr>
          <a:xfrm>
            <a:off x="1499616" y="2487168"/>
            <a:ext cx="384048" cy="329184"/>
          </a:xfrm>
          <a:prstGeom prst="rect">
            <a:avLst/>
          </a:prstGeom>
          <a:noFill/>
          <a:ln/>
        </p:spPr>
        <p:txBody>
          <a:bodyPr wrap="square" lIns="0" tIns="0" rIns="0" bIns="0" rtlCol="0" anchor="ctr"/>
          <a:lstStyle/>
          <a:p>
            <a:pPr algn="ctr" indent="0" marL="0">
              <a:buNone/>
            </a:pPr>
            <a:r>
              <a:rPr lang="en-US" sz="650" b="1" i="1" dirty="0">
                <a:solidFill>
                  <a:srgbClr val="3A3A44"/>
                </a:solidFill>
                <a:latin typeface="Segoe UI" pitchFamily="34" charset="0"/>
                <a:ea typeface="Segoe UI" pitchFamily="34" charset="-122"/>
                <a:cs typeface="Segoe UI" pitchFamily="34" charset="-120"/>
              </a:rPr>
              <a:t>Google</a:t>
            </a:r>
            <a:endParaRPr lang="en-US" sz="650" dirty="0"/>
          </a:p>
          <a:p>
            <a:pPr algn="ctr" indent="0" marL="0">
              <a:buNone/>
            </a:pPr>
            <a:r>
              <a:rPr lang="en-US" sz="650" b="1" i="1" dirty="0">
                <a:solidFill>
                  <a:srgbClr val="3A3A44"/>
                </a:solidFill>
                <a:latin typeface="Segoe UI" pitchFamily="34" charset="0"/>
                <a:ea typeface="Segoe UI" pitchFamily="34" charset="-122"/>
                <a:cs typeface="Segoe UI" pitchFamily="34" charset="-120"/>
              </a:rPr>
              <a:t>sign-in</a:t>
            </a:r>
            <a:endParaRPr lang="en-US" sz="650" dirty="0"/>
          </a:p>
        </p:txBody>
      </p:sp>
      <p:sp>
        <p:nvSpPr>
          <p:cNvPr id="25" name="Shape 17"/>
          <p:cNvSpPr/>
          <p:nvPr/>
        </p:nvSpPr>
        <p:spPr>
          <a:xfrm>
            <a:off x="3657600" y="1234440"/>
            <a:ext cx="2971800" cy="3291840"/>
          </a:xfrm>
          <a:prstGeom prst="roundRect">
            <a:avLst>
              <a:gd name="adj" fmla="val 2462"/>
            </a:avLst>
          </a:prstGeom>
          <a:solidFill>
            <a:srgbClr val="FAFAFE"/>
          </a:solidFill>
          <a:ln w="12700">
            <a:solidFill>
              <a:srgbClr val="B9B6C9"/>
            </a:solidFill>
            <a:prstDash val="dash"/>
          </a:ln>
        </p:spPr>
      </p:sp>
      <p:sp>
        <p:nvSpPr>
          <p:cNvPr id="26" name="Text 18"/>
          <p:cNvSpPr txBox="1"/>
          <p:nvPr/>
        </p:nvSpPr>
        <p:spPr>
          <a:xfrm>
            <a:off x="3657600" y="1261872"/>
            <a:ext cx="2971800" cy="228600"/>
          </a:xfrm>
          <a:prstGeom prst="rect">
            <a:avLst/>
          </a:prstGeom>
          <a:noFill/>
          <a:ln/>
        </p:spPr>
        <p:txBody>
          <a:bodyPr wrap="square" lIns="0" tIns="0" rIns="0" bIns="0" rtlCol="0" anchor="ctr"/>
          <a:lstStyle/>
          <a:p>
            <a:pPr algn="ctr" indent="0" marL="0">
              <a:buNone/>
            </a:pPr>
            <a:r>
              <a:rPr lang="en-US" sz="1000" b="1" dirty="0">
                <a:solidFill>
                  <a:srgbClr val="161616"/>
                </a:solidFill>
                <a:latin typeface="Segoe UI" pitchFamily="34" charset="0"/>
                <a:ea typeface="Segoe UI" pitchFamily="34" charset="-122"/>
                <a:cs typeface="Segoe UI" pitchFamily="34" charset="-120"/>
              </a:rPr>
              <a:t>FastAPI server</a:t>
            </a:r>
            <a:endParaRPr lang="en-US" sz="1000" dirty="0"/>
          </a:p>
        </p:txBody>
      </p:sp>
      <p:sp>
        <p:nvSpPr>
          <p:cNvPr id="27" name="Shape 19"/>
          <p:cNvSpPr/>
          <p:nvPr/>
        </p:nvSpPr>
        <p:spPr>
          <a:xfrm>
            <a:off x="3291840" y="2880360"/>
            <a:ext cx="347472" cy="0"/>
          </a:xfrm>
          <a:prstGeom prst="line">
            <a:avLst/>
          </a:prstGeom>
          <a:noFill/>
          <a:ln w="12700">
            <a:solidFill>
              <a:srgbClr val="3A3A44"/>
            </a:solidFill>
            <a:prstDash val="solid"/>
            <a:tailEnd type="triangle"/>
          </a:ln>
        </p:spPr>
      </p:sp>
      <p:sp>
        <p:nvSpPr>
          <p:cNvPr id="28" name="Text 20"/>
          <p:cNvSpPr txBox="1"/>
          <p:nvPr/>
        </p:nvSpPr>
        <p:spPr>
          <a:xfrm>
            <a:off x="3200400" y="2606040"/>
            <a:ext cx="548640" cy="182880"/>
          </a:xfrm>
          <a:prstGeom prst="rect">
            <a:avLst/>
          </a:prstGeom>
          <a:noFill/>
          <a:ln/>
        </p:spPr>
        <p:txBody>
          <a:bodyPr wrap="square" lIns="0" tIns="0" rIns="0" bIns="0" rtlCol="0" anchor="ctr"/>
          <a:lstStyle/>
          <a:p>
            <a:pPr algn="ctr" indent="0" marL="0">
              <a:buNone/>
            </a:pPr>
            <a:r>
              <a:rPr lang="en-US" sz="800" b="1" i="1" dirty="0">
                <a:solidFill>
                  <a:srgbClr val="3A3A44"/>
                </a:solidFill>
                <a:latin typeface="Segoe UI" pitchFamily="34" charset="0"/>
                <a:ea typeface="Segoe UI" pitchFamily="34" charset="-122"/>
                <a:cs typeface="Segoe UI" pitchFamily="34" charset="-120"/>
              </a:rPr>
              <a:t>REST</a:t>
            </a:r>
            <a:endParaRPr lang="en-US" sz="800" dirty="0"/>
          </a:p>
        </p:txBody>
      </p:sp>
      <p:sp>
        <p:nvSpPr>
          <p:cNvPr id="29" name="Shape 21"/>
          <p:cNvSpPr/>
          <p:nvPr/>
        </p:nvSpPr>
        <p:spPr>
          <a:xfrm>
            <a:off x="3794760" y="1554480"/>
            <a:ext cx="2697480" cy="438912"/>
          </a:xfrm>
          <a:prstGeom prst="roundRect">
            <a:avLst>
              <a:gd name="adj" fmla="val 14583"/>
            </a:avLst>
          </a:prstGeom>
          <a:solidFill>
            <a:srgbClr val="E9E3FE"/>
          </a:solidFill>
          <a:ln w="12700">
            <a:solidFill>
              <a:srgbClr val="A898F2"/>
            </a:solidFill>
            <a:prstDash val="dash"/>
          </a:ln>
        </p:spPr>
      </p:sp>
      <p:sp>
        <p:nvSpPr>
          <p:cNvPr id="30" name="Text 22"/>
          <p:cNvSpPr txBox="1"/>
          <p:nvPr/>
        </p:nvSpPr>
        <p:spPr>
          <a:xfrm>
            <a:off x="3840480" y="1554480"/>
            <a:ext cx="2606040" cy="438912"/>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Auth · roles · HttpOnly sessions</a:t>
            </a:r>
            <a:endParaRPr lang="en-US" sz="950" dirty="0"/>
          </a:p>
        </p:txBody>
      </p:sp>
      <p:sp>
        <p:nvSpPr>
          <p:cNvPr id="31" name="Shape 23"/>
          <p:cNvSpPr/>
          <p:nvPr/>
        </p:nvSpPr>
        <p:spPr>
          <a:xfrm>
            <a:off x="3794760" y="2103120"/>
            <a:ext cx="2697480" cy="1234440"/>
          </a:xfrm>
          <a:prstGeom prst="roundRect">
            <a:avLst>
              <a:gd name="adj" fmla="val 5185"/>
            </a:avLst>
          </a:prstGeom>
          <a:solidFill>
            <a:srgbClr val="FDE2E4"/>
          </a:solidFill>
          <a:ln w="12700">
            <a:solidFill>
              <a:srgbClr val="E79AA3"/>
            </a:solidFill>
            <a:prstDash val="dash"/>
          </a:ln>
        </p:spPr>
      </p:sp>
      <p:sp>
        <p:nvSpPr>
          <p:cNvPr id="32" name="Text 24"/>
          <p:cNvSpPr txBox="1"/>
          <p:nvPr/>
        </p:nvSpPr>
        <p:spPr>
          <a:xfrm>
            <a:off x="3794760" y="2130552"/>
            <a:ext cx="2697480" cy="201168"/>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Planner brain</a:t>
            </a:r>
            <a:endParaRPr lang="en-US" sz="950" dirty="0"/>
          </a:p>
        </p:txBody>
      </p:sp>
      <p:sp>
        <p:nvSpPr>
          <p:cNvPr id="33" name="Shape 25"/>
          <p:cNvSpPr/>
          <p:nvPr/>
        </p:nvSpPr>
        <p:spPr>
          <a:xfrm>
            <a:off x="3931920" y="2395728"/>
            <a:ext cx="731520" cy="841248"/>
          </a:xfrm>
          <a:prstGeom prst="roundRect">
            <a:avLst>
              <a:gd name="adj" fmla="val 7500"/>
            </a:avLst>
          </a:prstGeom>
          <a:solidFill>
            <a:srgbClr val="FFFFFF"/>
          </a:solidFill>
          <a:ln w="9525">
            <a:solidFill>
              <a:srgbClr val="E79AA3"/>
            </a:solidFill>
            <a:prstDash val="solid"/>
          </a:ln>
        </p:spPr>
      </p:sp>
      <p:pic>
        <p:nvPicPr>
          <p:cNvPr id="34" name="Image 6" descr="preencoded.png">    </p:cNvPr>
          <p:cNvPicPr>
            <a:picLocks noChangeAspect="1"/>
          </p:cNvPicPr>
          <p:nvPr/>
        </p:nvPicPr>
        <p:blipFill>
          <a:blip r:embed="rId7"/>
          <a:stretch>
            <a:fillRect/>
          </a:stretch>
        </p:blipFill>
        <p:spPr>
          <a:xfrm>
            <a:off x="4178808" y="2450592"/>
            <a:ext cx="237744" cy="237744"/>
          </a:xfrm>
          <a:prstGeom prst="rect">
            <a:avLst/>
          </a:prstGeom>
        </p:spPr>
      </p:pic>
      <p:sp>
        <p:nvSpPr>
          <p:cNvPr id="35" name="Text 26"/>
          <p:cNvSpPr txBox="1"/>
          <p:nvPr/>
        </p:nvSpPr>
        <p:spPr>
          <a:xfrm>
            <a:off x="3931920" y="2706624"/>
            <a:ext cx="731520" cy="219456"/>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Rules</a:t>
            </a:r>
            <a:endParaRPr lang="en-US" sz="1050" dirty="0"/>
          </a:p>
        </p:txBody>
      </p:sp>
      <p:sp>
        <p:nvSpPr>
          <p:cNvPr id="36" name="Text 27"/>
          <p:cNvSpPr txBox="1"/>
          <p:nvPr/>
        </p:nvSpPr>
        <p:spPr>
          <a:xfrm>
            <a:off x="3931920" y="2926080"/>
            <a:ext cx="731520" cy="219456"/>
          </a:xfrm>
          <a:prstGeom prst="rect">
            <a:avLst/>
          </a:prstGeom>
          <a:noFill/>
          <a:ln/>
        </p:spPr>
        <p:txBody>
          <a:bodyPr wrap="square" lIns="0" tIns="0" rIns="0" bIns="0" rtlCol="0" anchor="ctr"/>
          <a:lstStyle/>
          <a:p>
            <a:pPr algn="ctr" indent="0" marL="0">
              <a:buNone/>
            </a:pPr>
            <a:r>
              <a:rPr lang="en-US" sz="800" dirty="0">
                <a:solidFill>
                  <a:srgbClr val="5B5B66"/>
                </a:solidFill>
                <a:latin typeface="Segoe UI" pitchFamily="34" charset="0"/>
                <a:ea typeface="Segoe UI" pitchFamily="34" charset="-122"/>
                <a:cs typeface="Segoe UI" pitchFamily="34" charset="-120"/>
              </a:rPr>
              <a:t>safety</a:t>
            </a:r>
            <a:endParaRPr lang="en-US" sz="800" dirty="0"/>
          </a:p>
        </p:txBody>
      </p:sp>
      <p:sp>
        <p:nvSpPr>
          <p:cNvPr id="37" name="Shape 28"/>
          <p:cNvSpPr/>
          <p:nvPr/>
        </p:nvSpPr>
        <p:spPr>
          <a:xfrm>
            <a:off x="4782312" y="2395728"/>
            <a:ext cx="731520" cy="841248"/>
          </a:xfrm>
          <a:prstGeom prst="roundRect">
            <a:avLst>
              <a:gd name="adj" fmla="val 7500"/>
            </a:avLst>
          </a:prstGeom>
          <a:solidFill>
            <a:srgbClr val="FFFFFF"/>
          </a:solidFill>
          <a:ln w="9525">
            <a:solidFill>
              <a:srgbClr val="E79AA3"/>
            </a:solidFill>
            <a:prstDash val="solid"/>
          </a:ln>
        </p:spPr>
      </p:sp>
      <p:pic>
        <p:nvPicPr>
          <p:cNvPr id="38" name="Image 7" descr="preencoded.png">    </p:cNvPr>
          <p:cNvPicPr>
            <a:picLocks noChangeAspect="1"/>
          </p:cNvPicPr>
          <p:nvPr/>
        </p:nvPicPr>
        <p:blipFill>
          <a:blip r:embed="rId8"/>
          <a:stretch>
            <a:fillRect/>
          </a:stretch>
        </p:blipFill>
        <p:spPr>
          <a:xfrm>
            <a:off x="5029200" y="2450592"/>
            <a:ext cx="237744" cy="237744"/>
          </a:xfrm>
          <a:prstGeom prst="rect">
            <a:avLst/>
          </a:prstGeom>
        </p:spPr>
      </p:pic>
      <p:sp>
        <p:nvSpPr>
          <p:cNvPr id="39" name="Text 29"/>
          <p:cNvSpPr txBox="1"/>
          <p:nvPr/>
        </p:nvSpPr>
        <p:spPr>
          <a:xfrm>
            <a:off x="4782312" y="2706624"/>
            <a:ext cx="731520" cy="219456"/>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ML</a:t>
            </a:r>
            <a:endParaRPr lang="en-US" sz="1050" dirty="0"/>
          </a:p>
        </p:txBody>
      </p:sp>
      <p:sp>
        <p:nvSpPr>
          <p:cNvPr id="40" name="Text 30"/>
          <p:cNvSpPr txBox="1"/>
          <p:nvPr/>
        </p:nvSpPr>
        <p:spPr>
          <a:xfrm>
            <a:off x="4782312" y="2926080"/>
            <a:ext cx="731520" cy="219456"/>
          </a:xfrm>
          <a:prstGeom prst="rect">
            <a:avLst/>
          </a:prstGeom>
          <a:noFill/>
          <a:ln/>
        </p:spPr>
        <p:txBody>
          <a:bodyPr wrap="square" lIns="0" tIns="0" rIns="0" bIns="0" rtlCol="0" anchor="ctr"/>
          <a:lstStyle/>
          <a:p>
            <a:pPr algn="ctr" indent="0" marL="0">
              <a:buNone/>
            </a:pPr>
            <a:r>
              <a:rPr lang="en-US" sz="800" dirty="0">
                <a:solidFill>
                  <a:srgbClr val="5B5B66"/>
                </a:solidFill>
                <a:latin typeface="Segoe UI" pitchFamily="34" charset="0"/>
                <a:ea typeface="Segoe UI" pitchFamily="34" charset="-122"/>
                <a:cs typeface="Segoe UI" pitchFamily="34" charset="-120"/>
              </a:rPr>
              <a:t>p(yes)</a:t>
            </a:r>
            <a:endParaRPr lang="en-US" sz="800" dirty="0"/>
          </a:p>
        </p:txBody>
      </p:sp>
      <p:sp>
        <p:nvSpPr>
          <p:cNvPr id="41" name="Shape 31"/>
          <p:cNvSpPr/>
          <p:nvPr/>
        </p:nvSpPr>
        <p:spPr>
          <a:xfrm>
            <a:off x="5632704" y="2395728"/>
            <a:ext cx="731520" cy="841248"/>
          </a:xfrm>
          <a:prstGeom prst="roundRect">
            <a:avLst>
              <a:gd name="adj" fmla="val 7500"/>
            </a:avLst>
          </a:prstGeom>
          <a:solidFill>
            <a:srgbClr val="FFFFFF"/>
          </a:solidFill>
          <a:ln w="9525">
            <a:solidFill>
              <a:srgbClr val="E79AA3"/>
            </a:solidFill>
            <a:prstDash val="solid"/>
          </a:ln>
        </p:spPr>
      </p:sp>
      <p:pic>
        <p:nvPicPr>
          <p:cNvPr id="42" name="Image 8" descr="preencoded.png">    </p:cNvPr>
          <p:cNvPicPr>
            <a:picLocks noChangeAspect="1"/>
          </p:cNvPicPr>
          <p:nvPr/>
        </p:nvPicPr>
        <p:blipFill>
          <a:blip r:embed="rId9"/>
          <a:stretch>
            <a:fillRect/>
          </a:stretch>
        </p:blipFill>
        <p:spPr>
          <a:xfrm>
            <a:off x="5879592" y="2450592"/>
            <a:ext cx="237744" cy="237744"/>
          </a:xfrm>
          <a:prstGeom prst="rect">
            <a:avLst/>
          </a:prstGeom>
        </p:spPr>
      </p:pic>
      <p:sp>
        <p:nvSpPr>
          <p:cNvPr id="43" name="Text 32"/>
          <p:cNvSpPr txBox="1"/>
          <p:nvPr/>
        </p:nvSpPr>
        <p:spPr>
          <a:xfrm>
            <a:off x="5632704" y="2706624"/>
            <a:ext cx="731520" cy="219456"/>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RL</a:t>
            </a:r>
            <a:endParaRPr lang="en-US" sz="1050" dirty="0"/>
          </a:p>
        </p:txBody>
      </p:sp>
      <p:sp>
        <p:nvSpPr>
          <p:cNvPr id="44" name="Text 33"/>
          <p:cNvSpPr txBox="1"/>
          <p:nvPr/>
        </p:nvSpPr>
        <p:spPr>
          <a:xfrm>
            <a:off x="5632704" y="2926080"/>
            <a:ext cx="731520" cy="219456"/>
          </a:xfrm>
          <a:prstGeom prst="rect">
            <a:avLst/>
          </a:prstGeom>
          <a:noFill/>
          <a:ln/>
        </p:spPr>
        <p:txBody>
          <a:bodyPr wrap="square" lIns="0" tIns="0" rIns="0" bIns="0" rtlCol="0" anchor="ctr"/>
          <a:lstStyle/>
          <a:p>
            <a:pPr algn="ctr" indent="0" marL="0">
              <a:buNone/>
            </a:pPr>
            <a:r>
              <a:rPr lang="en-US" sz="800" dirty="0">
                <a:solidFill>
                  <a:srgbClr val="5B5B66"/>
                </a:solidFill>
                <a:latin typeface="Segoe UI" pitchFamily="34" charset="0"/>
                <a:ea typeface="Segoe UI" pitchFamily="34" charset="-122"/>
                <a:cs typeface="Segoe UI" pitchFamily="34" charset="-120"/>
              </a:rPr>
              <a:t>wave size</a:t>
            </a:r>
            <a:endParaRPr lang="en-US" sz="800" dirty="0"/>
          </a:p>
        </p:txBody>
      </p:sp>
      <p:sp>
        <p:nvSpPr>
          <p:cNvPr id="45" name="Shape 34"/>
          <p:cNvSpPr/>
          <p:nvPr/>
        </p:nvSpPr>
        <p:spPr>
          <a:xfrm>
            <a:off x="3794760" y="3456432"/>
            <a:ext cx="1280160" cy="960120"/>
          </a:xfrm>
          <a:prstGeom prst="roundRect">
            <a:avLst>
              <a:gd name="adj" fmla="val 6667"/>
            </a:avLst>
          </a:prstGeom>
          <a:solidFill>
            <a:srgbClr val="FDF3C8"/>
          </a:solidFill>
          <a:ln w="12700">
            <a:solidFill>
              <a:srgbClr val="E4C766"/>
            </a:solidFill>
            <a:prstDash val="dash"/>
          </a:ln>
        </p:spPr>
      </p:sp>
      <p:pic>
        <p:nvPicPr>
          <p:cNvPr id="46" name="Image 9" descr="preencoded.png">    </p:cNvPr>
          <p:cNvPicPr>
            <a:picLocks noChangeAspect="1"/>
          </p:cNvPicPr>
          <p:nvPr/>
        </p:nvPicPr>
        <p:blipFill>
          <a:blip r:embed="rId10"/>
          <a:stretch>
            <a:fillRect/>
          </a:stretch>
        </p:blipFill>
        <p:spPr>
          <a:xfrm>
            <a:off x="4297680" y="3547872"/>
            <a:ext cx="274320" cy="274320"/>
          </a:xfrm>
          <a:prstGeom prst="rect">
            <a:avLst/>
          </a:prstGeom>
        </p:spPr>
      </p:pic>
      <p:sp>
        <p:nvSpPr>
          <p:cNvPr id="47" name="Text 35"/>
          <p:cNvSpPr txBox="1"/>
          <p:nvPr/>
        </p:nvSpPr>
        <p:spPr>
          <a:xfrm>
            <a:off x="3840480" y="3840480"/>
            <a:ext cx="1188720" cy="53949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Event log</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(append-only)</a:t>
            </a:r>
            <a:endParaRPr lang="en-US" sz="900" dirty="0"/>
          </a:p>
        </p:txBody>
      </p:sp>
      <p:sp>
        <p:nvSpPr>
          <p:cNvPr id="48" name="Shape 36"/>
          <p:cNvSpPr/>
          <p:nvPr/>
        </p:nvSpPr>
        <p:spPr>
          <a:xfrm>
            <a:off x="5212080" y="3456432"/>
            <a:ext cx="1280160" cy="960120"/>
          </a:xfrm>
          <a:prstGeom prst="roundRect">
            <a:avLst>
              <a:gd name="adj" fmla="val 6667"/>
            </a:avLst>
          </a:prstGeom>
          <a:solidFill>
            <a:srgbClr val="DDF7E6"/>
          </a:solidFill>
          <a:ln w="12700">
            <a:solidFill>
              <a:srgbClr val="86D3A2"/>
            </a:solidFill>
            <a:prstDash val="dash"/>
          </a:ln>
        </p:spPr>
      </p:sp>
      <p:pic>
        <p:nvPicPr>
          <p:cNvPr id="49" name="Image 10" descr="preencoded.png">    </p:cNvPr>
          <p:cNvPicPr>
            <a:picLocks noChangeAspect="1"/>
          </p:cNvPicPr>
          <p:nvPr/>
        </p:nvPicPr>
        <p:blipFill>
          <a:blip r:embed="rId11"/>
          <a:stretch>
            <a:fillRect/>
          </a:stretch>
        </p:blipFill>
        <p:spPr>
          <a:xfrm>
            <a:off x="5715000" y="3547872"/>
            <a:ext cx="274320" cy="274320"/>
          </a:xfrm>
          <a:prstGeom prst="rect">
            <a:avLst/>
          </a:prstGeom>
        </p:spPr>
      </p:pic>
      <p:sp>
        <p:nvSpPr>
          <p:cNvPr id="50" name="Text 37"/>
          <p:cNvSpPr txBox="1"/>
          <p:nvPr/>
        </p:nvSpPr>
        <p:spPr>
          <a:xfrm>
            <a:off x="5257800" y="3840480"/>
            <a:ext cx="1188720" cy="53949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Notifier</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(who gets what)</a:t>
            </a:r>
            <a:endParaRPr lang="en-US" sz="900" dirty="0"/>
          </a:p>
        </p:txBody>
      </p:sp>
      <p:sp>
        <p:nvSpPr>
          <p:cNvPr id="51" name="Shape 38"/>
          <p:cNvSpPr/>
          <p:nvPr/>
        </p:nvSpPr>
        <p:spPr>
          <a:xfrm>
            <a:off x="4434840" y="3355848"/>
            <a:ext cx="0" cy="91440"/>
          </a:xfrm>
          <a:prstGeom prst="line">
            <a:avLst/>
          </a:prstGeom>
          <a:noFill/>
          <a:ln w="12700">
            <a:solidFill>
              <a:srgbClr val="3A3A44"/>
            </a:solidFill>
            <a:prstDash val="solid"/>
            <a:tailEnd type="triangle"/>
          </a:ln>
        </p:spPr>
      </p:sp>
      <p:sp>
        <p:nvSpPr>
          <p:cNvPr id="52" name="Shape 39"/>
          <p:cNvSpPr/>
          <p:nvPr/>
        </p:nvSpPr>
        <p:spPr>
          <a:xfrm>
            <a:off x="5852160" y="3355848"/>
            <a:ext cx="0" cy="91440"/>
          </a:xfrm>
          <a:prstGeom prst="line">
            <a:avLst/>
          </a:prstGeom>
          <a:noFill/>
          <a:ln w="12700">
            <a:solidFill>
              <a:srgbClr val="3A3A44"/>
            </a:solidFill>
            <a:prstDash val="solid"/>
            <a:tailEnd type="triangle"/>
          </a:ln>
        </p:spPr>
      </p:sp>
      <p:sp>
        <p:nvSpPr>
          <p:cNvPr id="53" name="Shape 40"/>
          <p:cNvSpPr/>
          <p:nvPr/>
        </p:nvSpPr>
        <p:spPr>
          <a:xfrm>
            <a:off x="6995160" y="1234440"/>
            <a:ext cx="1874520" cy="914400"/>
          </a:xfrm>
          <a:prstGeom prst="roundRect">
            <a:avLst>
              <a:gd name="adj" fmla="val 7000"/>
            </a:avLst>
          </a:prstGeom>
          <a:solidFill>
            <a:srgbClr val="DDF7E6"/>
          </a:solidFill>
          <a:ln w="12700">
            <a:solidFill>
              <a:srgbClr val="86D3A2"/>
            </a:solidFill>
            <a:prstDash val="dash"/>
          </a:ln>
        </p:spPr>
      </p:sp>
      <p:pic>
        <p:nvPicPr>
          <p:cNvPr id="54" name="Image 11" descr="preencoded.png">    </p:cNvPr>
          <p:cNvPicPr>
            <a:picLocks noChangeAspect="1"/>
          </p:cNvPicPr>
          <p:nvPr/>
        </p:nvPicPr>
        <p:blipFill>
          <a:blip r:embed="rId12"/>
          <a:stretch>
            <a:fillRect/>
          </a:stretch>
        </p:blipFill>
        <p:spPr>
          <a:xfrm>
            <a:off x="7795260" y="1325880"/>
            <a:ext cx="274320" cy="274320"/>
          </a:xfrm>
          <a:prstGeom prst="rect">
            <a:avLst/>
          </a:prstGeom>
        </p:spPr>
      </p:pic>
      <p:sp>
        <p:nvSpPr>
          <p:cNvPr id="55" name="Text 41"/>
          <p:cNvSpPr txBox="1"/>
          <p:nvPr/>
        </p:nvSpPr>
        <p:spPr>
          <a:xfrm>
            <a:off x="7040880" y="1618488"/>
            <a:ext cx="1783080" cy="49377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MongoDB Atlas</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or SQLite</a:t>
            </a:r>
            <a:endParaRPr lang="en-US" sz="900" dirty="0"/>
          </a:p>
        </p:txBody>
      </p:sp>
      <p:sp>
        <p:nvSpPr>
          <p:cNvPr id="56" name="Shape 42"/>
          <p:cNvSpPr/>
          <p:nvPr/>
        </p:nvSpPr>
        <p:spPr>
          <a:xfrm>
            <a:off x="6995160" y="2286000"/>
            <a:ext cx="1874520" cy="914400"/>
          </a:xfrm>
          <a:prstGeom prst="roundRect">
            <a:avLst>
              <a:gd name="adj" fmla="val 7000"/>
            </a:avLst>
          </a:prstGeom>
          <a:solidFill>
            <a:srgbClr val="FDF3C8"/>
          </a:solidFill>
          <a:ln w="12700">
            <a:solidFill>
              <a:srgbClr val="E4C766"/>
            </a:solidFill>
            <a:prstDash val="dash"/>
          </a:ln>
        </p:spPr>
      </p:sp>
      <p:pic>
        <p:nvPicPr>
          <p:cNvPr id="57" name="Image 12" descr="preencoded.png">    </p:cNvPr>
          <p:cNvPicPr>
            <a:picLocks noChangeAspect="1"/>
          </p:cNvPicPr>
          <p:nvPr/>
        </p:nvPicPr>
        <p:blipFill>
          <a:blip r:embed="rId13"/>
          <a:stretch>
            <a:fillRect/>
          </a:stretch>
        </p:blipFill>
        <p:spPr>
          <a:xfrm>
            <a:off x="7795260" y="2377440"/>
            <a:ext cx="274320" cy="274320"/>
          </a:xfrm>
          <a:prstGeom prst="rect">
            <a:avLst/>
          </a:prstGeom>
        </p:spPr>
      </p:pic>
      <p:sp>
        <p:nvSpPr>
          <p:cNvPr id="58" name="Text 43"/>
          <p:cNvSpPr txBox="1"/>
          <p:nvPr/>
        </p:nvSpPr>
        <p:spPr>
          <a:xfrm>
            <a:off x="7040880" y="2670048"/>
            <a:ext cx="1783080" cy="49377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Email · Brevo / SMTP</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outbox + retries</a:t>
            </a:r>
            <a:endParaRPr lang="en-US" sz="900" dirty="0"/>
          </a:p>
        </p:txBody>
      </p:sp>
      <p:sp>
        <p:nvSpPr>
          <p:cNvPr id="59" name="Shape 44"/>
          <p:cNvSpPr/>
          <p:nvPr/>
        </p:nvSpPr>
        <p:spPr>
          <a:xfrm>
            <a:off x="6995160" y="3337560"/>
            <a:ext cx="1874520" cy="1188720"/>
          </a:xfrm>
          <a:prstGeom prst="roundRect">
            <a:avLst>
              <a:gd name="adj" fmla="val 5385"/>
            </a:avLst>
          </a:prstGeom>
          <a:solidFill>
            <a:srgbClr val="DCE8FD"/>
          </a:solidFill>
          <a:ln w="12700">
            <a:solidFill>
              <a:srgbClr val="8FB1EE"/>
            </a:solidFill>
            <a:prstDash val="dash"/>
          </a:ln>
        </p:spPr>
      </p:sp>
      <p:pic>
        <p:nvPicPr>
          <p:cNvPr id="60" name="Image 13" descr="preencoded.png">    </p:cNvPr>
          <p:cNvPicPr>
            <a:picLocks noChangeAspect="1"/>
          </p:cNvPicPr>
          <p:nvPr/>
        </p:nvPicPr>
        <p:blipFill>
          <a:blip r:embed="rId14"/>
          <a:stretch>
            <a:fillRect/>
          </a:stretch>
        </p:blipFill>
        <p:spPr>
          <a:xfrm>
            <a:off x="7795260" y="3429000"/>
            <a:ext cx="274320" cy="274320"/>
          </a:xfrm>
          <a:prstGeom prst="rect">
            <a:avLst/>
          </a:prstGeom>
        </p:spPr>
      </p:pic>
      <p:sp>
        <p:nvSpPr>
          <p:cNvPr id="61" name="Text 45"/>
          <p:cNvSpPr txBox="1"/>
          <p:nvPr/>
        </p:nvSpPr>
        <p:spPr>
          <a:xfrm>
            <a:off x="7040880" y="3721608"/>
            <a:ext cx="1783080" cy="76809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Living-city simulator</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 offline training</a:t>
            </a:r>
            <a:endParaRPr lang="en-US" sz="900" dirty="0"/>
          </a:p>
        </p:txBody>
      </p:sp>
      <p:sp>
        <p:nvSpPr>
          <p:cNvPr id="62" name="Shape 46"/>
          <p:cNvSpPr/>
          <p:nvPr/>
        </p:nvSpPr>
        <p:spPr>
          <a:xfrm>
            <a:off x="4434840" y="4416552"/>
            <a:ext cx="0" cy="228600"/>
          </a:xfrm>
          <a:prstGeom prst="line">
            <a:avLst/>
          </a:prstGeom>
          <a:noFill/>
          <a:ln w="12700">
            <a:solidFill>
              <a:srgbClr val="3A3A44"/>
            </a:solidFill>
            <a:prstDash val="solid"/>
          </a:ln>
        </p:spPr>
      </p:sp>
      <p:sp>
        <p:nvSpPr>
          <p:cNvPr id="63" name="Shape 47"/>
          <p:cNvSpPr/>
          <p:nvPr/>
        </p:nvSpPr>
        <p:spPr>
          <a:xfrm>
            <a:off x="4434840" y="4645152"/>
            <a:ext cx="2331720" cy="0"/>
          </a:xfrm>
          <a:prstGeom prst="line">
            <a:avLst/>
          </a:prstGeom>
          <a:noFill/>
          <a:ln w="12700">
            <a:solidFill>
              <a:srgbClr val="3A3A44"/>
            </a:solidFill>
            <a:prstDash val="solid"/>
          </a:ln>
        </p:spPr>
      </p:sp>
      <p:sp>
        <p:nvSpPr>
          <p:cNvPr id="64" name="Shape 48"/>
          <p:cNvSpPr/>
          <p:nvPr/>
        </p:nvSpPr>
        <p:spPr>
          <a:xfrm flipV="1">
            <a:off x="6766560" y="1691640"/>
            <a:ext cx="0" cy="2953512"/>
          </a:xfrm>
          <a:prstGeom prst="line">
            <a:avLst/>
          </a:prstGeom>
          <a:noFill/>
          <a:ln w="12700">
            <a:solidFill>
              <a:srgbClr val="3A3A44"/>
            </a:solidFill>
            <a:prstDash val="solid"/>
          </a:ln>
        </p:spPr>
      </p:sp>
      <p:sp>
        <p:nvSpPr>
          <p:cNvPr id="65" name="Shape 49"/>
          <p:cNvSpPr/>
          <p:nvPr/>
        </p:nvSpPr>
        <p:spPr>
          <a:xfrm>
            <a:off x="6766560" y="1691640"/>
            <a:ext cx="210312" cy="0"/>
          </a:xfrm>
          <a:prstGeom prst="line">
            <a:avLst/>
          </a:prstGeom>
          <a:noFill/>
          <a:ln w="12700">
            <a:solidFill>
              <a:srgbClr val="3A3A44"/>
            </a:solidFill>
            <a:prstDash val="solid"/>
            <a:tailEnd type="triangle"/>
          </a:ln>
        </p:spPr>
      </p:sp>
      <p:sp>
        <p:nvSpPr>
          <p:cNvPr id="66" name="Text 50"/>
          <p:cNvSpPr txBox="1"/>
          <p:nvPr/>
        </p:nvSpPr>
        <p:spPr>
          <a:xfrm>
            <a:off x="4572000" y="4663440"/>
            <a:ext cx="2103120" cy="182880"/>
          </a:xfrm>
          <a:prstGeom prst="rect">
            <a:avLst/>
          </a:prstGeom>
          <a:noFill/>
          <a:ln/>
        </p:spPr>
        <p:txBody>
          <a:bodyPr wrap="square" lIns="0" tIns="0" rIns="0" bIns="0" rtlCol="0" anchor="ctr"/>
          <a:lstStyle/>
          <a:p>
            <a:pPr algn="ctr" indent="0" marL="0">
              <a:buNone/>
            </a:pPr>
            <a:r>
              <a:rPr lang="en-US" sz="800" b="1" i="1" dirty="0">
                <a:solidFill>
                  <a:srgbClr val="3A3A44"/>
                </a:solidFill>
                <a:latin typeface="Segoe UI" pitchFamily="34" charset="0"/>
                <a:ea typeface="Segoe UI" pitchFamily="34" charset="-122"/>
                <a:cs typeface="Segoe UI" pitchFamily="34" charset="-120"/>
              </a:rPr>
              <a:t>ordered write-behind → database</a:t>
            </a:r>
            <a:endParaRPr lang="en-US" sz="800" dirty="0"/>
          </a:p>
        </p:txBody>
      </p:sp>
      <p:sp>
        <p:nvSpPr>
          <p:cNvPr id="67" name="Shape 51"/>
          <p:cNvSpPr/>
          <p:nvPr/>
        </p:nvSpPr>
        <p:spPr>
          <a:xfrm>
            <a:off x="6492240" y="3703320"/>
            <a:ext cx="384048" cy="0"/>
          </a:xfrm>
          <a:prstGeom prst="line">
            <a:avLst/>
          </a:prstGeom>
          <a:noFill/>
          <a:ln w="12700">
            <a:solidFill>
              <a:srgbClr val="3A3A44"/>
            </a:solidFill>
            <a:prstDash val="solid"/>
          </a:ln>
        </p:spPr>
      </p:sp>
      <p:sp>
        <p:nvSpPr>
          <p:cNvPr id="68" name="Shape 52"/>
          <p:cNvSpPr/>
          <p:nvPr/>
        </p:nvSpPr>
        <p:spPr>
          <a:xfrm flipV="1">
            <a:off x="6876288" y="2743200"/>
            <a:ext cx="0" cy="960120"/>
          </a:xfrm>
          <a:prstGeom prst="line">
            <a:avLst/>
          </a:prstGeom>
          <a:noFill/>
          <a:ln w="12700">
            <a:solidFill>
              <a:srgbClr val="3A3A44"/>
            </a:solidFill>
            <a:prstDash val="solid"/>
          </a:ln>
        </p:spPr>
      </p:sp>
      <p:sp>
        <p:nvSpPr>
          <p:cNvPr id="69" name="Shape 53"/>
          <p:cNvSpPr/>
          <p:nvPr/>
        </p:nvSpPr>
        <p:spPr>
          <a:xfrm>
            <a:off x="6876288" y="2743200"/>
            <a:ext cx="100584" cy="0"/>
          </a:xfrm>
          <a:prstGeom prst="line">
            <a:avLst/>
          </a:prstGeom>
          <a:noFill/>
          <a:ln w="12700">
            <a:solidFill>
              <a:srgbClr val="3A3A44"/>
            </a:solidFill>
            <a:prstDash val="solid"/>
            <a:tailEnd type="triangle"/>
          </a:ln>
        </p:spPr>
      </p:sp>
      <p:sp>
        <p:nvSpPr>
          <p:cNvPr id="70" name="Shape 54"/>
          <p:cNvSpPr/>
          <p:nvPr/>
        </p:nvSpPr>
        <p:spPr>
          <a:xfrm flipH="1">
            <a:off x="6647688" y="4251960"/>
            <a:ext cx="329184" cy="0"/>
          </a:xfrm>
          <a:prstGeom prst="line">
            <a:avLst/>
          </a:prstGeom>
          <a:noFill/>
          <a:ln w="12700">
            <a:solidFill>
              <a:srgbClr val="3A3A44"/>
            </a:solidFill>
            <a:prstDash val="solid"/>
            <a:tailEnd type="triangle"/>
          </a:ln>
        </p:spPr>
      </p:sp>
      <p:sp>
        <p:nvSpPr>
          <p:cNvPr id="71" name="Text 55"/>
          <p:cNvSpPr txBox="1"/>
          <p:nvPr/>
        </p:nvSpPr>
        <p:spPr>
          <a:xfrm>
            <a:off x="457200" y="4846320"/>
            <a:ext cx="8229600" cy="237744"/>
          </a:xfrm>
          <a:prstGeom prst="rect">
            <a:avLst/>
          </a:prstGeom>
          <a:noFill/>
          <a:ln/>
        </p:spPr>
        <p:txBody>
          <a:bodyPr wrap="square" lIns="0" tIns="0" rIns="0" bIns="0" rtlCol="0" anchor="ctr"/>
          <a:lstStyle/>
          <a:p>
            <a:pPr algn="ctr" indent="0" marL="0">
              <a:buNone/>
            </a:pPr>
            <a:r>
              <a:rPr lang="en-US" sz="1050" i="1" dirty="0">
                <a:solidFill>
                  <a:srgbClr val="7A7A85"/>
                </a:solidFill>
                <a:latin typeface="Segoe UI" pitchFamily="34" charset="0"/>
                <a:ea typeface="Segoe UI" pitchFamily="34" charset="-122"/>
                <a:cs typeface="Segoe UI" pitchFamily="34" charset="-120"/>
              </a:rPr>
              <a:t>Replay the event log → rebuild the whole city after any restart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Decision Pipeline</a:t>
            </a:r>
            <a:endParaRPr lang="en-US" sz="3000" dirty="0"/>
          </a:p>
        </p:txBody>
      </p:sp>
      <p:sp>
        <p:nvSpPr>
          <p:cNvPr id="6" name="Shape 3"/>
          <p:cNvSpPr/>
          <p:nvPr/>
        </p:nvSpPr>
        <p:spPr>
          <a:xfrm>
            <a:off x="274320" y="1188720"/>
            <a:ext cx="1097280" cy="914400"/>
          </a:xfrm>
          <a:prstGeom prst="roundRect">
            <a:avLst>
              <a:gd name="adj" fmla="val 7000"/>
            </a:avLst>
          </a:prstGeom>
          <a:solidFill>
            <a:srgbClr val="FDE2E4"/>
          </a:solidFill>
          <a:ln w="12700">
            <a:solidFill>
              <a:srgbClr val="E79AA3"/>
            </a:solidFill>
            <a:prstDash val="dash"/>
          </a:ln>
        </p:spPr>
      </p:sp>
      <p:pic>
        <p:nvPicPr>
          <p:cNvPr id="7" name="Image 1" descr="preencoded.png">    </p:cNvPr>
          <p:cNvPicPr>
            <a:picLocks noChangeAspect="1"/>
          </p:cNvPicPr>
          <p:nvPr/>
        </p:nvPicPr>
        <p:blipFill>
          <a:blip r:embed="rId2"/>
          <a:stretch>
            <a:fillRect/>
          </a:stretch>
        </p:blipFill>
        <p:spPr>
          <a:xfrm>
            <a:off x="685800" y="1280160"/>
            <a:ext cx="274320" cy="274320"/>
          </a:xfrm>
          <a:prstGeom prst="rect">
            <a:avLst/>
          </a:prstGeom>
        </p:spPr>
      </p:pic>
      <p:sp>
        <p:nvSpPr>
          <p:cNvPr id="8" name="Text 4"/>
          <p:cNvSpPr txBox="1"/>
          <p:nvPr/>
        </p:nvSpPr>
        <p:spPr>
          <a:xfrm>
            <a:off x="320040" y="1572768"/>
            <a:ext cx="1005840" cy="493776"/>
          </a:xfrm>
          <a:prstGeom prst="rect">
            <a:avLst/>
          </a:prstGeom>
          <a:noFill/>
          <a:ln/>
        </p:spPr>
        <p:txBody>
          <a:bodyPr wrap="square" lIns="0" tIns="0" rIns="0" bIns="0" rtlCol="0" anchor="t"/>
          <a:lstStyle/>
          <a:p>
            <a:pPr algn="ctr" indent="0" marL="0">
              <a:buNone/>
            </a:pPr>
            <a:r>
              <a:rPr lang="en-US" sz="1000" b="1" dirty="0">
                <a:solidFill>
                  <a:srgbClr val="161616"/>
                </a:solidFill>
                <a:latin typeface="Segoe UI" pitchFamily="34" charset="0"/>
                <a:ea typeface="Segoe UI" pitchFamily="34" charset="-122"/>
                <a:cs typeface="Segoe UI" pitchFamily="34" charset="-120"/>
              </a:rPr>
              <a:t>Donation</a:t>
            </a:r>
            <a:endParaRPr lang="en-US" sz="1000" dirty="0"/>
          </a:p>
        </p:txBody>
      </p:sp>
      <p:sp>
        <p:nvSpPr>
          <p:cNvPr id="9" name="Shape 5"/>
          <p:cNvSpPr/>
          <p:nvPr/>
        </p:nvSpPr>
        <p:spPr>
          <a:xfrm>
            <a:off x="274320" y="2286000"/>
            <a:ext cx="1097280" cy="914400"/>
          </a:xfrm>
          <a:prstGeom prst="roundRect">
            <a:avLst>
              <a:gd name="adj" fmla="val 7000"/>
            </a:avLst>
          </a:prstGeom>
          <a:solidFill>
            <a:srgbClr val="DCE8FD"/>
          </a:solidFill>
          <a:ln w="12700">
            <a:solidFill>
              <a:srgbClr val="8FB1EE"/>
            </a:solidFill>
            <a:prstDash val="dash"/>
          </a:ln>
        </p:spPr>
      </p:sp>
      <p:pic>
        <p:nvPicPr>
          <p:cNvPr id="10" name="Image 2" descr="preencoded.png">    </p:cNvPr>
          <p:cNvPicPr>
            <a:picLocks noChangeAspect="1"/>
          </p:cNvPicPr>
          <p:nvPr/>
        </p:nvPicPr>
        <p:blipFill>
          <a:blip r:embed="rId3"/>
          <a:stretch>
            <a:fillRect/>
          </a:stretch>
        </p:blipFill>
        <p:spPr>
          <a:xfrm>
            <a:off x="685800" y="2377440"/>
            <a:ext cx="274320" cy="274320"/>
          </a:xfrm>
          <a:prstGeom prst="rect">
            <a:avLst/>
          </a:prstGeom>
        </p:spPr>
      </p:pic>
      <p:sp>
        <p:nvSpPr>
          <p:cNvPr id="11" name="Text 6"/>
          <p:cNvSpPr txBox="1"/>
          <p:nvPr/>
        </p:nvSpPr>
        <p:spPr>
          <a:xfrm>
            <a:off x="320040" y="2670048"/>
            <a:ext cx="1005840" cy="493776"/>
          </a:xfrm>
          <a:prstGeom prst="rect">
            <a:avLst/>
          </a:prstGeom>
          <a:noFill/>
          <a:ln/>
        </p:spPr>
        <p:txBody>
          <a:bodyPr wrap="square" lIns="0" tIns="0" rIns="0" bIns="0" rtlCol="0" anchor="t"/>
          <a:lstStyle/>
          <a:p>
            <a:pPr algn="ctr" indent="0" marL="0">
              <a:buNone/>
            </a:pPr>
            <a:r>
              <a:rPr lang="en-US" sz="1000" b="1" dirty="0">
                <a:solidFill>
                  <a:srgbClr val="161616"/>
                </a:solidFill>
                <a:latin typeface="Segoe UI" pitchFamily="34" charset="0"/>
                <a:ea typeface="Segoe UI" pitchFamily="34" charset="-122"/>
                <a:cs typeface="Segoe UI" pitchFamily="34" charset="-120"/>
              </a:rPr>
              <a:t>Shelters</a:t>
            </a:r>
            <a:endParaRPr lang="en-US" sz="1000" dirty="0"/>
          </a:p>
        </p:txBody>
      </p:sp>
      <p:sp>
        <p:nvSpPr>
          <p:cNvPr id="12" name="Shape 7"/>
          <p:cNvSpPr/>
          <p:nvPr/>
        </p:nvSpPr>
        <p:spPr>
          <a:xfrm>
            <a:off x="274320" y="3383280"/>
            <a:ext cx="1097280" cy="914400"/>
          </a:xfrm>
          <a:prstGeom prst="roundRect">
            <a:avLst>
              <a:gd name="adj" fmla="val 7000"/>
            </a:avLst>
          </a:prstGeom>
          <a:solidFill>
            <a:srgbClr val="FDF3C8"/>
          </a:solidFill>
          <a:ln w="12700">
            <a:solidFill>
              <a:srgbClr val="E4C766"/>
            </a:solidFill>
            <a:prstDash val="dash"/>
          </a:ln>
        </p:spPr>
      </p:sp>
      <p:pic>
        <p:nvPicPr>
          <p:cNvPr id="13" name="Image 3" descr="preencoded.png">    </p:cNvPr>
          <p:cNvPicPr>
            <a:picLocks noChangeAspect="1"/>
          </p:cNvPicPr>
          <p:nvPr/>
        </p:nvPicPr>
        <p:blipFill>
          <a:blip r:embed="rId4"/>
          <a:stretch>
            <a:fillRect/>
          </a:stretch>
        </p:blipFill>
        <p:spPr>
          <a:xfrm>
            <a:off x="685800" y="3474720"/>
            <a:ext cx="274320" cy="274320"/>
          </a:xfrm>
          <a:prstGeom prst="rect">
            <a:avLst/>
          </a:prstGeom>
        </p:spPr>
      </p:pic>
      <p:sp>
        <p:nvSpPr>
          <p:cNvPr id="14" name="Text 8"/>
          <p:cNvSpPr txBox="1"/>
          <p:nvPr/>
        </p:nvSpPr>
        <p:spPr>
          <a:xfrm>
            <a:off x="320040" y="3767328"/>
            <a:ext cx="1005840" cy="493776"/>
          </a:xfrm>
          <a:prstGeom prst="rect">
            <a:avLst/>
          </a:prstGeom>
          <a:noFill/>
          <a:ln/>
        </p:spPr>
        <p:txBody>
          <a:bodyPr wrap="square" lIns="0" tIns="0" rIns="0" bIns="0" rtlCol="0" anchor="t"/>
          <a:lstStyle/>
          <a:p>
            <a:pPr algn="ctr" indent="0" marL="0">
              <a:buNone/>
            </a:pPr>
            <a:r>
              <a:rPr lang="en-US" sz="1000" b="1" dirty="0">
                <a:solidFill>
                  <a:srgbClr val="161616"/>
                </a:solidFill>
                <a:latin typeface="Segoe UI" pitchFamily="34" charset="0"/>
                <a:ea typeface="Segoe UI" pitchFamily="34" charset="-122"/>
                <a:cs typeface="Segoe UI" pitchFamily="34" charset="-120"/>
              </a:rPr>
              <a:t>Drivers</a:t>
            </a:r>
            <a:endParaRPr lang="en-US" sz="1000" dirty="0"/>
          </a:p>
        </p:txBody>
      </p:sp>
      <p:sp>
        <p:nvSpPr>
          <p:cNvPr id="15" name="Shape 9"/>
          <p:cNvSpPr/>
          <p:nvPr/>
        </p:nvSpPr>
        <p:spPr>
          <a:xfrm>
            <a:off x="1691640" y="1097280"/>
            <a:ext cx="5394960" cy="3246120"/>
          </a:xfrm>
          <a:prstGeom prst="roundRect">
            <a:avLst>
              <a:gd name="adj" fmla="val 1690"/>
            </a:avLst>
          </a:prstGeom>
          <a:solidFill>
            <a:srgbClr val="EEF3FE"/>
          </a:solidFill>
          <a:ln w="12700">
            <a:solidFill>
              <a:srgbClr val="8FB1EE"/>
            </a:solidFill>
            <a:prstDash val="solid"/>
          </a:ln>
        </p:spPr>
      </p:sp>
      <p:sp>
        <p:nvSpPr>
          <p:cNvPr id="16" name="Shape 10"/>
          <p:cNvSpPr/>
          <p:nvPr/>
        </p:nvSpPr>
        <p:spPr>
          <a:xfrm>
            <a:off x="1371600" y="1645920"/>
            <a:ext cx="365760" cy="457200"/>
          </a:xfrm>
          <a:prstGeom prst="line">
            <a:avLst/>
          </a:prstGeom>
          <a:noFill/>
          <a:ln w="12700">
            <a:solidFill>
              <a:srgbClr val="3A3A44"/>
            </a:solidFill>
            <a:prstDash val="solid"/>
            <a:tailEnd type="triangle"/>
          </a:ln>
        </p:spPr>
      </p:sp>
      <p:sp>
        <p:nvSpPr>
          <p:cNvPr id="17" name="Shape 11"/>
          <p:cNvSpPr/>
          <p:nvPr/>
        </p:nvSpPr>
        <p:spPr>
          <a:xfrm flipV="1">
            <a:off x="1371600" y="2331720"/>
            <a:ext cx="365760" cy="228600"/>
          </a:xfrm>
          <a:prstGeom prst="line">
            <a:avLst/>
          </a:prstGeom>
          <a:noFill/>
          <a:ln w="12700">
            <a:solidFill>
              <a:srgbClr val="3A3A44"/>
            </a:solidFill>
            <a:prstDash val="solid"/>
            <a:tailEnd type="triangle"/>
          </a:ln>
        </p:spPr>
      </p:sp>
      <p:sp>
        <p:nvSpPr>
          <p:cNvPr id="18" name="Shape 12"/>
          <p:cNvSpPr/>
          <p:nvPr/>
        </p:nvSpPr>
        <p:spPr>
          <a:xfrm>
            <a:off x="1371600" y="3474720"/>
            <a:ext cx="2029968" cy="0"/>
          </a:xfrm>
          <a:prstGeom prst="line">
            <a:avLst/>
          </a:prstGeom>
          <a:noFill/>
          <a:ln w="12700">
            <a:solidFill>
              <a:srgbClr val="3A3A44"/>
            </a:solidFill>
            <a:prstDash val="solid"/>
          </a:ln>
        </p:spPr>
      </p:sp>
      <p:sp>
        <p:nvSpPr>
          <p:cNvPr id="19" name="Shape 13"/>
          <p:cNvSpPr/>
          <p:nvPr/>
        </p:nvSpPr>
        <p:spPr>
          <a:xfrm flipV="1">
            <a:off x="3401568" y="2944368"/>
            <a:ext cx="0" cy="530352"/>
          </a:xfrm>
          <a:prstGeom prst="line">
            <a:avLst/>
          </a:prstGeom>
          <a:noFill/>
          <a:ln w="12700">
            <a:solidFill>
              <a:srgbClr val="3A3A44"/>
            </a:solidFill>
            <a:prstDash val="solid"/>
          </a:ln>
        </p:spPr>
      </p:sp>
      <p:sp>
        <p:nvSpPr>
          <p:cNvPr id="20" name="Shape 14"/>
          <p:cNvSpPr/>
          <p:nvPr/>
        </p:nvSpPr>
        <p:spPr>
          <a:xfrm>
            <a:off x="3401568" y="2944368"/>
            <a:ext cx="896112" cy="0"/>
          </a:xfrm>
          <a:prstGeom prst="line">
            <a:avLst/>
          </a:prstGeom>
          <a:noFill/>
          <a:ln w="12700">
            <a:solidFill>
              <a:srgbClr val="3A3A44"/>
            </a:solidFill>
            <a:prstDash val="solid"/>
          </a:ln>
        </p:spPr>
      </p:sp>
      <p:sp>
        <p:nvSpPr>
          <p:cNvPr id="21" name="Shape 15"/>
          <p:cNvSpPr/>
          <p:nvPr/>
        </p:nvSpPr>
        <p:spPr>
          <a:xfrm flipV="1">
            <a:off x="4297680" y="2807208"/>
            <a:ext cx="0" cy="137160"/>
          </a:xfrm>
          <a:prstGeom prst="line">
            <a:avLst/>
          </a:prstGeom>
          <a:noFill/>
          <a:ln w="12700">
            <a:solidFill>
              <a:srgbClr val="3A3A44"/>
            </a:solidFill>
            <a:prstDash val="solid"/>
            <a:tailEnd type="triangle"/>
          </a:ln>
        </p:spPr>
      </p:sp>
      <p:sp>
        <p:nvSpPr>
          <p:cNvPr id="22" name="Text 16"/>
          <p:cNvSpPr txBox="1"/>
          <p:nvPr/>
        </p:nvSpPr>
        <p:spPr>
          <a:xfrm>
            <a:off x="1783080" y="3291840"/>
            <a:ext cx="1280160" cy="164592"/>
          </a:xfrm>
          <a:prstGeom prst="rect">
            <a:avLst/>
          </a:prstGeom>
          <a:noFill/>
          <a:ln/>
        </p:spPr>
        <p:txBody>
          <a:bodyPr wrap="square" lIns="0" tIns="0" rIns="0" bIns="0" rtlCol="0" anchor="ctr"/>
          <a:lstStyle/>
          <a:p>
            <a:pPr indent="0" marL="0">
              <a:buNone/>
            </a:pPr>
            <a:r>
              <a:rPr lang="en-US" sz="800" b="1" i="1" dirty="0">
                <a:solidFill>
                  <a:srgbClr val="3A3A44"/>
                </a:solidFill>
                <a:latin typeface="Segoe UI" pitchFamily="34" charset="0"/>
                <a:ea typeface="Segoe UI" pitchFamily="34" charset="-122"/>
                <a:cs typeface="Segoe UI" pitchFamily="34" charset="-120"/>
              </a:rPr>
              <a:t>location · history</a:t>
            </a:r>
            <a:endParaRPr lang="en-US" sz="800" dirty="0"/>
          </a:p>
        </p:txBody>
      </p:sp>
      <p:sp>
        <p:nvSpPr>
          <p:cNvPr id="23" name="Shape 17"/>
          <p:cNvSpPr/>
          <p:nvPr/>
        </p:nvSpPr>
        <p:spPr>
          <a:xfrm>
            <a:off x="1828800" y="1600200"/>
            <a:ext cx="1463040" cy="1188720"/>
          </a:xfrm>
          <a:prstGeom prst="roundRect">
            <a:avLst>
              <a:gd name="adj" fmla="val 5385"/>
            </a:avLst>
          </a:prstGeom>
          <a:solidFill>
            <a:srgbClr val="FFFFFF"/>
          </a:solidFill>
          <a:ln w="12700">
            <a:solidFill>
              <a:srgbClr val="E79AA3"/>
            </a:solidFill>
            <a:prstDash val="dash"/>
          </a:ln>
        </p:spPr>
      </p:sp>
      <p:pic>
        <p:nvPicPr>
          <p:cNvPr id="24" name="Image 4" descr="preencoded.png">    </p:cNvPr>
          <p:cNvPicPr>
            <a:picLocks noChangeAspect="1"/>
          </p:cNvPicPr>
          <p:nvPr/>
        </p:nvPicPr>
        <p:blipFill>
          <a:blip r:embed="rId5"/>
          <a:stretch>
            <a:fillRect/>
          </a:stretch>
        </p:blipFill>
        <p:spPr>
          <a:xfrm>
            <a:off x="2395728" y="1673352"/>
            <a:ext cx="310896" cy="310896"/>
          </a:xfrm>
          <a:prstGeom prst="rect">
            <a:avLst/>
          </a:prstGeom>
        </p:spPr>
      </p:pic>
      <p:sp>
        <p:nvSpPr>
          <p:cNvPr id="25" name="Text 18"/>
          <p:cNvSpPr txBox="1"/>
          <p:nvPr/>
        </p:nvSpPr>
        <p:spPr>
          <a:xfrm>
            <a:off x="1828800" y="2011680"/>
            <a:ext cx="1463040" cy="731520"/>
          </a:xfrm>
          <a:prstGeom prst="rect">
            <a:avLst/>
          </a:prstGeom>
          <a:noFill/>
          <a:ln/>
        </p:spPr>
        <p:txBody>
          <a:bodyPr wrap="square" lIns="0" tIns="0" rIns="0" bIns="0" rtlCol="0" anchor="ctr"/>
          <a:lstStyle/>
          <a:p>
            <a:pPr algn="ctr" indent="0" marL="0">
              <a:buNone/>
            </a:pPr>
            <a:r>
              <a:rPr lang="en-US" sz="1100" b="1" dirty="0">
                <a:solidFill>
                  <a:srgbClr val="161616"/>
                </a:solidFill>
                <a:latin typeface="Segoe UI" pitchFamily="34" charset="0"/>
                <a:ea typeface="Segoe UI" pitchFamily="34" charset="-122"/>
                <a:cs typeface="Segoe UI" pitchFamily="34" charset="-120"/>
              </a:rPr>
              <a:t>1 · Rules</a:t>
            </a:r>
            <a:endParaRPr lang="en-US" sz="1100" dirty="0"/>
          </a:p>
          <a:p>
            <a:pPr algn="ctr" indent="0" marL="0">
              <a:buNone/>
            </a:pPr>
            <a:r>
              <a:rPr lang="en-US" sz="850" dirty="0">
                <a:solidFill>
                  <a:srgbClr val="5B5B66"/>
                </a:solidFill>
                <a:latin typeface="Segoe UI" pitchFamily="34" charset="0"/>
                <a:ea typeface="Segoe UI" pitchFamily="34" charset="-122"/>
                <a:cs typeface="Segoe UI" pitchFamily="34" charset="-120"/>
              </a:rPr>
              <a:t>safe at serving time?</a:t>
            </a:r>
            <a:endParaRPr lang="en-US" sz="1100" dirty="0"/>
          </a:p>
          <a:p>
            <a:pPr algn="ctr" indent="0" marL="0">
              <a:buNone/>
            </a:pPr>
            <a:r>
              <a:rPr lang="en-US" sz="850" dirty="0">
                <a:solidFill>
                  <a:srgbClr val="5B5B66"/>
                </a:solidFill>
                <a:latin typeface="Segoe UI" pitchFamily="34" charset="0"/>
                <a:ea typeface="Segoe UI" pitchFamily="34" charset="-122"/>
                <a:cs typeface="Segoe UI" pitchFamily="34" charset="-120"/>
              </a:rPr>
              <a:t>space · hours · veg?</a:t>
            </a:r>
            <a:endParaRPr lang="en-US" sz="1100" dirty="0"/>
          </a:p>
        </p:txBody>
      </p:sp>
      <p:sp>
        <p:nvSpPr>
          <p:cNvPr id="26" name="Shape 19"/>
          <p:cNvSpPr/>
          <p:nvPr/>
        </p:nvSpPr>
        <p:spPr>
          <a:xfrm>
            <a:off x="3566160" y="1600200"/>
            <a:ext cx="1463040" cy="1188720"/>
          </a:xfrm>
          <a:prstGeom prst="roundRect">
            <a:avLst>
              <a:gd name="adj" fmla="val 5385"/>
            </a:avLst>
          </a:prstGeom>
          <a:solidFill>
            <a:srgbClr val="FFFFFF"/>
          </a:solidFill>
          <a:ln w="12700">
            <a:solidFill>
              <a:srgbClr val="A898F2"/>
            </a:solidFill>
            <a:prstDash val="dash"/>
          </a:ln>
        </p:spPr>
      </p:sp>
      <p:pic>
        <p:nvPicPr>
          <p:cNvPr id="27" name="Image 5" descr="preencoded.png">    </p:cNvPr>
          <p:cNvPicPr>
            <a:picLocks noChangeAspect="1"/>
          </p:cNvPicPr>
          <p:nvPr/>
        </p:nvPicPr>
        <p:blipFill>
          <a:blip r:embed="rId6"/>
          <a:stretch>
            <a:fillRect/>
          </a:stretch>
        </p:blipFill>
        <p:spPr>
          <a:xfrm>
            <a:off x="4133088" y="1673352"/>
            <a:ext cx="310896" cy="310896"/>
          </a:xfrm>
          <a:prstGeom prst="rect">
            <a:avLst/>
          </a:prstGeom>
        </p:spPr>
      </p:pic>
      <p:sp>
        <p:nvSpPr>
          <p:cNvPr id="28" name="Text 20"/>
          <p:cNvSpPr txBox="1"/>
          <p:nvPr/>
        </p:nvSpPr>
        <p:spPr>
          <a:xfrm>
            <a:off x="3566160" y="2011680"/>
            <a:ext cx="1463040" cy="731520"/>
          </a:xfrm>
          <a:prstGeom prst="rect">
            <a:avLst/>
          </a:prstGeom>
          <a:noFill/>
          <a:ln/>
        </p:spPr>
        <p:txBody>
          <a:bodyPr wrap="square" lIns="0" tIns="0" rIns="0" bIns="0" rtlCol="0" anchor="ctr"/>
          <a:lstStyle/>
          <a:p>
            <a:pPr algn="ctr" indent="0" marL="0">
              <a:buNone/>
            </a:pPr>
            <a:r>
              <a:rPr lang="en-US" sz="1100" b="1" dirty="0">
                <a:solidFill>
                  <a:srgbClr val="161616"/>
                </a:solidFill>
                <a:latin typeface="Segoe UI" pitchFamily="34" charset="0"/>
                <a:ea typeface="Segoe UI" pitchFamily="34" charset="-122"/>
                <a:cs typeface="Segoe UI" pitchFamily="34" charset="-120"/>
              </a:rPr>
              <a:t>2 · ML</a:t>
            </a:r>
            <a:endParaRPr lang="en-US" sz="1100" dirty="0"/>
          </a:p>
          <a:p>
            <a:pPr algn="ctr" indent="0" marL="0">
              <a:buNone/>
            </a:pPr>
            <a:r>
              <a:rPr lang="en-US" sz="850" dirty="0">
                <a:solidFill>
                  <a:srgbClr val="5B5B66"/>
                </a:solidFill>
                <a:latin typeface="Segoe UI" pitchFamily="34" charset="0"/>
                <a:ea typeface="Segoe UI" pitchFamily="34" charset="-122"/>
                <a:cs typeface="Segoe UI" pitchFamily="34" charset="-120"/>
              </a:rPr>
              <a:t>p(yes) per driver</a:t>
            </a:r>
            <a:endParaRPr lang="en-US" sz="1100" dirty="0"/>
          </a:p>
          <a:p>
            <a:pPr algn="ctr" indent="0" marL="0">
              <a:buNone/>
            </a:pPr>
            <a:r>
              <a:rPr lang="en-US" sz="850" dirty="0">
                <a:solidFill>
                  <a:srgbClr val="5B5B66"/>
                </a:solidFill>
                <a:latin typeface="Segoe UI" pitchFamily="34" charset="0"/>
                <a:ea typeface="Segoe UI" pitchFamily="34" charset="-122"/>
                <a:cs typeface="Segoe UI" pitchFamily="34" charset="-120"/>
              </a:rPr>
              <a:t>logistic + driver effect</a:t>
            </a:r>
            <a:endParaRPr lang="en-US" sz="1100" dirty="0"/>
          </a:p>
        </p:txBody>
      </p:sp>
      <p:sp>
        <p:nvSpPr>
          <p:cNvPr id="29" name="Shape 21"/>
          <p:cNvSpPr/>
          <p:nvPr/>
        </p:nvSpPr>
        <p:spPr>
          <a:xfrm>
            <a:off x="5303520" y="1600200"/>
            <a:ext cx="1645920" cy="1188720"/>
          </a:xfrm>
          <a:prstGeom prst="roundRect">
            <a:avLst>
              <a:gd name="adj" fmla="val 5385"/>
            </a:avLst>
          </a:prstGeom>
          <a:solidFill>
            <a:srgbClr val="FFFFFF"/>
          </a:solidFill>
          <a:ln w="12700">
            <a:solidFill>
              <a:srgbClr val="86D3A2"/>
            </a:solidFill>
            <a:prstDash val="dash"/>
          </a:ln>
        </p:spPr>
      </p:sp>
      <p:pic>
        <p:nvPicPr>
          <p:cNvPr id="30" name="Image 6" descr="preencoded.png">    </p:cNvPr>
          <p:cNvPicPr>
            <a:picLocks noChangeAspect="1"/>
          </p:cNvPicPr>
          <p:nvPr/>
        </p:nvPicPr>
        <p:blipFill>
          <a:blip r:embed="rId7"/>
          <a:stretch>
            <a:fillRect/>
          </a:stretch>
        </p:blipFill>
        <p:spPr>
          <a:xfrm>
            <a:off x="5971032" y="1673352"/>
            <a:ext cx="310896" cy="310896"/>
          </a:xfrm>
          <a:prstGeom prst="rect">
            <a:avLst/>
          </a:prstGeom>
        </p:spPr>
      </p:pic>
      <p:sp>
        <p:nvSpPr>
          <p:cNvPr id="31" name="Text 22"/>
          <p:cNvSpPr txBox="1"/>
          <p:nvPr/>
        </p:nvSpPr>
        <p:spPr>
          <a:xfrm>
            <a:off x="5303520" y="2011680"/>
            <a:ext cx="1645920" cy="731520"/>
          </a:xfrm>
          <a:prstGeom prst="rect">
            <a:avLst/>
          </a:prstGeom>
          <a:noFill/>
          <a:ln/>
        </p:spPr>
        <p:txBody>
          <a:bodyPr wrap="square" lIns="0" tIns="0" rIns="0" bIns="0" rtlCol="0" anchor="ctr"/>
          <a:lstStyle/>
          <a:p>
            <a:pPr algn="ctr" indent="0" marL="0">
              <a:buNone/>
            </a:pPr>
            <a:r>
              <a:rPr lang="en-US" sz="1100" b="1" dirty="0">
                <a:solidFill>
                  <a:srgbClr val="161616"/>
                </a:solidFill>
                <a:latin typeface="Segoe UI" pitchFamily="34" charset="0"/>
                <a:ea typeface="Segoe UI" pitchFamily="34" charset="-122"/>
                <a:cs typeface="Segoe UI" pitchFamily="34" charset="-120"/>
              </a:rPr>
              <a:t>3 · RL (Q-function)</a:t>
            </a:r>
            <a:endParaRPr lang="en-US" sz="1100" dirty="0"/>
          </a:p>
          <a:p>
            <a:pPr algn="ctr" indent="0" marL="0">
              <a:buNone/>
            </a:pPr>
            <a:r>
              <a:rPr lang="en-US" sz="850" dirty="0">
                <a:solidFill>
                  <a:srgbClr val="5B5B66"/>
                </a:solidFill>
                <a:latin typeface="Segoe UI" pitchFamily="34" charset="0"/>
                <a:ea typeface="Segoe UI" pitchFamily="34" charset="-122"/>
                <a:cs typeface="Segoe UI" pitchFamily="34" charset="-120"/>
              </a:rPr>
              <a:t>ask k ∈ {0,1,2,3,5,8}</a:t>
            </a:r>
            <a:endParaRPr lang="en-US" sz="1100" dirty="0"/>
          </a:p>
          <a:p>
            <a:pPr algn="ctr" indent="0" marL="0">
              <a:buNone/>
            </a:pPr>
            <a:r>
              <a:rPr lang="en-US" sz="850" dirty="0">
                <a:solidFill>
                  <a:srgbClr val="5B5B66"/>
                </a:solidFill>
                <a:latin typeface="Segoe UI" pitchFamily="34" charset="0"/>
                <a:ea typeface="Segoe UI" pitchFamily="34" charset="-122"/>
                <a:cs typeface="Segoe UI" pitchFamily="34" charset="-120"/>
              </a:rPr>
              <a:t>Q = meals − 0.02·pings</a:t>
            </a:r>
            <a:endParaRPr lang="en-US" sz="1100" dirty="0"/>
          </a:p>
        </p:txBody>
      </p:sp>
      <p:sp>
        <p:nvSpPr>
          <p:cNvPr id="32" name="Shape 23"/>
          <p:cNvSpPr/>
          <p:nvPr/>
        </p:nvSpPr>
        <p:spPr>
          <a:xfrm>
            <a:off x="3291840" y="2194560"/>
            <a:ext cx="256032" cy="0"/>
          </a:xfrm>
          <a:prstGeom prst="line">
            <a:avLst/>
          </a:prstGeom>
          <a:noFill/>
          <a:ln w="12700">
            <a:solidFill>
              <a:srgbClr val="3A3A44"/>
            </a:solidFill>
            <a:prstDash val="solid"/>
            <a:tailEnd type="triangle"/>
          </a:ln>
        </p:spPr>
      </p:sp>
      <p:sp>
        <p:nvSpPr>
          <p:cNvPr id="33" name="Shape 24"/>
          <p:cNvSpPr/>
          <p:nvPr/>
        </p:nvSpPr>
        <p:spPr>
          <a:xfrm>
            <a:off x="5029200" y="2194560"/>
            <a:ext cx="256032" cy="0"/>
          </a:xfrm>
          <a:prstGeom prst="line">
            <a:avLst/>
          </a:prstGeom>
          <a:noFill/>
          <a:ln w="12700">
            <a:solidFill>
              <a:srgbClr val="3A3A44"/>
            </a:solidFill>
            <a:prstDash val="solid"/>
            <a:tailEnd type="triangle"/>
          </a:ln>
        </p:spPr>
      </p:sp>
      <p:sp>
        <p:nvSpPr>
          <p:cNvPr id="34" name="Text 25"/>
          <p:cNvSpPr txBox="1"/>
          <p:nvPr/>
        </p:nvSpPr>
        <p:spPr>
          <a:xfrm>
            <a:off x="3200400" y="1975104"/>
            <a:ext cx="457200" cy="164592"/>
          </a:xfrm>
          <a:prstGeom prst="rect">
            <a:avLst/>
          </a:prstGeom>
          <a:noFill/>
          <a:ln/>
        </p:spPr>
        <p:txBody>
          <a:bodyPr wrap="square" lIns="0" tIns="0" rIns="0" bIns="0" rtlCol="0" anchor="ctr"/>
          <a:lstStyle/>
          <a:p>
            <a:pPr algn="ctr" indent="0" marL="0">
              <a:buNone/>
            </a:pPr>
            <a:r>
              <a:rPr lang="en-US" sz="750" b="1" i="1" dirty="0">
                <a:solidFill>
                  <a:srgbClr val="3A3A44"/>
                </a:solidFill>
                <a:latin typeface="Segoe UI" pitchFamily="34" charset="0"/>
                <a:ea typeface="Segoe UI" pitchFamily="34" charset="-122"/>
                <a:cs typeface="Segoe UI" pitchFamily="34" charset="-120"/>
              </a:rPr>
              <a:t>shelter</a:t>
            </a:r>
            <a:endParaRPr lang="en-US" sz="750" dirty="0"/>
          </a:p>
        </p:txBody>
      </p:sp>
      <p:sp>
        <p:nvSpPr>
          <p:cNvPr id="35" name="Shape 26"/>
          <p:cNvSpPr/>
          <p:nvPr/>
        </p:nvSpPr>
        <p:spPr>
          <a:xfrm>
            <a:off x="4480560" y="3063240"/>
            <a:ext cx="2468880" cy="457200"/>
          </a:xfrm>
          <a:prstGeom prst="roundRect">
            <a:avLst>
              <a:gd name="adj" fmla="val 12000"/>
            </a:avLst>
          </a:prstGeom>
          <a:solidFill>
            <a:srgbClr val="0F172A"/>
          </a:solidFill>
          <a:ln w="12700">
            <a:solidFill>
              <a:srgbClr val="0F172A"/>
            </a:solidFill>
            <a:prstDash val="solid"/>
          </a:ln>
        </p:spPr>
      </p:sp>
      <p:sp>
        <p:nvSpPr>
          <p:cNvPr id="36" name="Text 27"/>
          <p:cNvSpPr txBox="1"/>
          <p:nvPr/>
        </p:nvSpPr>
        <p:spPr>
          <a:xfrm>
            <a:off x="4480560" y="3063240"/>
            <a:ext cx="246888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onsolas" pitchFamily="34" charset="0"/>
                <a:ea typeface="Consolas" pitchFamily="34" charset="-122"/>
                <a:cs typeface="Consolas" pitchFamily="34" charset="-120"/>
              </a:rPr>
              <a:t>P(claim) = 1 − Π(1 − pᵢ)</a:t>
            </a:r>
            <a:endParaRPr lang="en-US" sz="1200" dirty="0"/>
          </a:p>
        </p:txBody>
      </p:sp>
      <p:sp>
        <p:nvSpPr>
          <p:cNvPr id="37" name="Shape 28"/>
          <p:cNvSpPr/>
          <p:nvPr/>
        </p:nvSpPr>
        <p:spPr>
          <a:xfrm>
            <a:off x="6126480" y="2798064"/>
            <a:ext cx="0" cy="246888"/>
          </a:xfrm>
          <a:prstGeom prst="line">
            <a:avLst/>
          </a:prstGeom>
          <a:noFill/>
          <a:ln w="12700">
            <a:solidFill>
              <a:srgbClr val="3A3A44"/>
            </a:solidFill>
            <a:prstDash val="solid"/>
            <a:tailEnd type="triangle"/>
          </a:ln>
        </p:spPr>
      </p:sp>
      <p:sp>
        <p:nvSpPr>
          <p:cNvPr id="38" name="Shape 29"/>
          <p:cNvSpPr/>
          <p:nvPr/>
        </p:nvSpPr>
        <p:spPr>
          <a:xfrm>
            <a:off x="1828800" y="3657600"/>
            <a:ext cx="5120640" cy="548640"/>
          </a:xfrm>
          <a:prstGeom prst="roundRect">
            <a:avLst>
              <a:gd name="adj" fmla="val 10000"/>
            </a:avLst>
          </a:prstGeom>
          <a:solidFill>
            <a:srgbClr val="FFFFFF"/>
          </a:solidFill>
          <a:ln w="12700">
            <a:solidFill>
              <a:srgbClr val="6C4EF5"/>
            </a:solidFill>
            <a:prstDash val="dash"/>
          </a:ln>
        </p:spPr>
      </p:sp>
      <p:pic>
        <p:nvPicPr>
          <p:cNvPr id="39" name="Image 7" descr="preencoded.png">    </p:cNvPr>
          <p:cNvPicPr>
            <a:picLocks noChangeAspect="1"/>
          </p:cNvPicPr>
          <p:nvPr/>
        </p:nvPicPr>
        <p:blipFill>
          <a:blip r:embed="rId8"/>
          <a:stretch>
            <a:fillRect/>
          </a:stretch>
        </p:blipFill>
        <p:spPr>
          <a:xfrm>
            <a:off x="1965960" y="3776472"/>
            <a:ext cx="310896" cy="310896"/>
          </a:xfrm>
          <a:prstGeom prst="rect">
            <a:avLst/>
          </a:prstGeom>
        </p:spPr>
      </p:pic>
      <p:sp>
        <p:nvSpPr>
          <p:cNvPr id="40" name="Text 30"/>
          <p:cNvSpPr txBox="1"/>
          <p:nvPr/>
        </p:nvSpPr>
        <p:spPr>
          <a:xfrm>
            <a:off x="2377440" y="3657600"/>
            <a:ext cx="4480560" cy="548640"/>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No reply in 8 min, a cancellation or a full shelter → re-plan with fresh odds</a:t>
            </a:r>
            <a:endParaRPr lang="en-US" sz="1050" dirty="0"/>
          </a:p>
        </p:txBody>
      </p:sp>
      <p:sp>
        <p:nvSpPr>
          <p:cNvPr id="41" name="Shape 31"/>
          <p:cNvSpPr/>
          <p:nvPr/>
        </p:nvSpPr>
        <p:spPr>
          <a:xfrm flipV="1">
            <a:off x="6967728" y="1828800"/>
            <a:ext cx="393192" cy="365760"/>
          </a:xfrm>
          <a:prstGeom prst="line">
            <a:avLst/>
          </a:prstGeom>
          <a:noFill/>
          <a:ln w="12700">
            <a:solidFill>
              <a:srgbClr val="3A3A44"/>
            </a:solidFill>
            <a:prstDash val="solid"/>
            <a:tailEnd type="triangle"/>
          </a:ln>
        </p:spPr>
      </p:sp>
      <p:sp>
        <p:nvSpPr>
          <p:cNvPr id="42" name="Shape 32"/>
          <p:cNvSpPr/>
          <p:nvPr/>
        </p:nvSpPr>
        <p:spPr>
          <a:xfrm>
            <a:off x="6967728" y="3291840"/>
            <a:ext cx="393192" cy="228600"/>
          </a:xfrm>
          <a:prstGeom prst="line">
            <a:avLst/>
          </a:prstGeom>
          <a:noFill/>
          <a:ln w="12700">
            <a:solidFill>
              <a:srgbClr val="3A3A44"/>
            </a:solidFill>
            <a:prstDash val="solid"/>
            <a:tailEnd type="triangle"/>
          </a:ln>
        </p:spPr>
      </p:sp>
      <p:sp>
        <p:nvSpPr>
          <p:cNvPr id="43" name="Shape 33"/>
          <p:cNvSpPr/>
          <p:nvPr/>
        </p:nvSpPr>
        <p:spPr>
          <a:xfrm>
            <a:off x="7406640" y="1188720"/>
            <a:ext cx="1463040" cy="1188720"/>
          </a:xfrm>
          <a:prstGeom prst="roundRect">
            <a:avLst>
              <a:gd name="adj" fmla="val 5385"/>
            </a:avLst>
          </a:prstGeom>
          <a:solidFill>
            <a:srgbClr val="DDF7E6"/>
          </a:solidFill>
          <a:ln w="12700">
            <a:solidFill>
              <a:srgbClr val="86D3A2"/>
            </a:solidFill>
            <a:prstDash val="dash"/>
          </a:ln>
        </p:spPr>
      </p:sp>
      <p:pic>
        <p:nvPicPr>
          <p:cNvPr id="44" name="Image 8" descr="preencoded.png">    </p:cNvPr>
          <p:cNvPicPr>
            <a:picLocks noChangeAspect="1"/>
          </p:cNvPicPr>
          <p:nvPr/>
        </p:nvPicPr>
        <p:blipFill>
          <a:blip r:embed="rId9"/>
          <a:stretch>
            <a:fillRect/>
          </a:stretch>
        </p:blipFill>
        <p:spPr>
          <a:xfrm>
            <a:off x="8001000" y="1280160"/>
            <a:ext cx="274320" cy="274320"/>
          </a:xfrm>
          <a:prstGeom prst="rect">
            <a:avLst/>
          </a:prstGeom>
        </p:spPr>
      </p:pic>
      <p:sp>
        <p:nvSpPr>
          <p:cNvPr id="45" name="Text 34"/>
          <p:cNvSpPr txBox="1"/>
          <p:nvPr/>
        </p:nvSpPr>
        <p:spPr>
          <a:xfrm>
            <a:off x="7452360" y="1572768"/>
            <a:ext cx="1371600" cy="76809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Offers sent</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(area only until accept)</a:t>
            </a:r>
            <a:endParaRPr lang="en-US" sz="900" dirty="0"/>
          </a:p>
        </p:txBody>
      </p:sp>
      <p:sp>
        <p:nvSpPr>
          <p:cNvPr id="46" name="Shape 35"/>
          <p:cNvSpPr/>
          <p:nvPr/>
        </p:nvSpPr>
        <p:spPr>
          <a:xfrm>
            <a:off x="7406640" y="2926080"/>
            <a:ext cx="1463040" cy="1417320"/>
          </a:xfrm>
          <a:prstGeom prst="roundRect">
            <a:avLst>
              <a:gd name="adj" fmla="val 4516"/>
            </a:avLst>
          </a:prstGeom>
          <a:solidFill>
            <a:srgbClr val="FEE2E2"/>
          </a:solidFill>
          <a:ln w="12700">
            <a:solidFill>
              <a:srgbClr val="F19999"/>
            </a:solidFill>
            <a:prstDash val="dash"/>
          </a:ln>
        </p:spPr>
      </p:sp>
      <p:pic>
        <p:nvPicPr>
          <p:cNvPr id="47" name="Image 9" descr="preencoded.png">    </p:cNvPr>
          <p:cNvPicPr>
            <a:picLocks noChangeAspect="1"/>
          </p:cNvPicPr>
          <p:nvPr/>
        </p:nvPicPr>
        <p:blipFill>
          <a:blip r:embed="rId10"/>
          <a:stretch>
            <a:fillRect/>
          </a:stretch>
        </p:blipFill>
        <p:spPr>
          <a:xfrm>
            <a:off x="8001000" y="3017520"/>
            <a:ext cx="274320" cy="274320"/>
          </a:xfrm>
          <a:prstGeom prst="rect">
            <a:avLst/>
          </a:prstGeom>
        </p:spPr>
      </p:pic>
      <p:sp>
        <p:nvSpPr>
          <p:cNvPr id="48" name="Text 36"/>
          <p:cNvSpPr txBox="1"/>
          <p:nvPr/>
        </p:nvSpPr>
        <p:spPr>
          <a:xfrm>
            <a:off x="7452360" y="3310128"/>
            <a:ext cx="1371600" cy="99669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Deadline L near →</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escalate to human</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 backup courier</a:t>
            </a:r>
            <a:endParaRPr lang="en-US" sz="900" dirty="0"/>
          </a:p>
        </p:txBody>
      </p:sp>
      <p:sp>
        <p:nvSpPr>
          <p:cNvPr id="49" name="Text 37"/>
          <p:cNvSpPr txBox="1"/>
          <p:nvPr/>
        </p:nvSpPr>
        <p:spPr>
          <a:xfrm>
            <a:off x="457200" y="4526280"/>
            <a:ext cx="8229600" cy="274320"/>
          </a:xfrm>
          <a:prstGeom prst="rect">
            <a:avLst/>
          </a:prstGeom>
          <a:noFill/>
          <a:ln/>
        </p:spPr>
        <p:txBody>
          <a:bodyPr wrap="square" lIns="0" tIns="0" rIns="0" bIns="0" rtlCol="0" anchor="ctr"/>
          <a:lstStyle/>
          <a:p>
            <a:pPr algn="ctr" indent="0" marL="0">
              <a:buNone/>
            </a:pPr>
            <a:r>
              <a:rPr lang="en-US" sz="1100" i="1" dirty="0">
                <a:solidFill>
                  <a:srgbClr val="7A7A85"/>
                </a:solidFill>
                <a:latin typeface="Segoe UI" pitchFamily="34" charset="0"/>
                <a:ea typeface="Segoe UI" pitchFamily="34" charset="-122"/>
                <a:cs typeface="Segoe UI" pitchFamily="34" charset="-120"/>
              </a:rPr>
              <a:t>Safety is always a rule, never a model.  ML predicts people.  RL only sizes the wave.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Learning Pipeline (Offline RL)</a:t>
            </a:r>
            <a:endParaRPr lang="en-US" sz="3000" dirty="0"/>
          </a:p>
        </p:txBody>
      </p:sp>
      <p:sp>
        <p:nvSpPr>
          <p:cNvPr id="6" name="Shape 3"/>
          <p:cNvSpPr/>
          <p:nvPr/>
        </p:nvSpPr>
        <p:spPr>
          <a:xfrm>
            <a:off x="274320" y="2011680"/>
            <a:ext cx="1234440" cy="1097280"/>
          </a:xfrm>
          <a:prstGeom prst="roundRect">
            <a:avLst>
              <a:gd name="adj" fmla="val 5833"/>
            </a:avLst>
          </a:prstGeom>
          <a:solidFill>
            <a:srgbClr val="DCE8FD"/>
          </a:solidFill>
          <a:ln w="12700">
            <a:solidFill>
              <a:srgbClr val="8FB1EE"/>
            </a:solidFill>
            <a:prstDash val="dash"/>
          </a:ln>
        </p:spPr>
      </p:sp>
      <p:pic>
        <p:nvPicPr>
          <p:cNvPr id="7" name="Image 1" descr="preencoded.png">    </p:cNvPr>
          <p:cNvPicPr>
            <a:picLocks noChangeAspect="1"/>
          </p:cNvPicPr>
          <p:nvPr/>
        </p:nvPicPr>
        <p:blipFill>
          <a:blip r:embed="rId2"/>
          <a:stretch>
            <a:fillRect/>
          </a:stretch>
        </p:blipFill>
        <p:spPr>
          <a:xfrm>
            <a:off x="754380" y="2103120"/>
            <a:ext cx="274320" cy="274320"/>
          </a:xfrm>
          <a:prstGeom prst="rect">
            <a:avLst/>
          </a:prstGeom>
        </p:spPr>
      </p:pic>
      <p:sp>
        <p:nvSpPr>
          <p:cNvPr id="8" name="Text 4"/>
          <p:cNvSpPr txBox="1"/>
          <p:nvPr/>
        </p:nvSpPr>
        <p:spPr>
          <a:xfrm>
            <a:off x="320040" y="2395728"/>
            <a:ext cx="1143000" cy="67665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relay_data</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300 nights of logs</a:t>
            </a:r>
            <a:endParaRPr lang="en-US" sz="900" dirty="0"/>
          </a:p>
        </p:txBody>
      </p:sp>
      <p:sp>
        <p:nvSpPr>
          <p:cNvPr id="9" name="Shape 5"/>
          <p:cNvSpPr/>
          <p:nvPr/>
        </p:nvSpPr>
        <p:spPr>
          <a:xfrm>
            <a:off x="1508760" y="2560320"/>
            <a:ext cx="320040" cy="0"/>
          </a:xfrm>
          <a:prstGeom prst="line">
            <a:avLst/>
          </a:prstGeom>
          <a:noFill/>
          <a:ln w="12700">
            <a:solidFill>
              <a:srgbClr val="3A3A44"/>
            </a:solidFill>
            <a:prstDash val="solid"/>
            <a:tailEnd type="triangle"/>
          </a:ln>
        </p:spPr>
      </p:sp>
      <p:sp>
        <p:nvSpPr>
          <p:cNvPr id="10" name="Shape 6"/>
          <p:cNvSpPr/>
          <p:nvPr/>
        </p:nvSpPr>
        <p:spPr>
          <a:xfrm>
            <a:off x="1874520" y="1874520"/>
            <a:ext cx="1463040" cy="1371600"/>
          </a:xfrm>
          <a:prstGeom prst="roundRect">
            <a:avLst>
              <a:gd name="adj" fmla="val 4667"/>
            </a:avLst>
          </a:prstGeom>
          <a:solidFill>
            <a:srgbClr val="FDF3C8"/>
          </a:solidFill>
          <a:ln w="12700">
            <a:solidFill>
              <a:srgbClr val="E4C766"/>
            </a:solidFill>
            <a:prstDash val="dash"/>
          </a:ln>
        </p:spPr>
      </p:sp>
      <p:pic>
        <p:nvPicPr>
          <p:cNvPr id="11" name="Image 2" descr="preencoded.png">    </p:cNvPr>
          <p:cNvPicPr>
            <a:picLocks noChangeAspect="1"/>
          </p:cNvPicPr>
          <p:nvPr/>
        </p:nvPicPr>
        <p:blipFill>
          <a:blip r:embed="rId3"/>
          <a:stretch>
            <a:fillRect/>
          </a:stretch>
        </p:blipFill>
        <p:spPr>
          <a:xfrm>
            <a:off x="2468880" y="1965960"/>
            <a:ext cx="274320" cy="274320"/>
          </a:xfrm>
          <a:prstGeom prst="rect">
            <a:avLst/>
          </a:prstGeom>
        </p:spPr>
      </p:pic>
      <p:sp>
        <p:nvSpPr>
          <p:cNvPr id="12" name="Text 7"/>
          <p:cNvSpPr txBox="1"/>
          <p:nvPr/>
        </p:nvSpPr>
        <p:spPr>
          <a:xfrm>
            <a:off x="1920240" y="2258568"/>
            <a:ext cx="1371600" cy="950976"/>
          </a:xfrm>
          <a:prstGeom prst="rect">
            <a:avLst/>
          </a:prstGeom>
          <a:noFill/>
          <a:ln/>
        </p:spPr>
        <p:txBody>
          <a:bodyPr wrap="square" lIns="0" tIns="0" rIns="0" bIns="0" rtlCol="0" anchor="t"/>
          <a:lstStyle/>
          <a:p>
            <a:pPr algn="ctr" indent="0" marL="0">
              <a:buNone/>
            </a:pPr>
            <a:r>
              <a:rPr lang="en-US" sz="850" b="1" dirty="0">
                <a:solidFill>
                  <a:srgbClr val="161616"/>
                </a:solidFill>
                <a:latin typeface="Segoe UI" pitchFamily="34" charset="0"/>
                <a:ea typeface="Segoe UI" pitchFamily="34" charset="-122"/>
                <a:cs typeface="Segoe UI" pitchFamily="34" charset="-120"/>
              </a:rPr>
              <a:t>Data audit</a:t>
            </a:r>
            <a:endParaRPr lang="en-US" sz="850" dirty="0"/>
          </a:p>
          <a:p>
            <a:pPr algn="ctr" indent="0" marL="0">
              <a:buNone/>
            </a:pPr>
            <a:r>
              <a:rPr lang="en-US" sz="850" b="1" dirty="0">
                <a:solidFill>
                  <a:srgbClr val="161616"/>
                </a:solidFill>
                <a:latin typeface="Segoe UI" pitchFamily="34" charset="0"/>
                <a:ea typeface="Segoe UI" pitchFamily="34" charset="-122"/>
                <a:cs typeface="Segoe UI" pitchFamily="34" charset="-120"/>
              </a:rPr>
              <a:t>5 critical bugs fixed</a:t>
            </a:r>
            <a:endParaRPr lang="en-US" sz="850" dirty="0"/>
          </a:p>
          <a:p>
            <a:pPr algn="ctr" indent="0" marL="0">
              <a:buNone/>
            </a:pPr>
            <a:r>
              <a:rPr lang="en-US" sz="850" b="1" dirty="0">
                <a:solidFill>
                  <a:srgbClr val="161616"/>
                </a:solidFill>
                <a:latin typeface="Segoe UI" pitchFamily="34" charset="0"/>
                <a:ea typeface="Segoe UI" pitchFamily="34" charset="-122"/>
                <a:cs typeface="Segoe UI" pitchFamily="34" charset="-120"/>
              </a:rPr>
              <a:t>(time base, rewards, labels)</a:t>
            </a:r>
            <a:endParaRPr lang="en-US" sz="850" dirty="0"/>
          </a:p>
        </p:txBody>
      </p:sp>
      <p:sp>
        <p:nvSpPr>
          <p:cNvPr id="13" name="Shape 8"/>
          <p:cNvSpPr/>
          <p:nvPr/>
        </p:nvSpPr>
        <p:spPr>
          <a:xfrm flipV="1">
            <a:off x="3337560" y="1737360"/>
            <a:ext cx="411480" cy="548640"/>
          </a:xfrm>
          <a:prstGeom prst="line">
            <a:avLst/>
          </a:prstGeom>
          <a:noFill/>
          <a:ln w="12700">
            <a:solidFill>
              <a:srgbClr val="3A3A44"/>
            </a:solidFill>
            <a:prstDash val="solid"/>
            <a:tailEnd type="triangle"/>
          </a:ln>
        </p:spPr>
      </p:sp>
      <p:sp>
        <p:nvSpPr>
          <p:cNvPr id="14" name="Shape 9"/>
          <p:cNvSpPr/>
          <p:nvPr/>
        </p:nvSpPr>
        <p:spPr>
          <a:xfrm>
            <a:off x="3337560" y="2834640"/>
            <a:ext cx="411480" cy="548640"/>
          </a:xfrm>
          <a:prstGeom prst="line">
            <a:avLst/>
          </a:prstGeom>
          <a:noFill/>
          <a:ln w="12700">
            <a:solidFill>
              <a:srgbClr val="3A3A44"/>
            </a:solidFill>
            <a:prstDash val="solid"/>
            <a:tailEnd type="triangle"/>
          </a:ln>
        </p:spPr>
      </p:sp>
      <p:sp>
        <p:nvSpPr>
          <p:cNvPr id="15" name="Shape 10"/>
          <p:cNvSpPr/>
          <p:nvPr/>
        </p:nvSpPr>
        <p:spPr>
          <a:xfrm>
            <a:off x="3794760" y="1188720"/>
            <a:ext cx="1920240" cy="1051560"/>
          </a:xfrm>
          <a:prstGeom prst="roundRect">
            <a:avLst>
              <a:gd name="adj" fmla="val 6087"/>
            </a:avLst>
          </a:prstGeom>
          <a:solidFill>
            <a:srgbClr val="E9E3FE"/>
          </a:solidFill>
          <a:ln w="12700">
            <a:solidFill>
              <a:srgbClr val="A898F2"/>
            </a:solidFill>
            <a:prstDash val="dash"/>
          </a:ln>
        </p:spPr>
      </p:sp>
      <p:pic>
        <p:nvPicPr>
          <p:cNvPr id="16" name="Image 3" descr="preencoded.png">    </p:cNvPr>
          <p:cNvPicPr>
            <a:picLocks noChangeAspect="1"/>
          </p:cNvPicPr>
          <p:nvPr/>
        </p:nvPicPr>
        <p:blipFill>
          <a:blip r:embed="rId4"/>
          <a:stretch>
            <a:fillRect/>
          </a:stretch>
        </p:blipFill>
        <p:spPr>
          <a:xfrm>
            <a:off x="4617720" y="1280160"/>
            <a:ext cx="274320" cy="274320"/>
          </a:xfrm>
          <a:prstGeom prst="rect">
            <a:avLst/>
          </a:prstGeom>
        </p:spPr>
      </p:pic>
      <p:sp>
        <p:nvSpPr>
          <p:cNvPr id="17" name="Text 11"/>
          <p:cNvSpPr txBox="1"/>
          <p:nvPr/>
        </p:nvSpPr>
        <p:spPr>
          <a:xfrm>
            <a:off x="3840480" y="1572768"/>
            <a:ext cx="1828800" cy="630936"/>
          </a:xfrm>
          <a:prstGeom prst="rect">
            <a:avLst/>
          </a:prstGeom>
          <a:noFill/>
          <a:ln/>
        </p:spPr>
        <p:txBody>
          <a:bodyPr wrap="square" lIns="0" tIns="0" rIns="0" bIns="0" rtlCol="0" anchor="t"/>
          <a:lstStyle/>
          <a:p>
            <a:pPr algn="ctr" indent="0" marL="0">
              <a:buNone/>
            </a:pPr>
            <a:r>
              <a:rPr lang="en-US" sz="850" b="1" dirty="0">
                <a:solidFill>
                  <a:srgbClr val="161616"/>
                </a:solidFill>
                <a:latin typeface="Segoe UI" pitchFamily="34" charset="0"/>
                <a:ea typeface="Segoe UI" pitchFamily="34" charset="-122"/>
                <a:cs typeface="Segoe UI" pitchFamily="34" charset="-120"/>
              </a:rPr>
              <a:t>147,444 offers →</a:t>
            </a:r>
            <a:endParaRPr lang="en-US" sz="850" dirty="0"/>
          </a:p>
          <a:p>
            <a:pPr algn="ctr" indent="0" marL="0">
              <a:buNone/>
            </a:pPr>
            <a:r>
              <a:rPr lang="en-US" sz="850" b="1" dirty="0">
                <a:solidFill>
                  <a:srgbClr val="161616"/>
                </a:solidFill>
                <a:latin typeface="Segoe UI" pitchFamily="34" charset="0"/>
                <a:ea typeface="Segoe UI" pitchFamily="34" charset="-122"/>
                <a:cs typeface="Segoe UI" pitchFamily="34" charset="-120"/>
              </a:rPr>
              <a:t>Acceptance model</a:t>
            </a:r>
            <a:endParaRPr lang="en-US" sz="850" dirty="0"/>
          </a:p>
          <a:p>
            <a:pPr algn="ctr" indent="0" marL="0">
              <a:buNone/>
            </a:pPr>
            <a:r>
              <a:rPr lang="en-US" sz="850" b="1" dirty="0">
                <a:solidFill>
                  <a:srgbClr val="161616"/>
                </a:solidFill>
                <a:latin typeface="Segoe UI" pitchFamily="34" charset="0"/>
                <a:ea typeface="Segoe UI" pitchFamily="34" charset="-122"/>
                <a:cs typeface="Segoe UI" pitchFamily="34" charset="-120"/>
              </a:rPr>
              <a:t>AUC 0.786 (ceiling 0.787)</a:t>
            </a:r>
            <a:endParaRPr lang="en-US" sz="850" dirty="0"/>
          </a:p>
        </p:txBody>
      </p:sp>
      <p:sp>
        <p:nvSpPr>
          <p:cNvPr id="18" name="Shape 12"/>
          <p:cNvSpPr/>
          <p:nvPr/>
        </p:nvSpPr>
        <p:spPr>
          <a:xfrm>
            <a:off x="3794760" y="2880360"/>
            <a:ext cx="1920240" cy="1188720"/>
          </a:xfrm>
          <a:prstGeom prst="roundRect">
            <a:avLst>
              <a:gd name="adj" fmla="val 5385"/>
            </a:avLst>
          </a:prstGeom>
          <a:solidFill>
            <a:srgbClr val="DDF7E6"/>
          </a:solidFill>
          <a:ln w="12700">
            <a:solidFill>
              <a:srgbClr val="86D3A2"/>
            </a:solidFill>
            <a:prstDash val="dash"/>
          </a:ln>
        </p:spPr>
      </p:sp>
      <p:pic>
        <p:nvPicPr>
          <p:cNvPr id="19" name="Image 4" descr="preencoded.png">    </p:cNvPr>
          <p:cNvPicPr>
            <a:picLocks noChangeAspect="1"/>
          </p:cNvPicPr>
          <p:nvPr/>
        </p:nvPicPr>
        <p:blipFill>
          <a:blip r:embed="rId5"/>
          <a:stretch>
            <a:fillRect/>
          </a:stretch>
        </p:blipFill>
        <p:spPr>
          <a:xfrm>
            <a:off x="4617720" y="2971800"/>
            <a:ext cx="274320" cy="274320"/>
          </a:xfrm>
          <a:prstGeom prst="rect">
            <a:avLst/>
          </a:prstGeom>
        </p:spPr>
      </p:pic>
      <p:sp>
        <p:nvSpPr>
          <p:cNvPr id="20" name="Text 13"/>
          <p:cNvSpPr txBox="1"/>
          <p:nvPr/>
        </p:nvSpPr>
        <p:spPr>
          <a:xfrm>
            <a:off x="3840480" y="3264408"/>
            <a:ext cx="1828800" cy="768096"/>
          </a:xfrm>
          <a:prstGeom prst="rect">
            <a:avLst/>
          </a:prstGeom>
          <a:noFill/>
          <a:ln/>
        </p:spPr>
        <p:txBody>
          <a:bodyPr wrap="square" lIns="0" tIns="0" rIns="0" bIns="0" rtlCol="0" anchor="t"/>
          <a:lstStyle/>
          <a:p>
            <a:pPr algn="ctr" indent="0" marL="0">
              <a:buNone/>
            </a:pPr>
            <a:r>
              <a:rPr lang="en-US" sz="850" b="1" dirty="0">
                <a:solidFill>
                  <a:srgbClr val="161616"/>
                </a:solidFill>
                <a:latin typeface="Segoe UI" pitchFamily="34" charset="0"/>
                <a:ea typeface="Segoe UI" pitchFamily="34" charset="-122"/>
                <a:cs typeface="Segoe UI" pitchFamily="34" charset="-120"/>
              </a:rPr>
              <a:t>31,502 decisions →</a:t>
            </a:r>
            <a:endParaRPr lang="en-US" sz="850" dirty="0"/>
          </a:p>
          <a:p>
            <a:pPr algn="ctr" indent="0" marL="0">
              <a:buNone/>
            </a:pPr>
            <a:r>
              <a:rPr lang="en-US" sz="850" b="1" dirty="0">
                <a:solidFill>
                  <a:srgbClr val="161616"/>
                </a:solidFill>
                <a:latin typeface="Segoe UI" pitchFamily="34" charset="0"/>
                <a:ea typeface="Segoe UI" pitchFamily="34" charset="-122"/>
                <a:cs typeface="Segoe UI" pitchFamily="34" charset="-120"/>
              </a:rPr>
              <a:t>Fitted Q-Iteration, 20 rounds</a:t>
            </a:r>
            <a:endParaRPr lang="en-US" sz="850" dirty="0"/>
          </a:p>
          <a:p>
            <a:pPr algn="ctr" indent="0" marL="0">
              <a:buNone/>
            </a:pPr>
            <a:r>
              <a:rPr lang="en-US" sz="850" b="1" dirty="0">
                <a:solidFill>
                  <a:srgbClr val="161616"/>
                </a:solidFill>
                <a:latin typeface="Segoe UI" pitchFamily="34" charset="0"/>
                <a:ea typeface="Segoe UI" pitchFamily="34" charset="-122"/>
                <a:cs typeface="Segoe UI" pitchFamily="34" charset="-120"/>
              </a:rPr>
              <a:t>reward = meals − 0.02·pings</a:t>
            </a:r>
            <a:endParaRPr lang="en-US" sz="850" dirty="0"/>
          </a:p>
        </p:txBody>
      </p:sp>
      <p:sp>
        <p:nvSpPr>
          <p:cNvPr id="21" name="Shape 14"/>
          <p:cNvSpPr/>
          <p:nvPr/>
        </p:nvSpPr>
        <p:spPr>
          <a:xfrm>
            <a:off x="5715000" y="1737360"/>
            <a:ext cx="411480" cy="594360"/>
          </a:xfrm>
          <a:prstGeom prst="line">
            <a:avLst/>
          </a:prstGeom>
          <a:noFill/>
          <a:ln w="12700">
            <a:solidFill>
              <a:srgbClr val="3A3A44"/>
            </a:solidFill>
            <a:prstDash val="solid"/>
            <a:tailEnd type="triangle"/>
          </a:ln>
        </p:spPr>
      </p:sp>
      <p:sp>
        <p:nvSpPr>
          <p:cNvPr id="22" name="Shape 15"/>
          <p:cNvSpPr/>
          <p:nvPr/>
        </p:nvSpPr>
        <p:spPr>
          <a:xfrm flipV="1">
            <a:off x="5715000" y="2788920"/>
            <a:ext cx="411480" cy="685800"/>
          </a:xfrm>
          <a:prstGeom prst="line">
            <a:avLst/>
          </a:prstGeom>
          <a:noFill/>
          <a:ln w="12700">
            <a:solidFill>
              <a:srgbClr val="3A3A44"/>
            </a:solidFill>
            <a:prstDash val="solid"/>
            <a:tailEnd type="triangle"/>
          </a:ln>
        </p:spPr>
      </p:sp>
      <p:sp>
        <p:nvSpPr>
          <p:cNvPr id="23" name="Shape 16"/>
          <p:cNvSpPr/>
          <p:nvPr/>
        </p:nvSpPr>
        <p:spPr>
          <a:xfrm>
            <a:off x="6172200" y="1920240"/>
            <a:ext cx="1234440" cy="1280160"/>
          </a:xfrm>
          <a:prstGeom prst="roundRect">
            <a:avLst>
              <a:gd name="adj" fmla="val 5185"/>
            </a:avLst>
          </a:prstGeom>
          <a:solidFill>
            <a:srgbClr val="FDE2E4"/>
          </a:solidFill>
          <a:ln w="12700">
            <a:solidFill>
              <a:srgbClr val="E79AA3"/>
            </a:solidFill>
            <a:prstDash val="dash"/>
          </a:ln>
        </p:spPr>
      </p:sp>
      <p:pic>
        <p:nvPicPr>
          <p:cNvPr id="24" name="Image 5" descr="preencoded.png">    </p:cNvPr>
          <p:cNvPicPr>
            <a:picLocks noChangeAspect="1"/>
          </p:cNvPicPr>
          <p:nvPr/>
        </p:nvPicPr>
        <p:blipFill>
          <a:blip r:embed="rId6"/>
          <a:stretch>
            <a:fillRect/>
          </a:stretch>
        </p:blipFill>
        <p:spPr>
          <a:xfrm>
            <a:off x="6652260" y="2011680"/>
            <a:ext cx="274320" cy="274320"/>
          </a:xfrm>
          <a:prstGeom prst="rect">
            <a:avLst/>
          </a:prstGeom>
        </p:spPr>
      </p:pic>
      <p:sp>
        <p:nvSpPr>
          <p:cNvPr id="25" name="Text 17"/>
          <p:cNvSpPr txBox="1"/>
          <p:nvPr/>
        </p:nvSpPr>
        <p:spPr>
          <a:xfrm>
            <a:off x="6217920" y="2304288"/>
            <a:ext cx="1143000" cy="859536"/>
          </a:xfrm>
          <a:prstGeom prst="rect">
            <a:avLst/>
          </a:prstGeom>
          <a:noFill/>
          <a:ln/>
        </p:spPr>
        <p:txBody>
          <a:bodyPr wrap="square" lIns="0" tIns="0" rIns="0" bIns="0" rtlCol="0" anchor="t"/>
          <a:lstStyle/>
          <a:p>
            <a:pPr algn="ctr" indent="0" marL="0">
              <a:buNone/>
            </a:pPr>
            <a:r>
              <a:rPr lang="en-US" sz="900" b="1" dirty="0">
                <a:solidFill>
                  <a:srgbClr val="161616"/>
                </a:solidFill>
                <a:latin typeface="Segoe UI" pitchFamily="34" charset="0"/>
                <a:ea typeface="Segoe UI" pitchFamily="34" charset="-122"/>
                <a:cs typeface="Segoe UI" pitchFamily="34" charset="-120"/>
              </a:rPr>
              <a:t>Simulator</a:t>
            </a:r>
            <a:endParaRPr lang="en-US" sz="900" dirty="0"/>
          </a:p>
          <a:p>
            <a:pPr algn="ctr" indent="0" marL="0">
              <a:buNone/>
            </a:pPr>
            <a:r>
              <a:rPr lang="en-US" sz="900" b="1" dirty="0">
                <a:solidFill>
                  <a:srgbClr val="161616"/>
                </a:solidFill>
                <a:latin typeface="Segoe UI" pitchFamily="34" charset="0"/>
                <a:ea typeface="Segoe UI" pitchFamily="34" charset="-122"/>
                <a:cs typeface="Segoe UI" pitchFamily="34" charset="-120"/>
              </a:rPr>
              <a:t>30 held-out nights</a:t>
            </a:r>
            <a:endParaRPr lang="en-US" sz="900" dirty="0"/>
          </a:p>
        </p:txBody>
      </p:sp>
      <p:sp>
        <p:nvSpPr>
          <p:cNvPr id="26" name="Shape 18"/>
          <p:cNvSpPr/>
          <p:nvPr/>
        </p:nvSpPr>
        <p:spPr>
          <a:xfrm>
            <a:off x="7406640" y="2560320"/>
            <a:ext cx="274320" cy="0"/>
          </a:xfrm>
          <a:prstGeom prst="line">
            <a:avLst/>
          </a:prstGeom>
          <a:noFill/>
          <a:ln w="12700">
            <a:solidFill>
              <a:srgbClr val="3A3A44"/>
            </a:solidFill>
            <a:prstDash val="solid"/>
            <a:tailEnd type="triangle"/>
          </a:ln>
        </p:spPr>
      </p:sp>
      <p:sp>
        <p:nvSpPr>
          <p:cNvPr id="27" name="Shape 19"/>
          <p:cNvSpPr/>
          <p:nvPr/>
        </p:nvSpPr>
        <p:spPr>
          <a:xfrm>
            <a:off x="7726680" y="2148840"/>
            <a:ext cx="1005840" cy="822960"/>
          </a:xfrm>
          <a:prstGeom prst="ellipse">
            <a:avLst/>
          </a:prstGeom>
          <a:solidFill>
            <a:srgbClr val="6C4EF5"/>
          </a:solidFill>
          <a:ln w="12700">
            <a:solidFill>
              <a:srgbClr val="6C4EF5"/>
            </a:solidFill>
            <a:prstDash val="solid"/>
          </a:ln>
        </p:spPr>
      </p:sp>
      <p:sp>
        <p:nvSpPr>
          <p:cNvPr id="28" name="Text 20"/>
          <p:cNvSpPr txBox="1"/>
          <p:nvPr/>
        </p:nvSpPr>
        <p:spPr>
          <a:xfrm>
            <a:off x="7726680" y="2148840"/>
            <a:ext cx="1005840" cy="82296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Deploy</a:t>
            </a:r>
            <a:endParaRPr lang="en-US" sz="1000" dirty="0"/>
          </a:p>
          <a:p>
            <a:pPr algn="ctr" indent="0" marL="0">
              <a:buNone/>
            </a:pPr>
            <a:r>
              <a:rPr lang="en-US" sz="1000" b="1" dirty="0">
                <a:solidFill>
                  <a:srgbClr val="FFFFFF"/>
                </a:solidFill>
                <a:latin typeface="Segoe UI" pitchFamily="34" charset="0"/>
                <a:ea typeface="Segoe UI" pitchFamily="34" charset="-122"/>
                <a:cs typeface="Segoe UI" pitchFamily="34" charset="-120"/>
              </a:rPr>
              <a:t>models/</a:t>
            </a:r>
            <a:endParaRPr lang="en-US" sz="1000" dirty="0"/>
          </a:p>
        </p:txBody>
      </p:sp>
      <p:sp>
        <p:nvSpPr>
          <p:cNvPr id="29" name="Shape 21"/>
          <p:cNvSpPr/>
          <p:nvPr/>
        </p:nvSpPr>
        <p:spPr>
          <a:xfrm>
            <a:off x="8229600" y="2990088"/>
            <a:ext cx="0" cy="1353312"/>
          </a:xfrm>
          <a:prstGeom prst="line">
            <a:avLst/>
          </a:prstGeom>
          <a:noFill/>
          <a:ln w="12700">
            <a:solidFill>
              <a:srgbClr val="6C4EF5"/>
            </a:solidFill>
            <a:prstDash val="dash"/>
          </a:ln>
        </p:spPr>
      </p:sp>
      <p:sp>
        <p:nvSpPr>
          <p:cNvPr id="30" name="Shape 22"/>
          <p:cNvSpPr/>
          <p:nvPr/>
        </p:nvSpPr>
        <p:spPr>
          <a:xfrm flipH="1">
            <a:off x="886968" y="4343400"/>
            <a:ext cx="7342632" cy="0"/>
          </a:xfrm>
          <a:prstGeom prst="line">
            <a:avLst/>
          </a:prstGeom>
          <a:noFill/>
          <a:ln w="12700">
            <a:solidFill>
              <a:srgbClr val="6C4EF5"/>
            </a:solidFill>
            <a:prstDash val="dash"/>
          </a:ln>
        </p:spPr>
      </p:sp>
      <p:sp>
        <p:nvSpPr>
          <p:cNvPr id="31" name="Shape 23"/>
          <p:cNvSpPr/>
          <p:nvPr/>
        </p:nvSpPr>
        <p:spPr>
          <a:xfrm flipV="1">
            <a:off x="886968" y="3127248"/>
            <a:ext cx="0" cy="1216152"/>
          </a:xfrm>
          <a:prstGeom prst="line">
            <a:avLst/>
          </a:prstGeom>
          <a:noFill/>
          <a:ln w="12700">
            <a:solidFill>
              <a:srgbClr val="6C4EF5"/>
            </a:solidFill>
            <a:prstDash val="dash"/>
            <a:tailEnd type="triangle"/>
          </a:ln>
        </p:spPr>
      </p:sp>
      <p:sp>
        <p:nvSpPr>
          <p:cNvPr id="32" name="Text 24"/>
          <p:cNvSpPr txBox="1"/>
          <p:nvPr/>
        </p:nvSpPr>
        <p:spPr>
          <a:xfrm>
            <a:off x="2286000" y="4370832"/>
            <a:ext cx="4572000" cy="228600"/>
          </a:xfrm>
          <a:prstGeom prst="rect">
            <a:avLst/>
          </a:prstGeom>
          <a:noFill/>
          <a:ln/>
        </p:spPr>
        <p:txBody>
          <a:bodyPr wrap="square" lIns="0" tIns="0" rIns="0" bIns="0" rtlCol="0" anchor="ctr"/>
          <a:lstStyle/>
          <a:p>
            <a:pPr algn="ctr" indent="0" marL="0">
              <a:buNone/>
            </a:pPr>
            <a:r>
              <a:rPr lang="en-US" sz="900" b="1" i="1" dirty="0">
                <a:solidFill>
                  <a:srgbClr val="6C4EF5"/>
                </a:solidFill>
                <a:latin typeface="Segoe UI" pitchFamily="34" charset="0"/>
                <a:ea typeface="Segoe UI" pitchFamily="34" charset="-122"/>
                <a:cs typeface="Segoe UI" pitchFamily="34" charset="-120"/>
              </a:rPr>
              <a:t>live event log becomes new training data  ·  python ml.py all</a:t>
            </a:r>
            <a:endParaRPr lang="en-US" sz="900" dirty="0"/>
          </a:p>
        </p:txBody>
      </p:sp>
      <p:sp>
        <p:nvSpPr>
          <p:cNvPr id="33" name="Text 25"/>
          <p:cNvSpPr txBox="1"/>
          <p:nvPr/>
        </p:nvSpPr>
        <p:spPr>
          <a:xfrm>
            <a:off x="457200" y="4681728"/>
            <a:ext cx="8229600" cy="256032"/>
          </a:xfrm>
          <a:prstGeom prst="rect">
            <a:avLst/>
          </a:prstGeom>
          <a:noFill/>
          <a:ln/>
        </p:spPr>
        <p:txBody>
          <a:bodyPr wrap="square" lIns="0" tIns="0" rIns="0" bIns="0" rtlCol="0" anchor="ctr"/>
          <a:lstStyle/>
          <a:p>
            <a:pPr algn="ctr" indent="0" marL="0">
              <a:buNone/>
            </a:pPr>
            <a:r>
              <a:rPr lang="en-US" sz="1050" i="1" dirty="0">
                <a:solidFill>
                  <a:srgbClr val="7A7A85"/>
                </a:solidFill>
                <a:latin typeface="Segoe UI" pitchFamily="34" charset="0"/>
                <a:ea typeface="Segoe UI" pitchFamily="34" charset="-122"/>
                <a:cs typeface="Segoe UI" pitchFamily="34" charset="-120"/>
              </a:rPr>
              <a:t>Trained offline: nobody wants a policy changing itself mid-shift.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The Product</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Live, role-based and running on real Bengaluru data</a:t>
            </a:r>
            <a:endParaRPr lang="en-US" sz="1350" dirty="0"/>
          </a:p>
        </p:txBody>
      </p:sp>
      <p:sp>
        <p:nvSpPr>
          <p:cNvPr id="7" name="Shape 4"/>
          <p:cNvSpPr/>
          <p:nvPr/>
        </p:nvSpPr>
        <p:spPr>
          <a:xfrm>
            <a:off x="310896" y="1225296"/>
            <a:ext cx="5733288" cy="3621024"/>
          </a:xfrm>
          <a:prstGeom prst="roundRect">
            <a:avLst>
              <a:gd name="adj" fmla="val 3030"/>
            </a:avLst>
          </a:prstGeom>
          <a:solidFill>
            <a:srgbClr val="EFEBFE"/>
          </a:solidFill>
          <a:ln w="12700">
            <a:solidFill>
              <a:srgbClr val="EFEBFE"/>
            </a:solidFill>
            <a:prstDash val="solid"/>
          </a:ln>
        </p:spPr>
      </p:sp>
      <p:pic>
        <p:nvPicPr>
          <p:cNvPr id="8" name="Image 1" descr="C:\Users\bhavi\AppData\Local\Temp\claude\C--Coding-AmiHacks-Coding\d5644306-efcf-495b-8c30-9d66d8d3f514\scratchpad\deck\shots\board-c.png">    </p:cNvPr>
          <p:cNvPicPr>
            <a:picLocks noChangeAspect="1"/>
          </p:cNvPicPr>
          <p:nvPr/>
        </p:nvPicPr>
        <p:blipFill>
          <a:blip r:embed="rId2"/>
          <a:srcRect l="0" r="0" t="0" b="0"/>
          <a:stretch/>
        </p:blipFill>
        <p:spPr>
          <a:xfrm>
            <a:off x="365760" y="1280160"/>
            <a:ext cx="5623560" cy="3511296"/>
          </a:xfrm>
          <a:prstGeom prst="rect">
            <a:avLst/>
          </a:prstGeom>
        </p:spPr>
      </p:pic>
      <p:sp>
        <p:nvSpPr>
          <p:cNvPr id="9" name="Shape 5"/>
          <p:cNvSpPr/>
          <p:nvPr/>
        </p:nvSpPr>
        <p:spPr>
          <a:xfrm>
            <a:off x="6300216" y="1225296"/>
            <a:ext cx="1207008" cy="2487168"/>
          </a:xfrm>
          <a:prstGeom prst="roundRect">
            <a:avLst>
              <a:gd name="adj" fmla="val 9091"/>
            </a:avLst>
          </a:prstGeom>
          <a:solidFill>
            <a:srgbClr val="EFEBFE"/>
          </a:solidFill>
          <a:ln w="12700">
            <a:solidFill>
              <a:srgbClr val="EFEBFE"/>
            </a:solidFill>
            <a:prstDash val="solid"/>
          </a:ln>
        </p:spPr>
      </p:sp>
      <p:pic>
        <p:nvPicPr>
          <p:cNvPr id="10" name="Image 2" descr="C:\Users\bhavi\AppData\Local\Temp\claude\C--Coding-AmiHacks-Coding\d5644306-efcf-495b-8c30-9d66d8d3f514\scratchpad\deck\shots\donor-mobile.png">    </p:cNvPr>
          <p:cNvPicPr>
            <a:picLocks noChangeAspect="1"/>
          </p:cNvPicPr>
          <p:nvPr/>
        </p:nvPicPr>
        <p:blipFill>
          <a:blip r:embed="rId3"/>
          <a:stretch>
            <a:fillRect/>
          </a:stretch>
        </p:blipFill>
        <p:spPr>
          <a:xfrm>
            <a:off x="6355080" y="1280160"/>
            <a:ext cx="1097280" cy="2377440"/>
          </a:xfrm>
          <a:prstGeom prst="rect">
            <a:avLst/>
          </a:prstGeom>
        </p:spPr>
      </p:pic>
      <p:sp>
        <p:nvSpPr>
          <p:cNvPr id="11" name="Shape 6"/>
          <p:cNvSpPr/>
          <p:nvPr/>
        </p:nvSpPr>
        <p:spPr>
          <a:xfrm>
            <a:off x="7626096" y="1225296"/>
            <a:ext cx="1207008" cy="2487168"/>
          </a:xfrm>
          <a:prstGeom prst="roundRect">
            <a:avLst>
              <a:gd name="adj" fmla="val 9091"/>
            </a:avLst>
          </a:prstGeom>
          <a:solidFill>
            <a:srgbClr val="EFEBFE"/>
          </a:solidFill>
          <a:ln w="12700">
            <a:solidFill>
              <a:srgbClr val="EFEBFE"/>
            </a:solidFill>
            <a:prstDash val="solid"/>
          </a:ln>
        </p:spPr>
      </p:sp>
      <p:pic>
        <p:nvPicPr>
          <p:cNvPr id="12" name="Image 3" descr="C:\Users\bhavi\AppData\Local\Temp\claude\C--Coding-AmiHacks-Coding\d5644306-efcf-495b-8c30-9d66d8d3f514\scratchpad\deck\shots\donor-bell.png">    </p:cNvPr>
          <p:cNvPicPr>
            <a:picLocks noChangeAspect="1"/>
          </p:cNvPicPr>
          <p:nvPr/>
        </p:nvPicPr>
        <p:blipFill>
          <a:blip r:embed="rId4"/>
          <a:stretch>
            <a:fillRect/>
          </a:stretch>
        </p:blipFill>
        <p:spPr>
          <a:xfrm>
            <a:off x="7680960" y="1280160"/>
            <a:ext cx="1097280" cy="2377440"/>
          </a:xfrm>
          <a:prstGeom prst="rect">
            <a:avLst/>
          </a:prstGeom>
        </p:spPr>
      </p:pic>
      <p:sp>
        <p:nvSpPr>
          <p:cNvPr id="13" name="Text 7"/>
          <p:cNvSpPr txBox="1"/>
          <p:nvPr/>
        </p:nvSpPr>
        <p:spPr>
          <a:xfrm>
            <a:off x="365760" y="4828032"/>
            <a:ext cx="5623560" cy="274320"/>
          </a:xfrm>
          <a:prstGeom prst="rect">
            <a:avLst/>
          </a:prstGeom>
          <a:noFill/>
          <a:ln/>
        </p:spPr>
        <p:txBody>
          <a:bodyPr wrap="square" lIns="0" tIns="0" rIns="0" bIns="0" rtlCol="0" anchor="ctr"/>
          <a:lstStyle/>
          <a:p>
            <a:pPr algn="ctr" indent="0" marL="0">
              <a:buNone/>
            </a:pPr>
            <a:r>
              <a:rPr lang="en-US" sz="1000" b="1" dirty="0">
                <a:solidFill>
                  <a:srgbClr val="161616"/>
                </a:solidFill>
                <a:latin typeface="Segoe UI" pitchFamily="34" charset="0"/>
                <a:ea typeface="Segoe UI" pitchFamily="34" charset="-122"/>
                <a:cs typeface="Segoe UI" pitchFamily="34" charset="-120"/>
              </a:rPr>
              <a:t>Coordinator live board</a:t>
            </a:r>
            <a:endParaRPr lang="en-US" sz="1000" dirty="0"/>
          </a:p>
          <a:p>
            <a:pPr algn="ctr" indent="0" marL="0">
              <a:buNone/>
            </a:pPr>
            <a:r>
              <a:rPr lang="en-US" sz="900" dirty="0">
                <a:solidFill>
                  <a:srgbClr val="5B5B66"/>
                </a:solidFill>
                <a:latin typeface="Segoe UI" pitchFamily="34" charset="0"/>
                <a:ea typeface="Segoe UI" pitchFamily="34" charset="-122"/>
                <a:cs typeface="Segoe UI" pitchFamily="34" charset="-120"/>
              </a:rPr>
              <a:t>urgency · claim odds · one-click backup</a:t>
            </a:r>
            <a:endParaRPr lang="en-US" sz="1000" dirty="0"/>
          </a:p>
        </p:txBody>
      </p:sp>
      <p:sp>
        <p:nvSpPr>
          <p:cNvPr id="14" name="Text 8"/>
          <p:cNvSpPr txBox="1"/>
          <p:nvPr/>
        </p:nvSpPr>
        <p:spPr>
          <a:xfrm>
            <a:off x="6217920" y="3767328"/>
            <a:ext cx="1371600" cy="411480"/>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Donor tracker</a:t>
            </a:r>
            <a:endParaRPr lang="en-US" sz="950" dirty="0"/>
          </a:p>
          <a:p>
            <a:pPr algn="ctr" indent="0" marL="0">
              <a:buNone/>
            </a:pPr>
            <a:r>
              <a:rPr lang="en-US" sz="850" dirty="0">
                <a:solidFill>
                  <a:srgbClr val="5B5B66"/>
                </a:solidFill>
                <a:latin typeface="Segoe UI" pitchFamily="34" charset="0"/>
                <a:ea typeface="Segoe UI" pitchFamily="34" charset="-122"/>
                <a:cs typeface="Segoe UI" pitchFamily="34" charset="-120"/>
              </a:rPr>
              <a:t>5-step live status</a:t>
            </a:r>
            <a:endParaRPr lang="en-US" sz="950" dirty="0"/>
          </a:p>
        </p:txBody>
      </p:sp>
      <p:sp>
        <p:nvSpPr>
          <p:cNvPr id="15" name="Text 9"/>
          <p:cNvSpPr txBox="1"/>
          <p:nvPr/>
        </p:nvSpPr>
        <p:spPr>
          <a:xfrm>
            <a:off x="7543800" y="3767328"/>
            <a:ext cx="1371600" cy="411480"/>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Notifications</a:t>
            </a:r>
            <a:endParaRPr lang="en-US" sz="950" dirty="0"/>
          </a:p>
          <a:p>
            <a:pPr algn="ctr" indent="0" marL="0">
              <a:buNone/>
            </a:pPr>
            <a:r>
              <a:rPr lang="en-US" sz="850" dirty="0">
                <a:solidFill>
                  <a:srgbClr val="5B5B66"/>
                </a:solidFill>
                <a:latin typeface="Segoe UI" pitchFamily="34" charset="0"/>
                <a:ea typeface="Segoe UI" pitchFamily="34" charset="-122"/>
                <a:cs typeface="Segoe UI" pitchFamily="34" charset="-120"/>
              </a:rPr>
              <a:t>in-app + email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Explainable AI, Built In</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An animated walkthrough of every real decision, for non-experts</a:t>
            </a:r>
            <a:endParaRPr lang="en-US" sz="1350" dirty="0"/>
          </a:p>
        </p:txBody>
      </p:sp>
      <p:sp>
        <p:nvSpPr>
          <p:cNvPr id="7" name="Shape 4"/>
          <p:cNvSpPr/>
          <p:nvPr/>
        </p:nvSpPr>
        <p:spPr>
          <a:xfrm>
            <a:off x="310896" y="1225296"/>
            <a:ext cx="5321808" cy="2596896"/>
          </a:xfrm>
          <a:prstGeom prst="roundRect">
            <a:avLst>
              <a:gd name="adj" fmla="val 4225"/>
            </a:avLst>
          </a:prstGeom>
          <a:solidFill>
            <a:srgbClr val="EFEBFE"/>
          </a:solidFill>
          <a:ln w="12700">
            <a:solidFill>
              <a:srgbClr val="EFEBFE"/>
            </a:solidFill>
            <a:prstDash val="solid"/>
          </a:ln>
        </p:spPr>
      </p:sp>
      <p:pic>
        <p:nvPicPr>
          <p:cNvPr id="8" name="Image 1" descr="C:\Users\bhavi\AppData\Local\Temp\claude\C--Coding-AmiHacks-Coding\d5644306-efcf-495b-8c30-9d66d8d3f514\scratchpad\deck\shots\thinks-rl-c.png">    </p:cNvPr>
          <p:cNvPicPr>
            <a:picLocks noChangeAspect="1"/>
          </p:cNvPicPr>
          <p:nvPr/>
        </p:nvPicPr>
        <p:blipFill>
          <a:blip r:embed="rId2"/>
          <a:stretch>
            <a:fillRect/>
          </a:stretch>
        </p:blipFill>
        <p:spPr>
          <a:xfrm>
            <a:off x="365760" y="1280160"/>
            <a:ext cx="5212080" cy="2487168"/>
          </a:xfrm>
          <a:prstGeom prst="rect">
            <a:avLst/>
          </a:prstGeom>
        </p:spPr>
      </p:pic>
      <p:sp>
        <p:nvSpPr>
          <p:cNvPr id="9" name="Shape 5"/>
          <p:cNvSpPr/>
          <p:nvPr/>
        </p:nvSpPr>
        <p:spPr>
          <a:xfrm>
            <a:off x="5888736" y="1225296"/>
            <a:ext cx="2944368" cy="1463040"/>
          </a:xfrm>
          <a:prstGeom prst="roundRect">
            <a:avLst>
              <a:gd name="adj" fmla="val 7500"/>
            </a:avLst>
          </a:prstGeom>
          <a:solidFill>
            <a:srgbClr val="EFEBFE"/>
          </a:solidFill>
          <a:ln w="12700">
            <a:solidFill>
              <a:srgbClr val="EFEBFE"/>
            </a:solidFill>
            <a:prstDash val="solid"/>
          </a:ln>
        </p:spPr>
      </p:sp>
      <p:pic>
        <p:nvPicPr>
          <p:cNvPr id="10" name="Image 2" descr="C:\Users\bhavi\AppData\Local\Temp\claude\C--Coding-AmiHacks-Coding\d5644306-efcf-495b-8c30-9d66d8d3f514\scratchpad\deck\shots\thinks-rules-c.png">    </p:cNvPr>
          <p:cNvPicPr>
            <a:picLocks noChangeAspect="1"/>
          </p:cNvPicPr>
          <p:nvPr/>
        </p:nvPicPr>
        <p:blipFill>
          <a:blip r:embed="rId3"/>
          <a:stretch>
            <a:fillRect/>
          </a:stretch>
        </p:blipFill>
        <p:spPr>
          <a:xfrm>
            <a:off x="5943600" y="1280160"/>
            <a:ext cx="2834640" cy="1353312"/>
          </a:xfrm>
          <a:prstGeom prst="rect">
            <a:avLst/>
          </a:prstGeom>
        </p:spPr>
      </p:pic>
      <p:sp>
        <p:nvSpPr>
          <p:cNvPr id="11" name="Shape 6"/>
          <p:cNvSpPr/>
          <p:nvPr/>
        </p:nvSpPr>
        <p:spPr>
          <a:xfrm>
            <a:off x="5888736" y="2916936"/>
            <a:ext cx="2944368" cy="1463040"/>
          </a:xfrm>
          <a:prstGeom prst="roundRect">
            <a:avLst>
              <a:gd name="adj" fmla="val 7500"/>
            </a:avLst>
          </a:prstGeom>
          <a:solidFill>
            <a:srgbClr val="EFEBFE"/>
          </a:solidFill>
          <a:ln w="12700">
            <a:solidFill>
              <a:srgbClr val="EFEBFE"/>
            </a:solidFill>
            <a:prstDash val="solid"/>
          </a:ln>
        </p:spPr>
      </p:sp>
      <p:pic>
        <p:nvPicPr>
          <p:cNvPr id="12" name="Image 3" descr="C:\Users\bhavi\AppData\Local\Temp\claude\C--Coding-AmiHacks-Coding\d5644306-efcf-495b-8c30-9d66d8d3f514\scratchpad\deck\shots\thinks-train-c.png">    </p:cNvPr>
          <p:cNvPicPr>
            <a:picLocks noChangeAspect="1"/>
          </p:cNvPicPr>
          <p:nvPr/>
        </p:nvPicPr>
        <p:blipFill>
          <a:blip r:embed="rId4"/>
          <a:stretch>
            <a:fillRect/>
          </a:stretch>
        </p:blipFill>
        <p:spPr>
          <a:xfrm>
            <a:off x="5943600" y="2971800"/>
            <a:ext cx="2834640" cy="1353312"/>
          </a:xfrm>
          <a:prstGeom prst="rect">
            <a:avLst/>
          </a:prstGeom>
        </p:spPr>
      </p:pic>
      <p:sp>
        <p:nvSpPr>
          <p:cNvPr id="13" name="Shape 7"/>
          <p:cNvSpPr/>
          <p:nvPr/>
        </p:nvSpPr>
        <p:spPr>
          <a:xfrm>
            <a:off x="365760" y="3977640"/>
            <a:ext cx="1691640" cy="329184"/>
          </a:xfrm>
          <a:prstGeom prst="roundRect">
            <a:avLst>
              <a:gd name="adj" fmla="val 50000"/>
            </a:avLst>
          </a:prstGeom>
          <a:solidFill>
            <a:srgbClr val="6C4EF5"/>
          </a:solidFill>
          <a:ln w="12700">
            <a:solidFill>
              <a:srgbClr val="6C4EF5"/>
            </a:solidFill>
            <a:prstDash val="solid"/>
          </a:ln>
        </p:spPr>
      </p:sp>
      <p:sp>
        <p:nvSpPr>
          <p:cNvPr id="14" name="Text 8"/>
          <p:cNvSpPr txBox="1"/>
          <p:nvPr/>
        </p:nvSpPr>
        <p:spPr>
          <a:xfrm>
            <a:off x="365760" y="3977640"/>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Rules ✓/✕ with reasons</a:t>
            </a:r>
            <a:endParaRPr lang="en-US" sz="950" dirty="0"/>
          </a:p>
        </p:txBody>
      </p:sp>
      <p:sp>
        <p:nvSpPr>
          <p:cNvPr id="15" name="Shape 9"/>
          <p:cNvSpPr/>
          <p:nvPr/>
        </p:nvSpPr>
        <p:spPr>
          <a:xfrm>
            <a:off x="2148840" y="3977640"/>
            <a:ext cx="1691640" cy="329184"/>
          </a:xfrm>
          <a:prstGeom prst="roundRect">
            <a:avLst>
              <a:gd name="adj" fmla="val 50000"/>
            </a:avLst>
          </a:prstGeom>
          <a:solidFill>
            <a:srgbClr val="6C4EF5"/>
          </a:solidFill>
          <a:ln w="12700">
            <a:solidFill>
              <a:srgbClr val="6C4EF5"/>
            </a:solidFill>
            <a:prstDash val="solid"/>
          </a:ln>
        </p:spPr>
      </p:sp>
      <p:sp>
        <p:nvSpPr>
          <p:cNvPr id="16" name="Text 10"/>
          <p:cNvSpPr txBox="1"/>
          <p:nvPr/>
        </p:nvSpPr>
        <p:spPr>
          <a:xfrm>
            <a:off x="2148840" y="3977640"/>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ML odds per driver</a:t>
            </a:r>
            <a:endParaRPr lang="en-US" sz="950" dirty="0"/>
          </a:p>
        </p:txBody>
      </p:sp>
      <p:sp>
        <p:nvSpPr>
          <p:cNvPr id="17" name="Shape 11"/>
          <p:cNvSpPr/>
          <p:nvPr/>
        </p:nvSpPr>
        <p:spPr>
          <a:xfrm>
            <a:off x="3886200" y="3977640"/>
            <a:ext cx="1691640" cy="329184"/>
          </a:xfrm>
          <a:prstGeom prst="roundRect">
            <a:avLst>
              <a:gd name="adj" fmla="val 50000"/>
            </a:avLst>
          </a:prstGeom>
          <a:solidFill>
            <a:srgbClr val="6C4EF5"/>
          </a:solidFill>
          <a:ln w="12700">
            <a:solidFill>
              <a:srgbClr val="6C4EF5"/>
            </a:solidFill>
            <a:prstDash val="solid"/>
          </a:ln>
        </p:spPr>
      </p:sp>
      <p:sp>
        <p:nvSpPr>
          <p:cNvPr id="18" name="Text 12"/>
          <p:cNvSpPr txBox="1"/>
          <p:nvPr/>
        </p:nvSpPr>
        <p:spPr>
          <a:xfrm>
            <a:off x="3886200" y="3977640"/>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RL Q-values → choice</a:t>
            </a:r>
            <a:endParaRPr lang="en-US" sz="950" dirty="0"/>
          </a:p>
        </p:txBody>
      </p:sp>
      <p:sp>
        <p:nvSpPr>
          <p:cNvPr id="19" name="Text 13"/>
          <p:cNvSpPr txBox="1"/>
          <p:nvPr/>
        </p:nvSpPr>
        <p:spPr>
          <a:xfrm>
            <a:off x="5943600" y="2670048"/>
            <a:ext cx="2834640" cy="201168"/>
          </a:xfrm>
          <a:prstGeom prst="rect">
            <a:avLst/>
          </a:prstGeom>
          <a:noFill/>
          <a:ln/>
        </p:spPr>
        <p:txBody>
          <a:bodyPr wrap="square" lIns="0" tIns="0" rIns="0" bIns="0" rtlCol="0" anchor="ctr"/>
          <a:lstStyle/>
          <a:p>
            <a:pPr algn="ctr" indent="0" marL="0">
              <a:buNone/>
            </a:pPr>
            <a:r>
              <a:rPr lang="en-US" sz="900" dirty="0">
                <a:solidFill>
                  <a:srgbClr val="5B5B66"/>
                </a:solidFill>
                <a:latin typeface="Segoe UI" pitchFamily="34" charset="0"/>
                <a:ea typeface="Segoe UI" pitchFamily="34" charset="-122"/>
                <a:cs typeface="Segoe UI" pitchFamily="34" charset="-120"/>
              </a:rPr>
              <a:t>Step 2 · rules</a:t>
            </a:r>
            <a:endParaRPr lang="en-US" sz="900" dirty="0"/>
          </a:p>
        </p:txBody>
      </p:sp>
      <p:sp>
        <p:nvSpPr>
          <p:cNvPr id="20" name="Text 14"/>
          <p:cNvSpPr txBox="1"/>
          <p:nvPr/>
        </p:nvSpPr>
        <p:spPr>
          <a:xfrm>
            <a:off x="5943600" y="4370832"/>
            <a:ext cx="2834640" cy="201168"/>
          </a:xfrm>
          <a:prstGeom prst="rect">
            <a:avLst/>
          </a:prstGeom>
          <a:noFill/>
          <a:ln/>
        </p:spPr>
        <p:txBody>
          <a:bodyPr wrap="square" lIns="0" tIns="0" rIns="0" bIns="0" rtlCol="0" anchor="ctr"/>
          <a:lstStyle/>
          <a:p>
            <a:pPr algn="ctr" indent="0" marL="0">
              <a:buNone/>
            </a:pPr>
            <a:r>
              <a:rPr lang="en-US" sz="900" dirty="0">
                <a:solidFill>
                  <a:srgbClr val="5B5B66"/>
                </a:solidFill>
                <a:latin typeface="Segoe UI" pitchFamily="34" charset="0"/>
                <a:ea typeface="Segoe UI" pitchFamily="34" charset="-122"/>
                <a:cs typeface="Segoe UI" pitchFamily="34" charset="-120"/>
              </a:rPr>
              <a:t>Step 7 · how it learned</a:t>
            </a:r>
            <a:endParaRPr lang="en-US" sz="900" dirty="0"/>
          </a:p>
        </p:txBody>
      </p:sp>
      <p:sp>
        <p:nvSpPr>
          <p:cNvPr id="21" name="Text 15"/>
          <p:cNvSpPr txBox="1"/>
          <p:nvPr/>
        </p:nvSpPr>
        <p:spPr>
          <a:xfrm>
            <a:off x="365760" y="4434840"/>
            <a:ext cx="5212080" cy="274320"/>
          </a:xfrm>
          <a:prstGeom prst="rect">
            <a:avLst/>
          </a:prstGeom>
          <a:noFill/>
          <a:ln/>
        </p:spPr>
        <p:txBody>
          <a:bodyPr wrap="square" lIns="0" tIns="0" rIns="0" bIns="0" rtlCol="0" anchor="ctr"/>
          <a:lstStyle/>
          <a:p>
            <a:pPr algn="ctr" indent="0" marL="0">
              <a:buNone/>
            </a:pPr>
            <a:r>
              <a:rPr lang="en-US" sz="1000" i="1" dirty="0">
                <a:solidFill>
                  <a:srgbClr val="7A7A85"/>
                </a:solidFill>
                <a:latin typeface="Segoe UI" pitchFamily="34" charset="0"/>
                <a:ea typeface="Segoe UI" pitchFamily="34" charset="-122"/>
                <a:cs typeface="Segoe UI" pitchFamily="34" charset="-120"/>
              </a:rPr>
              <a:t>Camera zoom · typed narration · presenter mode (F, ←,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Features for Every Role</a:t>
            </a:r>
            <a:endParaRPr lang="en-US" sz="3000" dirty="0"/>
          </a:p>
        </p:txBody>
      </p:sp>
      <p:sp>
        <p:nvSpPr>
          <p:cNvPr id="6" name="Shape 3"/>
          <p:cNvSpPr/>
          <p:nvPr/>
        </p:nvSpPr>
        <p:spPr>
          <a:xfrm>
            <a:off x="411480" y="1188720"/>
            <a:ext cx="1947672" cy="2514600"/>
          </a:xfrm>
          <a:prstGeom prst="roundRect">
            <a:avLst>
              <a:gd name="adj" fmla="val 7512"/>
            </a:avLst>
          </a:prstGeom>
          <a:solidFill>
            <a:srgbClr val="EFEBFE"/>
          </a:solidFill>
          <a:ln w="12700">
            <a:solidFill>
              <a:srgbClr val="EFEBFE"/>
            </a:solidFill>
            <a:prstDash val="solid"/>
          </a:ln>
        </p:spPr>
      </p:sp>
      <p:sp>
        <p:nvSpPr>
          <p:cNvPr id="7" name="Shape 4"/>
          <p:cNvSpPr/>
          <p:nvPr/>
        </p:nvSpPr>
        <p:spPr>
          <a:xfrm>
            <a:off x="411480" y="1188720"/>
            <a:ext cx="1947672" cy="685800"/>
          </a:xfrm>
          <a:prstGeom prst="roundRect">
            <a:avLst>
              <a:gd name="adj" fmla="val 21333"/>
            </a:avLst>
          </a:prstGeom>
          <a:solidFill>
            <a:srgbClr val="6C4EF5"/>
          </a:solidFill>
          <a:ln w="12700">
            <a:solidFill>
              <a:srgbClr val="6C4EF5"/>
            </a:solidFill>
            <a:prstDash val="solid"/>
          </a:ln>
        </p:spPr>
      </p:sp>
      <p:pic>
        <p:nvPicPr>
          <p:cNvPr id="8" name="Image 1" descr="preencoded.png">    </p:cNvPr>
          <p:cNvPicPr>
            <a:picLocks noChangeAspect="1"/>
          </p:cNvPicPr>
          <p:nvPr/>
        </p:nvPicPr>
        <p:blipFill>
          <a:blip r:embed="rId2"/>
          <a:stretch>
            <a:fillRect/>
          </a:stretch>
        </p:blipFill>
        <p:spPr>
          <a:xfrm>
            <a:off x="594360" y="1367028"/>
            <a:ext cx="329184" cy="329184"/>
          </a:xfrm>
          <a:prstGeom prst="rect">
            <a:avLst/>
          </a:prstGeom>
        </p:spPr>
      </p:pic>
      <p:sp>
        <p:nvSpPr>
          <p:cNvPr id="9" name="Text 5"/>
          <p:cNvSpPr txBox="1"/>
          <p:nvPr/>
        </p:nvSpPr>
        <p:spPr>
          <a:xfrm>
            <a:off x="1033272" y="1188720"/>
            <a:ext cx="1161288"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Donor</a:t>
            </a:r>
            <a:endParaRPr lang="en-US" sz="1600" dirty="0"/>
          </a:p>
        </p:txBody>
      </p:sp>
      <p:sp>
        <p:nvSpPr>
          <p:cNvPr id="10" name="Text 6"/>
          <p:cNvSpPr txBox="1"/>
          <p:nvPr/>
        </p:nvSpPr>
        <p:spPr>
          <a:xfrm>
            <a:off x="576072" y="1984248"/>
            <a:ext cx="1618488" cy="1627632"/>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30-second post from plain text</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Live tracker &amp; map</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Printable receipt (CSR / tax)</a:t>
            </a:r>
            <a:endParaRPr lang="en-US" sz="1300" dirty="0"/>
          </a:p>
        </p:txBody>
      </p:sp>
      <p:sp>
        <p:nvSpPr>
          <p:cNvPr id="11" name="Shape 7"/>
          <p:cNvSpPr/>
          <p:nvPr/>
        </p:nvSpPr>
        <p:spPr>
          <a:xfrm>
            <a:off x="2542032" y="1188720"/>
            <a:ext cx="1947672" cy="2514600"/>
          </a:xfrm>
          <a:prstGeom prst="roundRect">
            <a:avLst>
              <a:gd name="adj" fmla="val 7512"/>
            </a:avLst>
          </a:prstGeom>
          <a:solidFill>
            <a:srgbClr val="EFEBFE"/>
          </a:solidFill>
          <a:ln w="12700">
            <a:solidFill>
              <a:srgbClr val="EFEBFE"/>
            </a:solidFill>
            <a:prstDash val="solid"/>
          </a:ln>
        </p:spPr>
      </p:sp>
      <p:sp>
        <p:nvSpPr>
          <p:cNvPr id="12" name="Shape 8"/>
          <p:cNvSpPr/>
          <p:nvPr/>
        </p:nvSpPr>
        <p:spPr>
          <a:xfrm>
            <a:off x="2542032" y="1188720"/>
            <a:ext cx="1947672" cy="685800"/>
          </a:xfrm>
          <a:prstGeom prst="roundRect">
            <a:avLst>
              <a:gd name="adj" fmla="val 21333"/>
            </a:avLst>
          </a:prstGeom>
          <a:solidFill>
            <a:srgbClr val="6C4EF5"/>
          </a:solidFill>
          <a:ln w="12700">
            <a:solidFill>
              <a:srgbClr val="6C4EF5"/>
            </a:solidFill>
            <a:prstDash val="solid"/>
          </a:ln>
        </p:spPr>
      </p:sp>
      <p:pic>
        <p:nvPicPr>
          <p:cNvPr id="13" name="Image 2" descr="preencoded.png">    </p:cNvPr>
          <p:cNvPicPr>
            <a:picLocks noChangeAspect="1"/>
          </p:cNvPicPr>
          <p:nvPr/>
        </p:nvPicPr>
        <p:blipFill>
          <a:blip r:embed="rId3"/>
          <a:stretch>
            <a:fillRect/>
          </a:stretch>
        </p:blipFill>
        <p:spPr>
          <a:xfrm>
            <a:off x="2724912" y="1367028"/>
            <a:ext cx="329184" cy="329184"/>
          </a:xfrm>
          <a:prstGeom prst="rect">
            <a:avLst/>
          </a:prstGeom>
        </p:spPr>
      </p:pic>
      <p:sp>
        <p:nvSpPr>
          <p:cNvPr id="14" name="Text 9"/>
          <p:cNvSpPr txBox="1"/>
          <p:nvPr/>
        </p:nvSpPr>
        <p:spPr>
          <a:xfrm>
            <a:off x="3163824" y="1188720"/>
            <a:ext cx="1161288"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Driver</a:t>
            </a:r>
            <a:endParaRPr lang="en-US" sz="1600" dirty="0"/>
          </a:p>
        </p:txBody>
      </p:sp>
      <p:sp>
        <p:nvSpPr>
          <p:cNvPr id="15" name="Text 10"/>
          <p:cNvSpPr txBox="1"/>
          <p:nvPr/>
        </p:nvSpPr>
        <p:spPr>
          <a:xfrm>
            <a:off x="2706624" y="1984248"/>
            <a:ext cx="1618488" cy="1627632"/>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Only offers that fit</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Address after accepting</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Pickup safety checklist</a:t>
            </a:r>
            <a:endParaRPr lang="en-US" sz="1300" dirty="0"/>
          </a:p>
        </p:txBody>
      </p:sp>
      <p:sp>
        <p:nvSpPr>
          <p:cNvPr id="16" name="Shape 11"/>
          <p:cNvSpPr/>
          <p:nvPr/>
        </p:nvSpPr>
        <p:spPr>
          <a:xfrm>
            <a:off x="4672584" y="1188720"/>
            <a:ext cx="1947672" cy="2514600"/>
          </a:xfrm>
          <a:prstGeom prst="roundRect">
            <a:avLst>
              <a:gd name="adj" fmla="val 7512"/>
            </a:avLst>
          </a:prstGeom>
          <a:solidFill>
            <a:srgbClr val="EFEBFE"/>
          </a:solidFill>
          <a:ln w="12700">
            <a:solidFill>
              <a:srgbClr val="EFEBFE"/>
            </a:solidFill>
            <a:prstDash val="solid"/>
          </a:ln>
        </p:spPr>
      </p:sp>
      <p:sp>
        <p:nvSpPr>
          <p:cNvPr id="17" name="Shape 12"/>
          <p:cNvSpPr/>
          <p:nvPr/>
        </p:nvSpPr>
        <p:spPr>
          <a:xfrm>
            <a:off x="4672584" y="1188720"/>
            <a:ext cx="1947672" cy="685800"/>
          </a:xfrm>
          <a:prstGeom prst="roundRect">
            <a:avLst>
              <a:gd name="adj" fmla="val 21333"/>
            </a:avLst>
          </a:prstGeom>
          <a:solidFill>
            <a:srgbClr val="6C4EF5"/>
          </a:solidFill>
          <a:ln w="12700">
            <a:solidFill>
              <a:srgbClr val="6C4EF5"/>
            </a:solidFill>
            <a:prstDash val="solid"/>
          </a:ln>
        </p:spPr>
      </p:sp>
      <p:pic>
        <p:nvPicPr>
          <p:cNvPr id="18" name="Image 3" descr="preencoded.png">    </p:cNvPr>
          <p:cNvPicPr>
            <a:picLocks noChangeAspect="1"/>
          </p:cNvPicPr>
          <p:nvPr/>
        </p:nvPicPr>
        <p:blipFill>
          <a:blip r:embed="rId4"/>
          <a:stretch>
            <a:fillRect/>
          </a:stretch>
        </p:blipFill>
        <p:spPr>
          <a:xfrm>
            <a:off x="4855464" y="1367028"/>
            <a:ext cx="329184" cy="329184"/>
          </a:xfrm>
          <a:prstGeom prst="rect">
            <a:avLst/>
          </a:prstGeom>
        </p:spPr>
      </p:pic>
      <p:sp>
        <p:nvSpPr>
          <p:cNvPr id="19" name="Text 13"/>
          <p:cNvSpPr txBox="1"/>
          <p:nvPr/>
        </p:nvSpPr>
        <p:spPr>
          <a:xfrm>
            <a:off x="5294376" y="1188720"/>
            <a:ext cx="1161288"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Shelter</a:t>
            </a:r>
            <a:endParaRPr lang="en-US" sz="1600" dirty="0"/>
          </a:p>
        </p:txBody>
      </p:sp>
      <p:sp>
        <p:nvSpPr>
          <p:cNvPr id="20" name="Text 14"/>
          <p:cNvSpPr txBox="1"/>
          <p:nvPr/>
        </p:nvSpPr>
        <p:spPr>
          <a:xfrm>
            <a:off x="4837176" y="1984248"/>
            <a:ext cx="1618488" cy="1627632"/>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Space per food type</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“Full” switch, veg-only, confidential</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Handover code</a:t>
            </a:r>
            <a:endParaRPr lang="en-US" sz="1300" dirty="0"/>
          </a:p>
        </p:txBody>
      </p:sp>
      <p:sp>
        <p:nvSpPr>
          <p:cNvPr id="21" name="Shape 15"/>
          <p:cNvSpPr/>
          <p:nvPr/>
        </p:nvSpPr>
        <p:spPr>
          <a:xfrm>
            <a:off x="6803136" y="1188720"/>
            <a:ext cx="1947672" cy="2514600"/>
          </a:xfrm>
          <a:prstGeom prst="roundRect">
            <a:avLst>
              <a:gd name="adj" fmla="val 7512"/>
            </a:avLst>
          </a:prstGeom>
          <a:solidFill>
            <a:srgbClr val="EFEBFE"/>
          </a:solidFill>
          <a:ln w="12700">
            <a:solidFill>
              <a:srgbClr val="EFEBFE"/>
            </a:solidFill>
            <a:prstDash val="solid"/>
          </a:ln>
        </p:spPr>
      </p:sp>
      <p:sp>
        <p:nvSpPr>
          <p:cNvPr id="22" name="Shape 16"/>
          <p:cNvSpPr/>
          <p:nvPr/>
        </p:nvSpPr>
        <p:spPr>
          <a:xfrm>
            <a:off x="6803136" y="1188720"/>
            <a:ext cx="1947672" cy="685800"/>
          </a:xfrm>
          <a:prstGeom prst="roundRect">
            <a:avLst>
              <a:gd name="adj" fmla="val 21333"/>
            </a:avLst>
          </a:prstGeom>
          <a:solidFill>
            <a:srgbClr val="6C4EF5"/>
          </a:solidFill>
          <a:ln w="12700">
            <a:solidFill>
              <a:srgbClr val="6C4EF5"/>
            </a:solidFill>
            <a:prstDash val="solid"/>
          </a:ln>
        </p:spPr>
      </p:sp>
      <p:pic>
        <p:nvPicPr>
          <p:cNvPr id="23" name="Image 4" descr="preencoded.png">    </p:cNvPr>
          <p:cNvPicPr>
            <a:picLocks noChangeAspect="1"/>
          </p:cNvPicPr>
          <p:nvPr/>
        </p:nvPicPr>
        <p:blipFill>
          <a:blip r:embed="rId5"/>
          <a:stretch>
            <a:fillRect/>
          </a:stretch>
        </p:blipFill>
        <p:spPr>
          <a:xfrm>
            <a:off x="6986016" y="1367028"/>
            <a:ext cx="329184" cy="329184"/>
          </a:xfrm>
          <a:prstGeom prst="rect">
            <a:avLst/>
          </a:prstGeom>
        </p:spPr>
      </p:pic>
      <p:sp>
        <p:nvSpPr>
          <p:cNvPr id="24" name="Text 17"/>
          <p:cNvSpPr txBox="1"/>
          <p:nvPr/>
        </p:nvSpPr>
        <p:spPr>
          <a:xfrm>
            <a:off x="7424928" y="1188720"/>
            <a:ext cx="1161288"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Admin</a:t>
            </a:r>
            <a:endParaRPr lang="en-US" sz="1600" dirty="0"/>
          </a:p>
        </p:txBody>
      </p:sp>
      <p:sp>
        <p:nvSpPr>
          <p:cNvPr id="25" name="Text 18"/>
          <p:cNvSpPr txBox="1"/>
          <p:nvPr/>
        </p:nvSpPr>
        <p:spPr>
          <a:xfrm>
            <a:off x="6967728" y="1984248"/>
            <a:ext cx="1618488" cy="1627632"/>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Live board, urgency first</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One-click backup courier</a:t>
            </a:r>
            <a:endParaRPr lang="en-US" sz="1300" dirty="0"/>
          </a:p>
          <a:p>
            <a:pPr marL="152400" indent="-152400">
              <a:spcAft>
                <a:spcPts val="400"/>
              </a:spcAft>
              <a:buSzPct val="100000"/>
              <a:buChar char="•"/>
            </a:pPr>
            <a:r>
              <a:rPr lang="en-US" sz="1300" dirty="0">
                <a:solidFill>
                  <a:srgbClr val="161616"/>
                </a:solidFill>
                <a:latin typeface="Segoe UI" pitchFamily="34" charset="0"/>
                <a:ea typeface="Segoe UI" pitchFamily="34" charset="-122"/>
                <a:cs typeface="Segoe UI" pitchFamily="34" charset="-120"/>
              </a:rPr>
              <a:t>AI explainer · lab · system health</a:t>
            </a:r>
            <a:endParaRPr lang="en-US" sz="1300" dirty="0"/>
          </a:p>
        </p:txBody>
      </p:sp>
      <p:sp>
        <p:nvSpPr>
          <p:cNvPr id="26" name="Shape 19"/>
          <p:cNvSpPr/>
          <p:nvPr/>
        </p:nvSpPr>
        <p:spPr>
          <a:xfrm>
            <a:off x="1097280" y="3977640"/>
            <a:ext cx="6949440" cy="566928"/>
          </a:xfrm>
          <a:prstGeom prst="roundRect">
            <a:avLst>
              <a:gd name="adj" fmla="val 50000"/>
            </a:avLst>
          </a:prstGeom>
          <a:solidFill>
            <a:srgbClr val="FFFFFF"/>
          </a:solidFill>
          <a:ln w="12700">
            <a:solidFill>
              <a:srgbClr val="6C4EF5"/>
            </a:solidFill>
            <a:prstDash val="dash"/>
          </a:ln>
        </p:spPr>
      </p:sp>
      <p:pic>
        <p:nvPicPr>
          <p:cNvPr id="27" name="Image 5" descr="preencoded.png">    </p:cNvPr>
          <p:cNvPicPr>
            <a:picLocks noChangeAspect="1"/>
          </p:cNvPicPr>
          <p:nvPr/>
        </p:nvPicPr>
        <p:blipFill>
          <a:blip r:embed="rId6"/>
          <a:stretch>
            <a:fillRect/>
          </a:stretch>
        </p:blipFill>
        <p:spPr>
          <a:xfrm>
            <a:off x="1325880" y="4114800"/>
            <a:ext cx="292608" cy="292608"/>
          </a:xfrm>
          <a:prstGeom prst="rect">
            <a:avLst/>
          </a:prstGeom>
        </p:spPr>
      </p:pic>
      <p:sp>
        <p:nvSpPr>
          <p:cNvPr id="28" name="Text 20"/>
          <p:cNvSpPr txBox="1"/>
          <p:nvPr/>
        </p:nvSpPr>
        <p:spPr>
          <a:xfrm>
            <a:off x="1737360" y="3977640"/>
            <a:ext cx="6217920" cy="566928"/>
          </a:xfrm>
          <a:prstGeom prst="rect">
            <a:avLst/>
          </a:prstGeom>
          <a:noFill/>
          <a:ln/>
        </p:spPr>
        <p:txBody>
          <a:bodyPr wrap="square" lIns="0" tIns="0" rIns="0" bIns="0" rtlCol="0" anchor="ctr"/>
          <a:lstStyle/>
          <a:p>
            <a:pPr indent="0" marL="0">
              <a:buNone/>
            </a:pPr>
            <a:r>
              <a:rPr lang="en-US" sz="1150" b="1" dirty="0">
                <a:solidFill>
                  <a:srgbClr val="161616"/>
                </a:solidFill>
                <a:latin typeface="Segoe UI" pitchFamily="34" charset="0"/>
                <a:ea typeface="Segoe UI" pitchFamily="34" charset="-122"/>
                <a:cs typeface="Segoe UI" pitchFamily="34" charset="-120"/>
              </a:rPr>
              <a:t>Sign in with Google → each role sees only its part.</a:t>
            </a:r>
            <a:pPr indent="0" marL="0">
              <a:buNone/>
            </a:pPr>
            <a:r>
              <a:rPr lang="en-US" sz="1150" dirty="0">
                <a:solidFill>
                  <a:srgbClr val="161616"/>
                </a:solidFill>
                <a:latin typeface="Segoe UI" pitchFamily="34" charset="0"/>
                <a:ea typeface="Segoe UI" pitchFamily="34" charset="-122"/>
                <a:cs typeface="Segoe UI" pitchFamily="34" charset="-120"/>
              </a:rPr>
              <a:t>  Checked on every API call.</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Right Message, Right Moment</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In-app 🔔 + email for every role</a:t>
            </a:r>
            <a:endParaRPr lang="en-US" sz="1350" dirty="0"/>
          </a:p>
        </p:txBody>
      </p:sp>
      <p:sp>
        <p:nvSpPr>
          <p:cNvPr id="7" name="Shape 4"/>
          <p:cNvSpPr/>
          <p:nvPr/>
        </p:nvSpPr>
        <p:spPr>
          <a:xfrm>
            <a:off x="1645920" y="1188720"/>
            <a:ext cx="1691640" cy="365760"/>
          </a:xfrm>
          <a:prstGeom prst="roundRect">
            <a:avLst>
              <a:gd name="adj" fmla="val 50000"/>
            </a:avLst>
          </a:prstGeom>
          <a:solidFill>
            <a:srgbClr val="6C4EF5"/>
          </a:solidFill>
          <a:ln w="12700">
            <a:solidFill>
              <a:srgbClr val="6C4EF5"/>
            </a:solidFill>
            <a:prstDash val="solid"/>
          </a:ln>
        </p:spPr>
      </p:sp>
      <p:sp>
        <p:nvSpPr>
          <p:cNvPr id="8" name="Text 5"/>
          <p:cNvSpPr txBox="1"/>
          <p:nvPr/>
        </p:nvSpPr>
        <p:spPr>
          <a:xfrm>
            <a:off x="1645920" y="1188720"/>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Posted</a:t>
            </a:r>
            <a:endParaRPr lang="en-US" sz="1150" dirty="0"/>
          </a:p>
        </p:txBody>
      </p:sp>
      <p:sp>
        <p:nvSpPr>
          <p:cNvPr id="9" name="Shape 6"/>
          <p:cNvSpPr/>
          <p:nvPr/>
        </p:nvSpPr>
        <p:spPr>
          <a:xfrm>
            <a:off x="3346704" y="1371600"/>
            <a:ext cx="73152" cy="0"/>
          </a:xfrm>
          <a:prstGeom prst="line">
            <a:avLst/>
          </a:prstGeom>
          <a:noFill/>
          <a:ln w="12700">
            <a:solidFill>
              <a:srgbClr val="6C4EF5"/>
            </a:solidFill>
            <a:prstDash val="solid"/>
            <a:tailEnd type="triangle"/>
          </a:ln>
        </p:spPr>
      </p:sp>
      <p:sp>
        <p:nvSpPr>
          <p:cNvPr id="10" name="Shape 7"/>
          <p:cNvSpPr/>
          <p:nvPr/>
        </p:nvSpPr>
        <p:spPr>
          <a:xfrm>
            <a:off x="3429000" y="1188720"/>
            <a:ext cx="1691640" cy="365760"/>
          </a:xfrm>
          <a:prstGeom prst="roundRect">
            <a:avLst>
              <a:gd name="adj" fmla="val 50000"/>
            </a:avLst>
          </a:prstGeom>
          <a:solidFill>
            <a:srgbClr val="6C4EF5"/>
          </a:solidFill>
          <a:ln w="12700">
            <a:solidFill>
              <a:srgbClr val="6C4EF5"/>
            </a:solidFill>
            <a:prstDash val="solid"/>
          </a:ln>
        </p:spPr>
      </p:sp>
      <p:sp>
        <p:nvSpPr>
          <p:cNvPr id="11" name="Text 8"/>
          <p:cNvSpPr txBox="1"/>
          <p:nvPr/>
        </p:nvSpPr>
        <p:spPr>
          <a:xfrm>
            <a:off x="3429000" y="1188720"/>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Driver accepts</a:t>
            </a:r>
            <a:endParaRPr lang="en-US" sz="1150" dirty="0"/>
          </a:p>
        </p:txBody>
      </p:sp>
      <p:sp>
        <p:nvSpPr>
          <p:cNvPr id="12" name="Shape 9"/>
          <p:cNvSpPr/>
          <p:nvPr/>
        </p:nvSpPr>
        <p:spPr>
          <a:xfrm>
            <a:off x="5129784" y="1371600"/>
            <a:ext cx="73152" cy="0"/>
          </a:xfrm>
          <a:prstGeom prst="line">
            <a:avLst/>
          </a:prstGeom>
          <a:noFill/>
          <a:ln w="12700">
            <a:solidFill>
              <a:srgbClr val="6C4EF5"/>
            </a:solidFill>
            <a:prstDash val="solid"/>
            <a:tailEnd type="triangle"/>
          </a:ln>
        </p:spPr>
      </p:sp>
      <p:sp>
        <p:nvSpPr>
          <p:cNvPr id="13" name="Shape 10"/>
          <p:cNvSpPr/>
          <p:nvPr/>
        </p:nvSpPr>
        <p:spPr>
          <a:xfrm>
            <a:off x="5212080" y="1188720"/>
            <a:ext cx="1691640" cy="365760"/>
          </a:xfrm>
          <a:prstGeom prst="roundRect">
            <a:avLst>
              <a:gd name="adj" fmla="val 50000"/>
            </a:avLst>
          </a:prstGeom>
          <a:solidFill>
            <a:srgbClr val="6C4EF5"/>
          </a:solidFill>
          <a:ln w="12700">
            <a:solidFill>
              <a:srgbClr val="6C4EF5"/>
            </a:solidFill>
            <a:prstDash val="solid"/>
          </a:ln>
        </p:spPr>
      </p:sp>
      <p:sp>
        <p:nvSpPr>
          <p:cNvPr id="14" name="Text 11"/>
          <p:cNvSpPr txBox="1"/>
          <p:nvPr/>
        </p:nvSpPr>
        <p:spPr>
          <a:xfrm>
            <a:off x="5212080" y="1188720"/>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Picked up</a:t>
            </a:r>
            <a:endParaRPr lang="en-US" sz="1150" dirty="0"/>
          </a:p>
        </p:txBody>
      </p:sp>
      <p:sp>
        <p:nvSpPr>
          <p:cNvPr id="15" name="Shape 12"/>
          <p:cNvSpPr/>
          <p:nvPr/>
        </p:nvSpPr>
        <p:spPr>
          <a:xfrm>
            <a:off x="6912864" y="1371600"/>
            <a:ext cx="73152" cy="0"/>
          </a:xfrm>
          <a:prstGeom prst="line">
            <a:avLst/>
          </a:prstGeom>
          <a:noFill/>
          <a:ln w="12700">
            <a:solidFill>
              <a:srgbClr val="6C4EF5"/>
            </a:solidFill>
            <a:prstDash val="solid"/>
            <a:tailEnd type="triangle"/>
          </a:ln>
        </p:spPr>
      </p:sp>
      <p:sp>
        <p:nvSpPr>
          <p:cNvPr id="16" name="Shape 13"/>
          <p:cNvSpPr/>
          <p:nvPr/>
        </p:nvSpPr>
        <p:spPr>
          <a:xfrm>
            <a:off x="6995160" y="1188720"/>
            <a:ext cx="1691640" cy="365760"/>
          </a:xfrm>
          <a:prstGeom prst="roundRect">
            <a:avLst>
              <a:gd name="adj" fmla="val 50000"/>
            </a:avLst>
          </a:prstGeom>
          <a:solidFill>
            <a:srgbClr val="6C4EF5"/>
          </a:solidFill>
          <a:ln w="12700">
            <a:solidFill>
              <a:srgbClr val="6C4EF5"/>
            </a:solidFill>
            <a:prstDash val="solid"/>
          </a:ln>
        </p:spPr>
      </p:sp>
      <p:sp>
        <p:nvSpPr>
          <p:cNvPr id="17" name="Text 14"/>
          <p:cNvSpPr txBox="1"/>
          <p:nvPr/>
        </p:nvSpPr>
        <p:spPr>
          <a:xfrm>
            <a:off x="6995160" y="1188720"/>
            <a:ext cx="16916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Delivered</a:t>
            </a:r>
            <a:endParaRPr lang="en-US" sz="1150" dirty="0"/>
          </a:p>
        </p:txBody>
      </p:sp>
      <p:sp>
        <p:nvSpPr>
          <p:cNvPr id="18" name="Shape 15"/>
          <p:cNvSpPr/>
          <p:nvPr/>
        </p:nvSpPr>
        <p:spPr>
          <a:xfrm>
            <a:off x="411480" y="1773936"/>
            <a:ext cx="457200" cy="457200"/>
          </a:xfrm>
          <a:prstGeom prst="ellipse">
            <a:avLst/>
          </a:prstGeom>
          <a:solidFill>
            <a:srgbClr val="6C4EF5"/>
          </a:solidFill>
          <a:ln w="12700">
            <a:solidFill>
              <a:srgbClr val="6C4EF5"/>
            </a:solidFill>
            <a:prstDash val="solid"/>
          </a:ln>
        </p:spPr>
      </p:sp>
      <p:pic>
        <p:nvPicPr>
          <p:cNvPr id="19" name="Image 1" descr="preencoded.png">    </p:cNvPr>
          <p:cNvPicPr>
            <a:picLocks noChangeAspect="1"/>
          </p:cNvPicPr>
          <p:nvPr/>
        </p:nvPicPr>
        <p:blipFill>
          <a:blip r:embed="rId2"/>
          <a:stretch>
            <a:fillRect/>
          </a:stretch>
        </p:blipFill>
        <p:spPr>
          <a:xfrm>
            <a:off x="530352" y="1892808"/>
            <a:ext cx="219456" cy="219456"/>
          </a:xfrm>
          <a:prstGeom prst="rect">
            <a:avLst/>
          </a:prstGeom>
        </p:spPr>
      </p:pic>
      <p:sp>
        <p:nvSpPr>
          <p:cNvPr id="20" name="Text 16"/>
          <p:cNvSpPr txBox="1"/>
          <p:nvPr/>
        </p:nvSpPr>
        <p:spPr>
          <a:xfrm>
            <a:off x="274320" y="2249424"/>
            <a:ext cx="731520" cy="201168"/>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Donor</a:t>
            </a:r>
            <a:endParaRPr lang="en-US" sz="950" dirty="0"/>
          </a:p>
        </p:txBody>
      </p:sp>
      <p:sp>
        <p:nvSpPr>
          <p:cNvPr id="21" name="Shape 17"/>
          <p:cNvSpPr/>
          <p:nvPr/>
        </p:nvSpPr>
        <p:spPr>
          <a:xfrm>
            <a:off x="1645920" y="1645920"/>
            <a:ext cx="1691640" cy="868680"/>
          </a:xfrm>
          <a:prstGeom prst="roundRect">
            <a:avLst>
              <a:gd name="adj" fmla="val 8421"/>
            </a:avLst>
          </a:prstGeom>
          <a:solidFill>
            <a:srgbClr val="FDE2E4"/>
          </a:solidFill>
          <a:ln w="12700">
            <a:solidFill>
              <a:srgbClr val="E79AA3"/>
            </a:solidFill>
            <a:prstDash val="solid"/>
          </a:ln>
        </p:spPr>
      </p:sp>
      <p:sp>
        <p:nvSpPr>
          <p:cNvPr id="22" name="Text 18"/>
          <p:cNvSpPr txBox="1"/>
          <p:nvPr/>
        </p:nvSpPr>
        <p:spPr>
          <a:xfrm>
            <a:off x="1709928" y="1645920"/>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Posted ✓ safe until 10:44</a:t>
            </a:r>
            <a:endParaRPr lang="en-US" sz="1000" dirty="0"/>
          </a:p>
        </p:txBody>
      </p:sp>
      <p:sp>
        <p:nvSpPr>
          <p:cNvPr id="23" name="Shape 19"/>
          <p:cNvSpPr/>
          <p:nvPr/>
        </p:nvSpPr>
        <p:spPr>
          <a:xfrm>
            <a:off x="3429000" y="1645920"/>
            <a:ext cx="1691640" cy="868680"/>
          </a:xfrm>
          <a:prstGeom prst="roundRect">
            <a:avLst>
              <a:gd name="adj" fmla="val 8421"/>
            </a:avLst>
          </a:prstGeom>
          <a:solidFill>
            <a:srgbClr val="FDE2E4"/>
          </a:solidFill>
          <a:ln w="12700">
            <a:solidFill>
              <a:srgbClr val="E79AA3"/>
            </a:solidFill>
            <a:prstDash val="solid"/>
          </a:ln>
        </p:spPr>
      </p:sp>
      <p:sp>
        <p:nvSpPr>
          <p:cNvPr id="24" name="Text 20"/>
          <p:cNvSpPr txBox="1"/>
          <p:nvPr/>
        </p:nvSpPr>
        <p:spPr>
          <a:xfrm>
            <a:off x="3493008" y="1645920"/>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“Karan is coming, ~06:56”</a:t>
            </a:r>
            <a:endParaRPr lang="en-US" sz="1000" dirty="0"/>
          </a:p>
        </p:txBody>
      </p:sp>
      <p:sp>
        <p:nvSpPr>
          <p:cNvPr id="25" name="Shape 21"/>
          <p:cNvSpPr/>
          <p:nvPr/>
        </p:nvSpPr>
        <p:spPr>
          <a:xfrm>
            <a:off x="5212080" y="1645920"/>
            <a:ext cx="1691640" cy="868680"/>
          </a:xfrm>
          <a:prstGeom prst="roundRect">
            <a:avLst>
              <a:gd name="adj" fmla="val 8421"/>
            </a:avLst>
          </a:prstGeom>
          <a:solidFill>
            <a:srgbClr val="FDE2E4"/>
          </a:solidFill>
          <a:ln w="12700">
            <a:solidFill>
              <a:srgbClr val="E79AA3"/>
            </a:solidFill>
            <a:prstDash val="solid"/>
          </a:ln>
        </p:spPr>
      </p:sp>
      <p:sp>
        <p:nvSpPr>
          <p:cNvPr id="26" name="Text 22"/>
          <p:cNvSpPr txBox="1"/>
          <p:nvPr/>
        </p:nvSpPr>
        <p:spPr>
          <a:xfrm>
            <a:off x="5276088" y="1645920"/>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“On its way”</a:t>
            </a:r>
            <a:endParaRPr lang="en-US" sz="1000" dirty="0"/>
          </a:p>
        </p:txBody>
      </p:sp>
      <p:sp>
        <p:nvSpPr>
          <p:cNvPr id="27" name="Shape 23"/>
          <p:cNvSpPr/>
          <p:nvPr/>
        </p:nvSpPr>
        <p:spPr>
          <a:xfrm>
            <a:off x="6995160" y="1645920"/>
            <a:ext cx="1691640" cy="868680"/>
          </a:xfrm>
          <a:prstGeom prst="roundRect">
            <a:avLst>
              <a:gd name="adj" fmla="val 8421"/>
            </a:avLst>
          </a:prstGeom>
          <a:solidFill>
            <a:srgbClr val="FDE2E4"/>
          </a:solidFill>
          <a:ln w="12700">
            <a:solidFill>
              <a:srgbClr val="E79AA3"/>
            </a:solidFill>
            <a:prstDash val="solid"/>
          </a:ln>
        </p:spPr>
      </p:sp>
      <p:sp>
        <p:nvSpPr>
          <p:cNvPr id="28" name="Text 24"/>
          <p:cNvSpPr txBox="1"/>
          <p:nvPr/>
        </p:nvSpPr>
        <p:spPr>
          <a:xfrm>
            <a:off x="7059168" y="1645920"/>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Delivered + receipt</a:t>
            </a:r>
            <a:endParaRPr lang="en-US" sz="1000" dirty="0"/>
          </a:p>
        </p:txBody>
      </p:sp>
      <p:sp>
        <p:nvSpPr>
          <p:cNvPr id="29" name="Shape 25"/>
          <p:cNvSpPr/>
          <p:nvPr/>
        </p:nvSpPr>
        <p:spPr>
          <a:xfrm>
            <a:off x="411480" y="2752344"/>
            <a:ext cx="457200" cy="457200"/>
          </a:xfrm>
          <a:prstGeom prst="ellipse">
            <a:avLst/>
          </a:prstGeom>
          <a:solidFill>
            <a:srgbClr val="6C4EF5"/>
          </a:solidFill>
          <a:ln w="12700">
            <a:solidFill>
              <a:srgbClr val="6C4EF5"/>
            </a:solidFill>
            <a:prstDash val="solid"/>
          </a:ln>
        </p:spPr>
      </p:sp>
      <p:pic>
        <p:nvPicPr>
          <p:cNvPr id="30" name="Image 2" descr="preencoded.png">    </p:cNvPr>
          <p:cNvPicPr>
            <a:picLocks noChangeAspect="1"/>
          </p:cNvPicPr>
          <p:nvPr/>
        </p:nvPicPr>
        <p:blipFill>
          <a:blip r:embed="rId3"/>
          <a:stretch>
            <a:fillRect/>
          </a:stretch>
        </p:blipFill>
        <p:spPr>
          <a:xfrm>
            <a:off x="530352" y="2871216"/>
            <a:ext cx="219456" cy="219456"/>
          </a:xfrm>
          <a:prstGeom prst="rect">
            <a:avLst/>
          </a:prstGeom>
        </p:spPr>
      </p:pic>
      <p:sp>
        <p:nvSpPr>
          <p:cNvPr id="31" name="Text 26"/>
          <p:cNvSpPr txBox="1"/>
          <p:nvPr/>
        </p:nvSpPr>
        <p:spPr>
          <a:xfrm>
            <a:off x="274320" y="3227832"/>
            <a:ext cx="731520" cy="201168"/>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Driver</a:t>
            </a:r>
            <a:endParaRPr lang="en-US" sz="950" dirty="0"/>
          </a:p>
        </p:txBody>
      </p:sp>
      <p:sp>
        <p:nvSpPr>
          <p:cNvPr id="32" name="Shape 27"/>
          <p:cNvSpPr/>
          <p:nvPr/>
        </p:nvSpPr>
        <p:spPr>
          <a:xfrm>
            <a:off x="1645920" y="2624328"/>
            <a:ext cx="1691640" cy="868680"/>
          </a:xfrm>
          <a:prstGeom prst="roundRect">
            <a:avLst>
              <a:gd name="adj" fmla="val 8421"/>
            </a:avLst>
          </a:prstGeom>
          <a:solidFill>
            <a:srgbClr val="DCE8FD"/>
          </a:solidFill>
          <a:ln w="12700">
            <a:solidFill>
              <a:srgbClr val="8FB1EE"/>
            </a:solidFill>
            <a:prstDash val="solid"/>
          </a:ln>
        </p:spPr>
      </p:sp>
      <p:sp>
        <p:nvSpPr>
          <p:cNvPr id="33" name="Text 28"/>
          <p:cNvSpPr txBox="1"/>
          <p:nvPr/>
        </p:nvSpPr>
        <p:spPr>
          <a:xfrm>
            <a:off x="1709928" y="2624328"/>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Offer (area only)</a:t>
            </a:r>
            <a:endParaRPr lang="en-US" sz="1000" dirty="0"/>
          </a:p>
        </p:txBody>
      </p:sp>
      <p:sp>
        <p:nvSpPr>
          <p:cNvPr id="34" name="Shape 29"/>
          <p:cNvSpPr/>
          <p:nvPr/>
        </p:nvSpPr>
        <p:spPr>
          <a:xfrm>
            <a:off x="3429000" y="2624328"/>
            <a:ext cx="1691640" cy="868680"/>
          </a:xfrm>
          <a:prstGeom prst="roundRect">
            <a:avLst>
              <a:gd name="adj" fmla="val 8421"/>
            </a:avLst>
          </a:prstGeom>
          <a:solidFill>
            <a:srgbClr val="DCE8FD"/>
          </a:solidFill>
          <a:ln w="12700">
            <a:solidFill>
              <a:srgbClr val="8FB1EE"/>
            </a:solidFill>
            <a:prstDash val="solid"/>
          </a:ln>
        </p:spPr>
      </p:sp>
      <p:sp>
        <p:nvSpPr>
          <p:cNvPr id="35" name="Text 30"/>
          <p:cNvSpPr txBox="1"/>
          <p:nvPr/>
        </p:nvSpPr>
        <p:spPr>
          <a:xfrm>
            <a:off x="3493008" y="2624328"/>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Addresses + Maps links</a:t>
            </a:r>
            <a:endParaRPr lang="en-US" sz="1000" dirty="0"/>
          </a:p>
        </p:txBody>
      </p:sp>
      <p:sp>
        <p:nvSpPr>
          <p:cNvPr id="36" name="Shape 31"/>
          <p:cNvSpPr/>
          <p:nvPr/>
        </p:nvSpPr>
        <p:spPr>
          <a:xfrm>
            <a:off x="5212080" y="2624328"/>
            <a:ext cx="1691640" cy="868680"/>
          </a:xfrm>
          <a:prstGeom prst="roundRect">
            <a:avLst>
              <a:gd name="adj" fmla="val 8421"/>
            </a:avLst>
          </a:prstGeom>
          <a:solidFill>
            <a:srgbClr val="F7F7FA"/>
          </a:solidFill>
          <a:ln w="9525">
            <a:solidFill>
              <a:srgbClr val="E6E6EE"/>
            </a:solidFill>
            <a:prstDash val="dash"/>
          </a:ln>
        </p:spPr>
      </p:sp>
      <p:sp>
        <p:nvSpPr>
          <p:cNvPr id="37" name="Shape 32"/>
          <p:cNvSpPr/>
          <p:nvPr/>
        </p:nvSpPr>
        <p:spPr>
          <a:xfrm>
            <a:off x="6995160" y="2624328"/>
            <a:ext cx="1691640" cy="868680"/>
          </a:xfrm>
          <a:prstGeom prst="roundRect">
            <a:avLst>
              <a:gd name="adj" fmla="val 8421"/>
            </a:avLst>
          </a:prstGeom>
          <a:solidFill>
            <a:srgbClr val="DCE8FD"/>
          </a:solidFill>
          <a:ln w="12700">
            <a:solidFill>
              <a:srgbClr val="8FB1EE"/>
            </a:solidFill>
            <a:prstDash val="solid"/>
          </a:ln>
        </p:spPr>
      </p:sp>
      <p:sp>
        <p:nvSpPr>
          <p:cNvPr id="38" name="Text 33"/>
          <p:cNvSpPr txBox="1"/>
          <p:nvPr/>
        </p:nvSpPr>
        <p:spPr>
          <a:xfrm>
            <a:off x="7059168" y="2624328"/>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Thank-you + meals</a:t>
            </a:r>
            <a:endParaRPr lang="en-US" sz="1000" dirty="0"/>
          </a:p>
        </p:txBody>
      </p:sp>
      <p:sp>
        <p:nvSpPr>
          <p:cNvPr id="39" name="Shape 34"/>
          <p:cNvSpPr/>
          <p:nvPr/>
        </p:nvSpPr>
        <p:spPr>
          <a:xfrm>
            <a:off x="411480" y="3730752"/>
            <a:ext cx="457200" cy="457200"/>
          </a:xfrm>
          <a:prstGeom prst="ellipse">
            <a:avLst/>
          </a:prstGeom>
          <a:solidFill>
            <a:srgbClr val="6C4EF5"/>
          </a:solidFill>
          <a:ln w="12700">
            <a:solidFill>
              <a:srgbClr val="6C4EF5"/>
            </a:solidFill>
            <a:prstDash val="solid"/>
          </a:ln>
        </p:spPr>
      </p:sp>
      <p:pic>
        <p:nvPicPr>
          <p:cNvPr id="40" name="Image 3" descr="preencoded.png">    </p:cNvPr>
          <p:cNvPicPr>
            <a:picLocks noChangeAspect="1"/>
          </p:cNvPicPr>
          <p:nvPr/>
        </p:nvPicPr>
        <p:blipFill>
          <a:blip r:embed="rId4"/>
          <a:stretch>
            <a:fillRect/>
          </a:stretch>
        </p:blipFill>
        <p:spPr>
          <a:xfrm>
            <a:off x="530352" y="3849624"/>
            <a:ext cx="219456" cy="219456"/>
          </a:xfrm>
          <a:prstGeom prst="rect">
            <a:avLst/>
          </a:prstGeom>
        </p:spPr>
      </p:pic>
      <p:sp>
        <p:nvSpPr>
          <p:cNvPr id="41" name="Text 35"/>
          <p:cNvSpPr txBox="1"/>
          <p:nvPr/>
        </p:nvSpPr>
        <p:spPr>
          <a:xfrm>
            <a:off x="274320" y="4206240"/>
            <a:ext cx="731520" cy="201168"/>
          </a:xfrm>
          <a:prstGeom prst="rect">
            <a:avLst/>
          </a:prstGeom>
          <a:noFill/>
          <a:ln/>
        </p:spPr>
        <p:txBody>
          <a:bodyPr wrap="square" lIns="0" tIns="0" rIns="0" bIns="0" rtlCol="0" anchor="ctr"/>
          <a:lstStyle/>
          <a:p>
            <a:pPr algn="ctr" indent="0" marL="0">
              <a:buNone/>
            </a:pPr>
            <a:r>
              <a:rPr lang="en-US" sz="950" b="1" dirty="0">
                <a:solidFill>
                  <a:srgbClr val="161616"/>
                </a:solidFill>
                <a:latin typeface="Segoe UI" pitchFamily="34" charset="0"/>
                <a:ea typeface="Segoe UI" pitchFamily="34" charset="-122"/>
                <a:cs typeface="Segoe UI" pitchFamily="34" charset="-120"/>
              </a:rPr>
              <a:t>Shelter</a:t>
            </a:r>
            <a:endParaRPr lang="en-US" sz="950" dirty="0"/>
          </a:p>
        </p:txBody>
      </p:sp>
      <p:sp>
        <p:nvSpPr>
          <p:cNvPr id="42" name="Shape 36"/>
          <p:cNvSpPr/>
          <p:nvPr/>
        </p:nvSpPr>
        <p:spPr>
          <a:xfrm>
            <a:off x="1645920" y="3602736"/>
            <a:ext cx="1691640" cy="868680"/>
          </a:xfrm>
          <a:prstGeom prst="roundRect">
            <a:avLst>
              <a:gd name="adj" fmla="val 8421"/>
            </a:avLst>
          </a:prstGeom>
          <a:solidFill>
            <a:srgbClr val="F7F7FA"/>
          </a:solidFill>
          <a:ln w="9525">
            <a:solidFill>
              <a:srgbClr val="E6E6EE"/>
            </a:solidFill>
            <a:prstDash val="dash"/>
          </a:ln>
        </p:spPr>
      </p:sp>
      <p:sp>
        <p:nvSpPr>
          <p:cNvPr id="43" name="Shape 37"/>
          <p:cNvSpPr/>
          <p:nvPr/>
        </p:nvSpPr>
        <p:spPr>
          <a:xfrm>
            <a:off x="3429000" y="3602736"/>
            <a:ext cx="1691640" cy="868680"/>
          </a:xfrm>
          <a:prstGeom prst="roundRect">
            <a:avLst>
              <a:gd name="adj" fmla="val 8421"/>
            </a:avLst>
          </a:prstGeom>
          <a:solidFill>
            <a:srgbClr val="DDF7E6"/>
          </a:solidFill>
          <a:ln w="12700">
            <a:solidFill>
              <a:srgbClr val="86D3A2"/>
            </a:solidFill>
            <a:prstDash val="solid"/>
          </a:ln>
        </p:spPr>
      </p:sp>
      <p:sp>
        <p:nvSpPr>
          <p:cNvPr id="44" name="Text 38"/>
          <p:cNvSpPr txBox="1"/>
          <p:nvPr/>
        </p:nvSpPr>
        <p:spPr>
          <a:xfrm>
            <a:off x="3493008" y="3602736"/>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Food coming · code 4821</a:t>
            </a:r>
            <a:endParaRPr lang="en-US" sz="1000" dirty="0"/>
          </a:p>
        </p:txBody>
      </p:sp>
      <p:sp>
        <p:nvSpPr>
          <p:cNvPr id="45" name="Shape 39"/>
          <p:cNvSpPr/>
          <p:nvPr/>
        </p:nvSpPr>
        <p:spPr>
          <a:xfrm>
            <a:off x="5212080" y="3602736"/>
            <a:ext cx="1691640" cy="868680"/>
          </a:xfrm>
          <a:prstGeom prst="roundRect">
            <a:avLst>
              <a:gd name="adj" fmla="val 8421"/>
            </a:avLst>
          </a:prstGeom>
          <a:solidFill>
            <a:srgbClr val="DDF7E6"/>
          </a:solidFill>
          <a:ln w="12700">
            <a:solidFill>
              <a:srgbClr val="86D3A2"/>
            </a:solidFill>
            <a:prstDash val="solid"/>
          </a:ln>
        </p:spPr>
      </p:sp>
      <p:sp>
        <p:nvSpPr>
          <p:cNvPr id="46" name="Text 40"/>
          <p:cNvSpPr txBox="1"/>
          <p:nvPr/>
        </p:nvSpPr>
        <p:spPr>
          <a:xfrm>
            <a:off x="5276088" y="3602736"/>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On its way · code 4821</a:t>
            </a:r>
            <a:endParaRPr lang="en-US" sz="1000" dirty="0"/>
          </a:p>
        </p:txBody>
      </p:sp>
      <p:sp>
        <p:nvSpPr>
          <p:cNvPr id="47" name="Shape 41"/>
          <p:cNvSpPr/>
          <p:nvPr/>
        </p:nvSpPr>
        <p:spPr>
          <a:xfrm>
            <a:off x="6995160" y="3602736"/>
            <a:ext cx="1691640" cy="868680"/>
          </a:xfrm>
          <a:prstGeom prst="roundRect">
            <a:avLst>
              <a:gd name="adj" fmla="val 8421"/>
            </a:avLst>
          </a:prstGeom>
          <a:solidFill>
            <a:srgbClr val="DDF7E6"/>
          </a:solidFill>
          <a:ln w="12700">
            <a:solidFill>
              <a:srgbClr val="86D3A2"/>
            </a:solidFill>
            <a:prstDash val="solid"/>
          </a:ln>
        </p:spPr>
      </p:sp>
      <p:sp>
        <p:nvSpPr>
          <p:cNvPr id="48" name="Text 42"/>
          <p:cNvSpPr txBox="1"/>
          <p:nvPr/>
        </p:nvSpPr>
        <p:spPr>
          <a:xfrm>
            <a:off x="7059168" y="3602736"/>
            <a:ext cx="1563624" cy="868680"/>
          </a:xfrm>
          <a:prstGeom prst="rect">
            <a:avLst/>
          </a:prstGeom>
          <a:noFill/>
          <a:ln/>
        </p:spPr>
        <p:txBody>
          <a:bodyPr wrap="square" lIns="0" tIns="0" rIns="0" bIns="0" rtlCol="0" anchor="ctr"/>
          <a:lstStyle/>
          <a:p>
            <a:pPr algn="ctr" indent="0" marL="0">
              <a:buNone/>
            </a:pPr>
            <a:r>
              <a:rPr lang="en-US" sz="1000" dirty="0">
                <a:solidFill>
                  <a:srgbClr val="161616"/>
                </a:solidFill>
                <a:latin typeface="Segoe UI" pitchFamily="34" charset="0"/>
                <a:ea typeface="Segoe UI" pitchFamily="34" charset="-122"/>
                <a:cs typeface="Segoe UI" pitchFamily="34" charset="-120"/>
              </a:rPr>
              <a:t>Handover confirmed</a:t>
            </a:r>
            <a:endParaRPr lang="en-US" sz="1000" dirty="0"/>
          </a:p>
        </p:txBody>
      </p:sp>
      <p:sp>
        <p:nvSpPr>
          <p:cNvPr id="49" name="Text 43"/>
          <p:cNvSpPr txBox="1"/>
          <p:nvPr/>
        </p:nvSpPr>
        <p:spPr>
          <a:xfrm>
            <a:off x="365760" y="4590288"/>
            <a:ext cx="8412480" cy="274320"/>
          </a:xfrm>
          <a:prstGeom prst="rect">
            <a:avLst/>
          </a:prstGeom>
          <a:noFill/>
          <a:ln/>
        </p:spPr>
        <p:txBody>
          <a:bodyPr wrap="square" lIns="0" tIns="0" rIns="0" bIns="0" rtlCol="0" anchor="ctr"/>
          <a:lstStyle/>
          <a:p>
            <a:pPr algn="ctr" indent="0" marL="0">
              <a:buNone/>
            </a:pPr>
            <a:r>
              <a:rPr lang="en-US" sz="1000" i="1" dirty="0">
                <a:solidFill>
                  <a:srgbClr val="7A7A85"/>
                </a:solidFill>
                <a:latin typeface="Segoe UI" pitchFamily="34" charset="0"/>
                <a:ea typeface="Segoe UI" pitchFamily="34" charset="-122"/>
                <a:cs typeface="Segoe UI" pitchFamily="34" charset="-120"/>
              </a:rPr>
              <a:t>The handover code goes only to the shelter  ·  confidential shelters are never revealed  ·  each person chooses their email settings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Results</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30 held-out nights of real Bengaluru data (simulated)</a:t>
            </a:r>
            <a:endParaRPr lang="en-US" sz="1350" dirty="0"/>
          </a:p>
        </p:txBody>
      </p:sp>
      <p:graphicFrame>
        <p:nvGraphicFramePr>
          <p:cNvPr id="7" name="Chart 0" descr=""/>
          <p:cNvGraphicFramePr/>
          <p:nvPr/>
        </p:nvGraphicFramePr>
        <p:xfrm>
          <a:off x="320040" y="1188720"/>
          <a:ext cx="3657600"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1" descr=""/>
          <p:cNvGraphicFramePr/>
          <p:nvPr/>
        </p:nvGraphicFramePr>
        <p:xfrm>
          <a:off x="4023360" y="1188720"/>
          <a:ext cx="3657600" cy="2743200"/>
        </p:xfrm>
        <a:graphic xmlns:a="http://schemas.openxmlformats.org/drawingml/2006/main">
          <a:graphicData uri="http://schemas.openxmlformats.org/drawingml/2006/chart">
            <c:chart xmlns:c="http://schemas.openxmlformats.org/drawingml/2006/chart" r:id="rId3"/>
          </a:graphicData>
        </a:graphic>
      </p:graphicFrame>
      <p:sp>
        <p:nvSpPr>
          <p:cNvPr id="9" name="Shape 4"/>
          <p:cNvSpPr/>
          <p:nvPr/>
        </p:nvSpPr>
        <p:spPr>
          <a:xfrm>
            <a:off x="7818120" y="1234440"/>
            <a:ext cx="1051560" cy="822960"/>
          </a:xfrm>
          <a:prstGeom prst="roundRect">
            <a:avLst>
              <a:gd name="adj" fmla="val 13333"/>
            </a:avLst>
          </a:prstGeom>
          <a:solidFill>
            <a:srgbClr val="6C4EF5"/>
          </a:solidFill>
          <a:ln w="12700">
            <a:solidFill>
              <a:srgbClr val="6C4EF5"/>
            </a:solidFill>
            <a:prstDash val="solid"/>
          </a:ln>
        </p:spPr>
      </p:sp>
      <p:sp>
        <p:nvSpPr>
          <p:cNvPr id="10" name="Text 5"/>
          <p:cNvSpPr txBox="1"/>
          <p:nvPr/>
        </p:nvSpPr>
        <p:spPr>
          <a:xfrm>
            <a:off x="7818120" y="1280160"/>
            <a:ext cx="10515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−91%</a:t>
            </a:r>
            <a:endParaRPr lang="en-US" sz="1800" dirty="0"/>
          </a:p>
        </p:txBody>
      </p:sp>
      <p:sp>
        <p:nvSpPr>
          <p:cNvPr id="11" name="Text 6"/>
          <p:cNvSpPr txBox="1"/>
          <p:nvPr/>
        </p:nvSpPr>
        <p:spPr>
          <a:xfrm>
            <a:off x="7818120" y="1645920"/>
            <a:ext cx="1051560" cy="365760"/>
          </a:xfrm>
          <a:prstGeom prst="rect">
            <a:avLst/>
          </a:prstGeom>
          <a:noFill/>
          <a:ln/>
        </p:spPr>
        <p:txBody>
          <a:bodyPr wrap="square" lIns="0" tIns="0" rIns="0" bIns="0" rtlCol="0" anchor="ctr"/>
          <a:lstStyle/>
          <a:p>
            <a:pPr algn="ctr" indent="0" marL="0">
              <a:buNone/>
            </a:pPr>
            <a:r>
              <a:rPr lang="en-US" sz="800" dirty="0">
                <a:solidFill>
                  <a:srgbClr val="FFFFFF"/>
                </a:solidFill>
                <a:latin typeface="Segoe UI" pitchFamily="34" charset="0"/>
                <a:ea typeface="Segoe UI" pitchFamily="34" charset="-122"/>
                <a:cs typeface="Segoe UI" pitchFamily="34" charset="-120"/>
              </a:rPr>
              <a:t>pings vs</a:t>
            </a:r>
            <a:endParaRPr lang="en-US" sz="800" dirty="0"/>
          </a:p>
          <a:p>
            <a:pPr algn="ctr" indent="0" marL="0">
              <a:buNone/>
            </a:pPr>
            <a:r>
              <a:rPr lang="en-US" sz="800" dirty="0">
                <a:solidFill>
                  <a:srgbClr val="FFFFFF"/>
                </a:solidFill>
                <a:latin typeface="Segoe UI" pitchFamily="34" charset="0"/>
                <a:ea typeface="Segoe UI" pitchFamily="34" charset="-122"/>
                <a:cs typeface="Segoe UI" pitchFamily="34" charset="-120"/>
              </a:rPr>
              <a:t>broadcast</a:t>
            </a:r>
            <a:endParaRPr lang="en-US" sz="800" dirty="0"/>
          </a:p>
        </p:txBody>
      </p:sp>
      <p:sp>
        <p:nvSpPr>
          <p:cNvPr id="12" name="Shape 7"/>
          <p:cNvSpPr/>
          <p:nvPr/>
        </p:nvSpPr>
        <p:spPr>
          <a:xfrm>
            <a:off x="7818120" y="2167128"/>
            <a:ext cx="1051560" cy="822960"/>
          </a:xfrm>
          <a:prstGeom prst="roundRect">
            <a:avLst>
              <a:gd name="adj" fmla="val 13333"/>
            </a:avLst>
          </a:prstGeom>
          <a:solidFill>
            <a:srgbClr val="EFEBFE"/>
          </a:solidFill>
          <a:ln w="12700">
            <a:solidFill>
              <a:srgbClr val="EFEBFE"/>
            </a:solidFill>
            <a:prstDash val="solid"/>
          </a:ln>
        </p:spPr>
      </p:sp>
      <p:sp>
        <p:nvSpPr>
          <p:cNvPr id="13" name="Text 8"/>
          <p:cNvSpPr txBox="1"/>
          <p:nvPr/>
        </p:nvSpPr>
        <p:spPr>
          <a:xfrm>
            <a:off x="7818120" y="2212848"/>
            <a:ext cx="1051560" cy="384048"/>
          </a:xfrm>
          <a:prstGeom prst="rect">
            <a:avLst/>
          </a:prstGeom>
          <a:noFill/>
          <a:ln/>
        </p:spPr>
        <p:txBody>
          <a:bodyPr wrap="square" lIns="0" tIns="0" rIns="0" bIns="0" rtlCol="0" anchor="ctr"/>
          <a:lstStyle/>
          <a:p>
            <a:pPr algn="ctr" indent="0" marL="0">
              <a:buNone/>
            </a:pPr>
            <a:r>
              <a:rPr lang="en-US" sz="1800" b="1" dirty="0">
                <a:solidFill>
                  <a:srgbClr val="6C4EF5"/>
                </a:solidFill>
                <a:latin typeface="Segoe UI" pitchFamily="34" charset="0"/>
                <a:ea typeface="Segoe UI" pitchFamily="34" charset="-122"/>
                <a:cs typeface="Segoe UI" pitchFamily="34" charset="-120"/>
              </a:rPr>
              <a:t>+13 pts</a:t>
            </a:r>
            <a:endParaRPr lang="en-US" sz="1800" dirty="0"/>
          </a:p>
        </p:txBody>
      </p:sp>
      <p:sp>
        <p:nvSpPr>
          <p:cNvPr id="14" name="Text 9"/>
          <p:cNvSpPr txBox="1"/>
          <p:nvPr/>
        </p:nvSpPr>
        <p:spPr>
          <a:xfrm>
            <a:off x="7818120" y="2578608"/>
            <a:ext cx="1051560" cy="365760"/>
          </a:xfrm>
          <a:prstGeom prst="rect">
            <a:avLst/>
          </a:prstGeom>
          <a:noFill/>
          <a:ln/>
        </p:spPr>
        <p:txBody>
          <a:bodyPr wrap="square" lIns="0" tIns="0" rIns="0" bIns="0" rtlCol="0" anchor="ctr"/>
          <a:lstStyle/>
          <a:p>
            <a:pPr algn="ctr" indent="0" marL="0">
              <a:buNone/>
            </a:pPr>
            <a:r>
              <a:rPr lang="en-US" sz="800" dirty="0">
                <a:solidFill>
                  <a:srgbClr val="5B5B66"/>
                </a:solidFill>
                <a:latin typeface="Segoe UI" pitchFamily="34" charset="0"/>
                <a:ea typeface="Segoe UI" pitchFamily="34" charset="-122"/>
                <a:cs typeface="Segoe UI" pitchFamily="34" charset="-120"/>
              </a:rPr>
              <a:t>food rescued</a:t>
            </a:r>
            <a:endParaRPr lang="en-US" sz="800" dirty="0"/>
          </a:p>
          <a:p>
            <a:pPr algn="ctr" indent="0" marL="0">
              <a:buNone/>
            </a:pPr>
            <a:r>
              <a:rPr lang="en-US" sz="800" dirty="0">
                <a:solidFill>
                  <a:srgbClr val="5B5B66"/>
                </a:solidFill>
                <a:latin typeface="Segoe UI" pitchFamily="34" charset="0"/>
                <a:ea typeface="Segoe UI" pitchFamily="34" charset="-122"/>
                <a:cs typeface="Segoe UI" pitchFamily="34" charset="-120"/>
              </a:rPr>
              <a:t>vs broadcast</a:t>
            </a:r>
            <a:endParaRPr lang="en-US" sz="800" dirty="0"/>
          </a:p>
        </p:txBody>
      </p:sp>
      <p:sp>
        <p:nvSpPr>
          <p:cNvPr id="15" name="Shape 10"/>
          <p:cNvSpPr/>
          <p:nvPr/>
        </p:nvSpPr>
        <p:spPr>
          <a:xfrm>
            <a:off x="7818120" y="3099816"/>
            <a:ext cx="1051560" cy="822960"/>
          </a:xfrm>
          <a:prstGeom prst="roundRect">
            <a:avLst>
              <a:gd name="adj" fmla="val 13333"/>
            </a:avLst>
          </a:prstGeom>
          <a:solidFill>
            <a:srgbClr val="EFEBFE"/>
          </a:solidFill>
          <a:ln w="12700">
            <a:solidFill>
              <a:srgbClr val="EFEBFE"/>
            </a:solidFill>
            <a:prstDash val="solid"/>
          </a:ln>
        </p:spPr>
      </p:sp>
      <p:sp>
        <p:nvSpPr>
          <p:cNvPr id="16" name="Text 11"/>
          <p:cNvSpPr txBox="1"/>
          <p:nvPr/>
        </p:nvSpPr>
        <p:spPr>
          <a:xfrm>
            <a:off x="7818120" y="3145536"/>
            <a:ext cx="1051560" cy="384048"/>
          </a:xfrm>
          <a:prstGeom prst="rect">
            <a:avLst/>
          </a:prstGeom>
          <a:noFill/>
          <a:ln/>
        </p:spPr>
        <p:txBody>
          <a:bodyPr wrap="square" lIns="0" tIns="0" rIns="0" bIns="0" rtlCol="0" anchor="ctr"/>
          <a:lstStyle/>
          <a:p>
            <a:pPr algn="ctr" indent="0" marL="0">
              <a:buNone/>
            </a:pPr>
            <a:r>
              <a:rPr lang="en-US" sz="1800" b="1" dirty="0">
                <a:solidFill>
                  <a:srgbClr val="6C4EF5"/>
                </a:solidFill>
                <a:latin typeface="Segoe UI" pitchFamily="34" charset="0"/>
                <a:ea typeface="Segoe UI" pitchFamily="34" charset="-122"/>
                <a:cs typeface="Segoe UI" pitchFamily="34" charset="-120"/>
              </a:rPr>
              <a:t>0</a:t>
            </a:r>
            <a:endParaRPr lang="en-US" sz="1800" dirty="0"/>
          </a:p>
        </p:txBody>
      </p:sp>
      <p:sp>
        <p:nvSpPr>
          <p:cNvPr id="17" name="Text 12"/>
          <p:cNvSpPr txBox="1"/>
          <p:nvPr/>
        </p:nvSpPr>
        <p:spPr>
          <a:xfrm>
            <a:off x="7818120" y="3511296"/>
            <a:ext cx="1051560" cy="365760"/>
          </a:xfrm>
          <a:prstGeom prst="rect">
            <a:avLst/>
          </a:prstGeom>
          <a:noFill/>
          <a:ln/>
        </p:spPr>
        <p:txBody>
          <a:bodyPr wrap="square" lIns="0" tIns="0" rIns="0" bIns="0" rtlCol="0" anchor="ctr"/>
          <a:lstStyle/>
          <a:p>
            <a:pPr algn="ctr" indent="0" marL="0">
              <a:buNone/>
            </a:pPr>
            <a:r>
              <a:rPr lang="en-US" sz="800" dirty="0">
                <a:solidFill>
                  <a:srgbClr val="5B5B66"/>
                </a:solidFill>
                <a:latin typeface="Segoe UI" pitchFamily="34" charset="0"/>
                <a:ea typeface="Segoe UI" pitchFamily="34" charset="-122"/>
                <a:cs typeface="Segoe UI" pitchFamily="34" charset="-120"/>
              </a:rPr>
              <a:t>food-safety</a:t>
            </a:r>
            <a:endParaRPr lang="en-US" sz="800" dirty="0"/>
          </a:p>
          <a:p>
            <a:pPr algn="ctr" indent="0" marL="0">
              <a:buNone/>
            </a:pPr>
            <a:r>
              <a:rPr lang="en-US" sz="800" dirty="0">
                <a:solidFill>
                  <a:srgbClr val="5B5B66"/>
                </a:solidFill>
                <a:latin typeface="Segoe UI" pitchFamily="34" charset="0"/>
                <a:ea typeface="Segoe UI" pitchFamily="34" charset="-122"/>
                <a:cs typeface="Segoe UI" pitchFamily="34" charset="-120"/>
              </a:rPr>
              <a:t>violations</a:t>
            </a:r>
            <a:endParaRPr lang="en-US" sz="800" dirty="0"/>
          </a:p>
        </p:txBody>
      </p:sp>
      <p:sp>
        <p:nvSpPr>
          <p:cNvPr id="18" name="Text 13"/>
          <p:cNvSpPr txBox="1"/>
          <p:nvPr/>
        </p:nvSpPr>
        <p:spPr>
          <a:xfrm>
            <a:off x="365760" y="4114800"/>
            <a:ext cx="8412480" cy="502920"/>
          </a:xfrm>
          <a:prstGeom prst="rect">
            <a:avLst/>
          </a:prstGeom>
          <a:noFill/>
          <a:ln/>
        </p:spPr>
        <p:txBody>
          <a:bodyPr wrap="square" lIns="0" tIns="0" rIns="0" bIns="0" rtlCol="0" anchor="ctr"/>
          <a:lstStyle/>
          <a:p>
            <a:pPr algn="ctr" indent="0" marL="0">
              <a:buNone/>
            </a:pPr>
            <a:r>
              <a:rPr lang="en-US" sz="1050" dirty="0">
                <a:solidFill>
                  <a:srgbClr val="161616"/>
                </a:solidFill>
                <a:latin typeface="Segoe UI" pitchFamily="34" charset="0"/>
                <a:ea typeface="Segoe UI" pitchFamily="34" charset="-122"/>
                <a:cs typeface="Segoe UI" pitchFamily="34" charset="-120"/>
              </a:rPr>
              <a:t>RL halved pings vs our rules-only planner (25.0 → 12.7).  The static rule rescues 3.9 pts more food but pings 5× as much: a burnout trade-off you can tune.</a:t>
            </a:r>
            <a:endParaRPr lang="en-US" sz="1050" dirty="0"/>
          </a:p>
        </p:txBody>
      </p:sp>
      <p:sp>
        <p:nvSpPr>
          <p:cNvPr id="19" name="Text 14"/>
          <p:cNvSpPr txBox="1"/>
          <p:nvPr/>
        </p:nvSpPr>
        <p:spPr>
          <a:xfrm>
            <a:off x="365760" y="4617720"/>
            <a:ext cx="8412480" cy="256032"/>
          </a:xfrm>
          <a:prstGeom prst="rect">
            <a:avLst/>
          </a:prstGeom>
          <a:noFill/>
          <a:ln/>
        </p:spPr>
        <p:txBody>
          <a:bodyPr wrap="square" lIns="0" tIns="0" rIns="0" bIns="0" rtlCol="0" anchor="ctr"/>
          <a:lstStyle/>
          <a:p>
            <a:pPr algn="ctr" indent="0" marL="0">
              <a:buNone/>
            </a:pPr>
            <a:r>
              <a:rPr lang="en-US" sz="900" i="1" dirty="0">
                <a:solidFill>
                  <a:srgbClr val="7A7A85"/>
                </a:solidFill>
                <a:latin typeface="Segoe UI" pitchFamily="34" charset="0"/>
                <a:ea typeface="Segoe UI" pitchFamily="34" charset="-122"/>
                <a:cs typeface="Segoe UI" pitchFamily="34" charset="-120"/>
              </a:rPr>
              <a:t>Simulated, not a field result. The simulator replays the dataset's real donations, drivers and shelters.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Model Quality</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Small, calibrated models that run on a free server</a:t>
            </a:r>
            <a:endParaRPr lang="en-US" sz="1350" dirty="0"/>
          </a:p>
        </p:txBody>
      </p:sp>
      <p:sp>
        <p:nvSpPr>
          <p:cNvPr id="7" name="Shape 4"/>
          <p:cNvSpPr/>
          <p:nvPr/>
        </p:nvSpPr>
        <p:spPr>
          <a:xfrm>
            <a:off x="365760" y="1234440"/>
            <a:ext cx="1828800" cy="1508760"/>
          </a:xfrm>
          <a:prstGeom prst="roundRect">
            <a:avLst>
              <a:gd name="adj" fmla="val 8485"/>
            </a:avLst>
          </a:prstGeom>
          <a:solidFill>
            <a:srgbClr val="EFEBFE"/>
          </a:solidFill>
          <a:ln w="12700">
            <a:solidFill>
              <a:srgbClr val="EFEBFE"/>
            </a:solidFill>
            <a:prstDash val="solid"/>
          </a:ln>
        </p:spPr>
      </p:sp>
      <p:sp>
        <p:nvSpPr>
          <p:cNvPr id="8" name="Text 5"/>
          <p:cNvSpPr txBox="1"/>
          <p:nvPr/>
        </p:nvSpPr>
        <p:spPr>
          <a:xfrm>
            <a:off x="365760" y="1344168"/>
            <a:ext cx="1828800" cy="566928"/>
          </a:xfrm>
          <a:prstGeom prst="rect">
            <a:avLst/>
          </a:prstGeom>
          <a:noFill/>
          <a:ln/>
        </p:spPr>
        <p:txBody>
          <a:bodyPr wrap="square" lIns="0" tIns="0" rIns="0" bIns="0" rtlCol="0" anchor="ctr"/>
          <a:lstStyle/>
          <a:p>
            <a:pPr algn="ctr" indent="0" marL="0">
              <a:buNone/>
            </a:pPr>
            <a:r>
              <a:rPr lang="en-US" sz="2800" b="1" dirty="0">
                <a:solidFill>
                  <a:srgbClr val="6C4EF5"/>
                </a:solidFill>
                <a:latin typeface="Segoe UI" pitchFamily="34" charset="0"/>
                <a:ea typeface="Segoe UI" pitchFamily="34" charset="-122"/>
                <a:cs typeface="Segoe UI" pitchFamily="34" charset="-120"/>
              </a:rPr>
              <a:t>0.786</a:t>
            </a:r>
            <a:endParaRPr lang="en-US" sz="2800" dirty="0"/>
          </a:p>
        </p:txBody>
      </p:sp>
      <p:sp>
        <p:nvSpPr>
          <p:cNvPr id="9" name="Text 6"/>
          <p:cNvSpPr txBox="1"/>
          <p:nvPr/>
        </p:nvSpPr>
        <p:spPr>
          <a:xfrm>
            <a:off x="457200" y="1947672"/>
            <a:ext cx="1645920" cy="36576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AUC acceptance model</a:t>
            </a:r>
            <a:endParaRPr lang="en-US" sz="1050" dirty="0"/>
          </a:p>
        </p:txBody>
      </p:sp>
      <p:sp>
        <p:nvSpPr>
          <p:cNvPr id="10" name="Text 7"/>
          <p:cNvSpPr txBox="1"/>
          <p:nvPr/>
        </p:nvSpPr>
        <p:spPr>
          <a:xfrm>
            <a:off x="457200" y="2295144"/>
            <a:ext cx="1645920" cy="320040"/>
          </a:xfrm>
          <a:prstGeom prst="rect">
            <a:avLst/>
          </a:prstGeom>
          <a:noFill/>
          <a:ln/>
        </p:spPr>
        <p:txBody>
          <a:bodyPr wrap="square" lIns="0" tIns="0" rIns="0" bIns="0" rtlCol="0" anchor="ctr"/>
          <a:lstStyle/>
          <a:p>
            <a:pPr algn="ctr" indent="0" marL="0">
              <a:buNone/>
            </a:pPr>
            <a:r>
              <a:rPr lang="en-US" sz="900" dirty="0">
                <a:solidFill>
                  <a:srgbClr val="5B5B66"/>
                </a:solidFill>
                <a:latin typeface="Segoe UI" pitchFamily="34" charset="0"/>
                <a:ea typeface="Segoe UI" pitchFamily="34" charset="-122"/>
                <a:cs typeface="Segoe UI" pitchFamily="34" charset="-120"/>
              </a:rPr>
              <a:t>oracle ceiling 0.787</a:t>
            </a:r>
            <a:endParaRPr lang="en-US" sz="900" dirty="0"/>
          </a:p>
        </p:txBody>
      </p:sp>
      <p:sp>
        <p:nvSpPr>
          <p:cNvPr id="11" name="Shape 8"/>
          <p:cNvSpPr/>
          <p:nvPr/>
        </p:nvSpPr>
        <p:spPr>
          <a:xfrm>
            <a:off x="2377440" y="1234440"/>
            <a:ext cx="1828800" cy="1508760"/>
          </a:xfrm>
          <a:prstGeom prst="roundRect">
            <a:avLst>
              <a:gd name="adj" fmla="val 8485"/>
            </a:avLst>
          </a:prstGeom>
          <a:solidFill>
            <a:srgbClr val="EFEBFE"/>
          </a:solidFill>
          <a:ln w="12700">
            <a:solidFill>
              <a:srgbClr val="EFEBFE"/>
            </a:solidFill>
            <a:prstDash val="solid"/>
          </a:ln>
        </p:spPr>
      </p:sp>
      <p:sp>
        <p:nvSpPr>
          <p:cNvPr id="12" name="Text 9"/>
          <p:cNvSpPr txBox="1"/>
          <p:nvPr/>
        </p:nvSpPr>
        <p:spPr>
          <a:xfrm>
            <a:off x="2377440" y="1344168"/>
            <a:ext cx="1828800" cy="566928"/>
          </a:xfrm>
          <a:prstGeom prst="rect">
            <a:avLst/>
          </a:prstGeom>
          <a:noFill/>
          <a:ln/>
        </p:spPr>
        <p:txBody>
          <a:bodyPr wrap="square" lIns="0" tIns="0" rIns="0" bIns="0" rtlCol="0" anchor="ctr"/>
          <a:lstStyle/>
          <a:p>
            <a:pPr algn="ctr" indent="0" marL="0">
              <a:buNone/>
            </a:pPr>
            <a:r>
              <a:rPr lang="en-US" sz="2800" b="1" dirty="0">
                <a:solidFill>
                  <a:srgbClr val="6C4EF5"/>
                </a:solidFill>
                <a:latin typeface="Segoe UI" pitchFamily="34" charset="0"/>
                <a:ea typeface="Segoe UI" pitchFamily="34" charset="-122"/>
                <a:cs typeface="Segoe UI" pitchFamily="34" charset="-120"/>
              </a:rPr>
              <a:t>0.005</a:t>
            </a:r>
            <a:endParaRPr lang="en-US" sz="2800" dirty="0"/>
          </a:p>
        </p:txBody>
      </p:sp>
      <p:sp>
        <p:nvSpPr>
          <p:cNvPr id="13" name="Text 10"/>
          <p:cNvSpPr txBox="1"/>
          <p:nvPr/>
        </p:nvSpPr>
        <p:spPr>
          <a:xfrm>
            <a:off x="2468880" y="1947672"/>
            <a:ext cx="1645920" cy="36576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calibration error (ECE)</a:t>
            </a:r>
            <a:endParaRPr lang="en-US" sz="1050" dirty="0"/>
          </a:p>
        </p:txBody>
      </p:sp>
      <p:sp>
        <p:nvSpPr>
          <p:cNvPr id="14" name="Text 11"/>
          <p:cNvSpPr txBox="1"/>
          <p:nvPr/>
        </p:nvSpPr>
        <p:spPr>
          <a:xfrm>
            <a:off x="2468880" y="2295144"/>
            <a:ext cx="1645920" cy="320040"/>
          </a:xfrm>
          <a:prstGeom prst="rect">
            <a:avLst/>
          </a:prstGeom>
          <a:noFill/>
          <a:ln/>
        </p:spPr>
        <p:txBody>
          <a:bodyPr wrap="square" lIns="0" tIns="0" rIns="0" bIns="0" rtlCol="0" anchor="ctr"/>
          <a:lstStyle/>
          <a:p>
            <a:pPr algn="ctr" indent="0" marL="0">
              <a:buNone/>
            </a:pPr>
            <a:r>
              <a:rPr lang="en-US" sz="900" dirty="0">
                <a:solidFill>
                  <a:srgbClr val="5B5B66"/>
                </a:solidFill>
                <a:latin typeface="Segoe UI" pitchFamily="34" charset="0"/>
                <a:ea typeface="Segoe UI" pitchFamily="34" charset="-122"/>
                <a:cs typeface="Segoe UI" pitchFamily="34" charset="-120"/>
              </a:rPr>
              <a:t>says 30% → ~30% say yes</a:t>
            </a:r>
            <a:endParaRPr lang="en-US" sz="900" dirty="0"/>
          </a:p>
        </p:txBody>
      </p:sp>
      <p:sp>
        <p:nvSpPr>
          <p:cNvPr id="15" name="Shape 12"/>
          <p:cNvSpPr/>
          <p:nvPr/>
        </p:nvSpPr>
        <p:spPr>
          <a:xfrm>
            <a:off x="365760" y="2926080"/>
            <a:ext cx="1828800" cy="1508760"/>
          </a:xfrm>
          <a:prstGeom prst="roundRect">
            <a:avLst>
              <a:gd name="adj" fmla="val 8485"/>
            </a:avLst>
          </a:prstGeom>
          <a:solidFill>
            <a:srgbClr val="EFEBFE"/>
          </a:solidFill>
          <a:ln w="12700">
            <a:solidFill>
              <a:srgbClr val="EFEBFE"/>
            </a:solidFill>
            <a:prstDash val="solid"/>
          </a:ln>
        </p:spPr>
      </p:sp>
      <p:sp>
        <p:nvSpPr>
          <p:cNvPr id="16" name="Text 13"/>
          <p:cNvSpPr txBox="1"/>
          <p:nvPr/>
        </p:nvSpPr>
        <p:spPr>
          <a:xfrm>
            <a:off x="365760" y="3035808"/>
            <a:ext cx="1828800" cy="566928"/>
          </a:xfrm>
          <a:prstGeom prst="rect">
            <a:avLst/>
          </a:prstGeom>
          <a:noFill/>
          <a:ln/>
        </p:spPr>
        <p:txBody>
          <a:bodyPr wrap="square" lIns="0" tIns="0" rIns="0" bIns="0" rtlCol="0" anchor="ctr"/>
          <a:lstStyle/>
          <a:p>
            <a:pPr algn="ctr" indent="0" marL="0">
              <a:buNone/>
            </a:pPr>
            <a:r>
              <a:rPr lang="en-US" sz="2800" b="1" dirty="0">
                <a:solidFill>
                  <a:srgbClr val="6C4EF5"/>
                </a:solidFill>
                <a:latin typeface="Segoe UI" pitchFamily="34" charset="0"/>
                <a:ea typeface="Segoe UI" pitchFamily="34" charset="-122"/>
                <a:cs typeface="Segoe UI" pitchFamily="34" charset="-120"/>
              </a:rPr>
              <a:t>70%</a:t>
            </a:r>
            <a:endParaRPr lang="en-US" sz="2800" dirty="0"/>
          </a:p>
        </p:txBody>
      </p:sp>
      <p:sp>
        <p:nvSpPr>
          <p:cNvPr id="17" name="Text 14"/>
          <p:cNvSpPr txBox="1"/>
          <p:nvPr/>
        </p:nvSpPr>
        <p:spPr>
          <a:xfrm>
            <a:off x="457200" y="3639312"/>
            <a:ext cx="1645920" cy="36576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behaviour-cloning accuracy</a:t>
            </a:r>
            <a:endParaRPr lang="en-US" sz="1050" dirty="0"/>
          </a:p>
        </p:txBody>
      </p:sp>
      <p:sp>
        <p:nvSpPr>
          <p:cNvPr id="18" name="Text 15"/>
          <p:cNvSpPr txBox="1"/>
          <p:nvPr/>
        </p:nvSpPr>
        <p:spPr>
          <a:xfrm>
            <a:off x="457200" y="3986784"/>
            <a:ext cx="1645920" cy="320040"/>
          </a:xfrm>
          <a:prstGeom prst="rect">
            <a:avLst/>
          </a:prstGeom>
          <a:noFill/>
          <a:ln/>
        </p:spPr>
        <p:txBody>
          <a:bodyPr wrap="square" lIns="0" tIns="0" rIns="0" bIns="0" rtlCol="0" anchor="ctr"/>
          <a:lstStyle/>
          <a:p>
            <a:pPr algn="ctr" indent="0" marL="0">
              <a:buNone/>
            </a:pPr>
            <a:r>
              <a:rPr lang="en-US" sz="900" dirty="0">
                <a:solidFill>
                  <a:srgbClr val="5B5B66"/>
                </a:solidFill>
                <a:latin typeface="Segoe UI" pitchFamily="34" charset="0"/>
                <a:ea typeface="Segoe UI" pitchFamily="34" charset="-122"/>
                <a:cs typeface="Segoe UI" pitchFamily="34" charset="-120"/>
              </a:rPr>
              <a:t>vs 43% majority baseline</a:t>
            </a:r>
            <a:endParaRPr lang="en-US" sz="900" dirty="0"/>
          </a:p>
        </p:txBody>
      </p:sp>
      <p:sp>
        <p:nvSpPr>
          <p:cNvPr id="19" name="Shape 16"/>
          <p:cNvSpPr/>
          <p:nvPr/>
        </p:nvSpPr>
        <p:spPr>
          <a:xfrm>
            <a:off x="2377440" y="2926080"/>
            <a:ext cx="1828800" cy="1508760"/>
          </a:xfrm>
          <a:prstGeom prst="roundRect">
            <a:avLst>
              <a:gd name="adj" fmla="val 8485"/>
            </a:avLst>
          </a:prstGeom>
          <a:solidFill>
            <a:srgbClr val="EFEBFE"/>
          </a:solidFill>
          <a:ln w="12700">
            <a:solidFill>
              <a:srgbClr val="EFEBFE"/>
            </a:solidFill>
            <a:prstDash val="solid"/>
          </a:ln>
        </p:spPr>
      </p:sp>
      <p:sp>
        <p:nvSpPr>
          <p:cNvPr id="20" name="Text 17"/>
          <p:cNvSpPr txBox="1"/>
          <p:nvPr/>
        </p:nvSpPr>
        <p:spPr>
          <a:xfrm>
            <a:off x="2377440" y="3035808"/>
            <a:ext cx="1828800" cy="566928"/>
          </a:xfrm>
          <a:prstGeom prst="rect">
            <a:avLst/>
          </a:prstGeom>
          <a:noFill/>
          <a:ln/>
        </p:spPr>
        <p:txBody>
          <a:bodyPr wrap="square" lIns="0" tIns="0" rIns="0" bIns="0" rtlCol="0" anchor="ctr"/>
          <a:lstStyle/>
          <a:p>
            <a:pPr algn="ctr" indent="0" marL="0">
              <a:buNone/>
            </a:pPr>
            <a:r>
              <a:rPr lang="en-US" sz="2800" b="1" dirty="0">
                <a:solidFill>
                  <a:srgbClr val="6C4EF5"/>
                </a:solidFill>
                <a:latin typeface="Segoe UI" pitchFamily="34" charset="0"/>
                <a:ea typeface="Segoe UI" pitchFamily="34" charset="-122"/>
                <a:cs typeface="Segoe UI" pitchFamily="34" charset="-120"/>
              </a:rPr>
              <a:t>~15 ms</a:t>
            </a:r>
            <a:endParaRPr lang="en-US" sz="2800" dirty="0"/>
          </a:p>
        </p:txBody>
      </p:sp>
      <p:sp>
        <p:nvSpPr>
          <p:cNvPr id="21" name="Text 18"/>
          <p:cNvSpPr txBox="1"/>
          <p:nvPr/>
        </p:nvSpPr>
        <p:spPr>
          <a:xfrm>
            <a:off x="2468880" y="3639312"/>
            <a:ext cx="1645920" cy="36576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planner p95 latency</a:t>
            </a:r>
            <a:endParaRPr lang="en-US" sz="1050" dirty="0"/>
          </a:p>
        </p:txBody>
      </p:sp>
      <p:sp>
        <p:nvSpPr>
          <p:cNvPr id="22" name="Text 19"/>
          <p:cNvSpPr txBox="1"/>
          <p:nvPr/>
        </p:nvSpPr>
        <p:spPr>
          <a:xfrm>
            <a:off x="2468880" y="3986784"/>
            <a:ext cx="1645920" cy="320040"/>
          </a:xfrm>
          <a:prstGeom prst="rect">
            <a:avLst/>
          </a:prstGeom>
          <a:noFill/>
          <a:ln/>
        </p:spPr>
        <p:txBody>
          <a:bodyPr wrap="square" lIns="0" tIns="0" rIns="0" bIns="0" rtlCol="0" anchor="ctr"/>
          <a:lstStyle/>
          <a:p>
            <a:pPr algn="ctr" indent="0" marL="0">
              <a:buNone/>
            </a:pPr>
            <a:r>
              <a:rPr lang="en-US" sz="900" dirty="0">
                <a:solidFill>
                  <a:srgbClr val="5B5B66"/>
                </a:solidFill>
                <a:latin typeface="Segoe UI" pitchFamily="34" charset="0"/>
                <a:ea typeface="Segoe UI" pitchFamily="34" charset="-122"/>
                <a:cs typeface="Segoe UI" pitchFamily="34" charset="-120"/>
              </a:rPr>
              <a:t>match in ~60 ms</a:t>
            </a:r>
            <a:endParaRPr lang="en-US" sz="900" dirty="0"/>
          </a:p>
        </p:txBody>
      </p:sp>
      <p:graphicFrame>
        <p:nvGraphicFramePr>
          <p:cNvPr id="23" name="Chart 0" descr=""/>
          <p:cNvGraphicFramePr/>
          <p:nvPr/>
        </p:nvGraphicFramePr>
        <p:xfrm>
          <a:off x="4526280" y="1188720"/>
          <a:ext cx="4297680" cy="324612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5943600" y="4480560"/>
            <a:ext cx="2834640" cy="228600"/>
          </a:xfrm>
          <a:prstGeom prst="rect">
            <a:avLst/>
          </a:prstGeom>
          <a:noFill/>
          <a:ln/>
        </p:spPr>
        <p:txBody>
          <a:bodyPr wrap="square" lIns="0" tIns="0" rIns="0" bIns="0" rtlCol="0" anchor="ctr"/>
          <a:lstStyle/>
          <a:p>
            <a:pPr algn="ctr" indent="0" marL="0">
              <a:buNone/>
            </a:pPr>
            <a:r>
              <a:rPr lang="en-US" sz="950" b="1" i="1" dirty="0">
                <a:solidFill>
                  <a:srgbClr val="6C4EF5"/>
                </a:solidFill>
                <a:latin typeface="Segoe UI" pitchFamily="34" charset="0"/>
                <a:ea typeface="Segoe UI" pitchFamily="34" charset="-122"/>
                <a:cs typeface="Segoe UI" pitchFamily="34" charset="-120"/>
              </a:rPr>
              <a:t>settles after ~6 rounds = learned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Novelties of Our System</a:t>
            </a:r>
            <a:endParaRPr lang="en-US" sz="3000" dirty="0"/>
          </a:p>
        </p:txBody>
      </p:sp>
      <p:sp>
        <p:nvSpPr>
          <p:cNvPr id="6" name="Shape 3"/>
          <p:cNvSpPr/>
          <p:nvPr/>
        </p:nvSpPr>
        <p:spPr>
          <a:xfrm>
            <a:off x="3017520" y="1234440"/>
            <a:ext cx="3108960" cy="3108960"/>
          </a:xfrm>
          <a:prstGeom prst="ellipse">
            <a:avLst/>
          </a:prstGeom>
          <a:solidFill>
            <a:srgbClr val="FFFFFF"/>
          </a:solidFill>
          <a:ln w="19050">
            <a:solidFill>
              <a:srgbClr val="2F63B5"/>
            </a:solidFill>
            <a:prstDash val="solid"/>
          </a:ln>
        </p:spPr>
      </p:sp>
      <p:sp>
        <p:nvSpPr>
          <p:cNvPr id="7" name="Text 4"/>
          <p:cNvSpPr txBox="1"/>
          <p:nvPr/>
        </p:nvSpPr>
        <p:spPr>
          <a:xfrm>
            <a:off x="3474720" y="2514600"/>
            <a:ext cx="2194560" cy="548640"/>
          </a:xfrm>
          <a:prstGeom prst="rect">
            <a:avLst/>
          </a:prstGeom>
          <a:noFill/>
          <a:ln/>
        </p:spPr>
        <p:txBody>
          <a:bodyPr wrap="square" lIns="0" tIns="0" rIns="0" bIns="0" rtlCol="0" anchor="ctr"/>
          <a:lstStyle/>
          <a:p>
            <a:pPr algn="ctr" indent="0" marL="0">
              <a:buNone/>
            </a:pPr>
            <a:r>
              <a:rPr lang="en-US" sz="2600" b="1" dirty="0">
                <a:solidFill>
                  <a:srgbClr val="161616"/>
                </a:solidFill>
                <a:latin typeface="Segoe UI" pitchFamily="34" charset="0"/>
                <a:ea typeface="Segoe UI" pitchFamily="34" charset="-122"/>
                <a:cs typeface="Segoe UI" pitchFamily="34" charset="-120"/>
              </a:rPr>
              <a:t>relay</a:t>
            </a:r>
            <a:endParaRPr lang="en-US" sz="2600" dirty="0"/>
          </a:p>
        </p:txBody>
      </p:sp>
      <p:sp>
        <p:nvSpPr>
          <p:cNvPr id="8" name="Shape 5"/>
          <p:cNvSpPr/>
          <p:nvPr/>
        </p:nvSpPr>
        <p:spPr>
          <a:xfrm>
            <a:off x="2468880" y="1005840"/>
            <a:ext cx="1554480" cy="1554480"/>
          </a:xfrm>
          <a:prstGeom prst="ellipse">
            <a:avLst/>
          </a:prstGeom>
          <a:solidFill>
            <a:srgbClr val="8E7BF7"/>
          </a:solidFill>
          <a:ln w="12700">
            <a:solidFill>
              <a:srgbClr val="8E7BF7"/>
            </a:solidFill>
            <a:prstDash val="solid"/>
          </a:ln>
        </p:spPr>
      </p:sp>
      <p:sp>
        <p:nvSpPr>
          <p:cNvPr id="9" name="Text 6"/>
          <p:cNvSpPr txBox="1"/>
          <p:nvPr/>
        </p:nvSpPr>
        <p:spPr>
          <a:xfrm>
            <a:off x="2560320" y="1280160"/>
            <a:ext cx="13716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Serve-Time</a:t>
            </a:r>
            <a:endParaRPr lang="en-US" sz="1250" dirty="0"/>
          </a:p>
          <a:p>
            <a:pPr algn="ctr" indent="0" marL="0">
              <a:buNone/>
            </a:pPr>
            <a:r>
              <a:rPr lang="en-US" sz="1250" b="1" dirty="0">
                <a:solidFill>
                  <a:srgbClr val="FFFFFF"/>
                </a:solidFill>
                <a:latin typeface="Segoe UI" pitchFamily="34" charset="0"/>
                <a:ea typeface="Segoe UI" pitchFamily="34" charset="-122"/>
                <a:cs typeface="Segoe UI" pitchFamily="34" charset="-120"/>
              </a:rPr>
              <a:t>Safety</a:t>
            </a:r>
            <a:endParaRPr lang="en-US" sz="1250" dirty="0"/>
          </a:p>
        </p:txBody>
      </p:sp>
      <p:pic>
        <p:nvPicPr>
          <p:cNvPr id="10" name="Image 1" descr="preencoded.png">    </p:cNvPr>
          <p:cNvPicPr>
            <a:picLocks noChangeAspect="1"/>
          </p:cNvPicPr>
          <p:nvPr/>
        </p:nvPicPr>
        <p:blipFill>
          <a:blip r:embed="rId2"/>
          <a:stretch>
            <a:fillRect/>
          </a:stretch>
        </p:blipFill>
        <p:spPr>
          <a:xfrm>
            <a:off x="3072384" y="1901952"/>
            <a:ext cx="347472" cy="347472"/>
          </a:xfrm>
          <a:prstGeom prst="rect">
            <a:avLst/>
          </a:prstGeom>
        </p:spPr>
      </p:pic>
      <p:sp>
        <p:nvSpPr>
          <p:cNvPr id="11" name="Shape 7"/>
          <p:cNvSpPr/>
          <p:nvPr/>
        </p:nvSpPr>
        <p:spPr>
          <a:xfrm>
            <a:off x="5120640" y="1005840"/>
            <a:ext cx="1554480" cy="1554480"/>
          </a:xfrm>
          <a:prstGeom prst="ellipse">
            <a:avLst/>
          </a:prstGeom>
          <a:solidFill>
            <a:srgbClr val="8E7BF7"/>
          </a:solidFill>
          <a:ln w="12700">
            <a:solidFill>
              <a:srgbClr val="8E7BF7"/>
            </a:solidFill>
            <a:prstDash val="solid"/>
          </a:ln>
        </p:spPr>
      </p:sp>
      <p:sp>
        <p:nvSpPr>
          <p:cNvPr id="12" name="Text 8"/>
          <p:cNvSpPr txBox="1"/>
          <p:nvPr/>
        </p:nvSpPr>
        <p:spPr>
          <a:xfrm>
            <a:off x="5212080" y="1280160"/>
            <a:ext cx="13716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Ask, Don't</a:t>
            </a:r>
            <a:endParaRPr lang="en-US" sz="1250" dirty="0"/>
          </a:p>
          <a:p>
            <a:pPr algn="ctr" indent="0" marL="0">
              <a:buNone/>
            </a:pPr>
            <a:r>
              <a:rPr lang="en-US" sz="1250" b="1" dirty="0">
                <a:solidFill>
                  <a:srgbClr val="FFFFFF"/>
                </a:solidFill>
                <a:latin typeface="Segoe UI" pitchFamily="34" charset="0"/>
                <a:ea typeface="Segoe UI" pitchFamily="34" charset="-122"/>
                <a:cs typeface="Segoe UI" pitchFamily="34" charset="-120"/>
              </a:rPr>
              <a:t>Dispatch</a:t>
            </a:r>
            <a:endParaRPr lang="en-US" sz="1250" dirty="0"/>
          </a:p>
        </p:txBody>
      </p:sp>
      <p:pic>
        <p:nvPicPr>
          <p:cNvPr id="13" name="Image 2" descr="preencoded.png">    </p:cNvPr>
          <p:cNvPicPr>
            <a:picLocks noChangeAspect="1"/>
          </p:cNvPicPr>
          <p:nvPr/>
        </p:nvPicPr>
        <p:blipFill>
          <a:blip r:embed="rId3"/>
          <a:stretch>
            <a:fillRect/>
          </a:stretch>
        </p:blipFill>
        <p:spPr>
          <a:xfrm>
            <a:off x="5724144" y="1901952"/>
            <a:ext cx="347472" cy="347472"/>
          </a:xfrm>
          <a:prstGeom prst="rect">
            <a:avLst/>
          </a:prstGeom>
        </p:spPr>
      </p:pic>
      <p:sp>
        <p:nvSpPr>
          <p:cNvPr id="14" name="Shape 9"/>
          <p:cNvSpPr/>
          <p:nvPr/>
        </p:nvSpPr>
        <p:spPr>
          <a:xfrm>
            <a:off x="2468880" y="3063240"/>
            <a:ext cx="1554480" cy="1554480"/>
          </a:xfrm>
          <a:prstGeom prst="ellipse">
            <a:avLst/>
          </a:prstGeom>
          <a:solidFill>
            <a:srgbClr val="8E7BF7"/>
          </a:solidFill>
          <a:ln w="12700">
            <a:solidFill>
              <a:srgbClr val="8E7BF7"/>
            </a:solidFill>
            <a:prstDash val="solid"/>
          </a:ln>
        </p:spPr>
      </p:sp>
      <p:sp>
        <p:nvSpPr>
          <p:cNvPr id="15" name="Text 10"/>
          <p:cNvSpPr txBox="1"/>
          <p:nvPr/>
        </p:nvSpPr>
        <p:spPr>
          <a:xfrm>
            <a:off x="2560320" y="3337560"/>
            <a:ext cx="13716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Early</a:t>
            </a:r>
            <a:endParaRPr lang="en-US" sz="1250" dirty="0"/>
          </a:p>
          <a:p>
            <a:pPr algn="ctr" indent="0" marL="0">
              <a:buNone/>
            </a:pPr>
            <a:r>
              <a:rPr lang="en-US" sz="1250" b="1" dirty="0">
                <a:solidFill>
                  <a:srgbClr val="FFFFFF"/>
                </a:solidFill>
                <a:latin typeface="Segoe UI" pitchFamily="34" charset="0"/>
                <a:ea typeface="Segoe UI" pitchFamily="34" charset="-122"/>
                <a:cs typeface="Segoe UI" pitchFamily="34" charset="-120"/>
              </a:rPr>
              <a:t>Escalation</a:t>
            </a:r>
            <a:endParaRPr lang="en-US" sz="1250" dirty="0"/>
          </a:p>
        </p:txBody>
      </p:sp>
      <p:pic>
        <p:nvPicPr>
          <p:cNvPr id="16" name="Image 3" descr="preencoded.png">    </p:cNvPr>
          <p:cNvPicPr>
            <a:picLocks noChangeAspect="1"/>
          </p:cNvPicPr>
          <p:nvPr/>
        </p:nvPicPr>
        <p:blipFill>
          <a:blip r:embed="rId4"/>
          <a:stretch>
            <a:fillRect/>
          </a:stretch>
        </p:blipFill>
        <p:spPr>
          <a:xfrm>
            <a:off x="3072384" y="3959352"/>
            <a:ext cx="347472" cy="347472"/>
          </a:xfrm>
          <a:prstGeom prst="rect">
            <a:avLst/>
          </a:prstGeom>
        </p:spPr>
      </p:pic>
      <p:sp>
        <p:nvSpPr>
          <p:cNvPr id="17" name="Shape 11"/>
          <p:cNvSpPr/>
          <p:nvPr/>
        </p:nvSpPr>
        <p:spPr>
          <a:xfrm>
            <a:off x="5120640" y="3063240"/>
            <a:ext cx="1554480" cy="1554480"/>
          </a:xfrm>
          <a:prstGeom prst="ellipse">
            <a:avLst/>
          </a:prstGeom>
          <a:solidFill>
            <a:srgbClr val="8E7BF7"/>
          </a:solidFill>
          <a:ln w="12700">
            <a:solidFill>
              <a:srgbClr val="8E7BF7"/>
            </a:solidFill>
            <a:prstDash val="solid"/>
          </a:ln>
        </p:spPr>
      </p:sp>
      <p:sp>
        <p:nvSpPr>
          <p:cNvPr id="18" name="Text 12"/>
          <p:cNvSpPr txBox="1"/>
          <p:nvPr/>
        </p:nvSpPr>
        <p:spPr>
          <a:xfrm>
            <a:off x="5212080" y="3337560"/>
            <a:ext cx="13716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RL Wave</a:t>
            </a:r>
            <a:endParaRPr lang="en-US" sz="1250" dirty="0"/>
          </a:p>
          <a:p>
            <a:pPr algn="ctr" indent="0" marL="0">
              <a:buNone/>
            </a:pPr>
            <a:r>
              <a:rPr lang="en-US" sz="1250" b="1" dirty="0">
                <a:solidFill>
                  <a:srgbClr val="FFFFFF"/>
                </a:solidFill>
                <a:latin typeface="Segoe UI" pitchFamily="34" charset="0"/>
                <a:ea typeface="Segoe UI" pitchFamily="34" charset="-122"/>
                <a:cs typeface="Segoe UI" pitchFamily="34" charset="-120"/>
              </a:rPr>
              <a:t>Sizing</a:t>
            </a:r>
            <a:endParaRPr lang="en-US" sz="1250" dirty="0"/>
          </a:p>
        </p:txBody>
      </p:sp>
      <p:pic>
        <p:nvPicPr>
          <p:cNvPr id="19" name="Image 4" descr="preencoded.png">    </p:cNvPr>
          <p:cNvPicPr>
            <a:picLocks noChangeAspect="1"/>
          </p:cNvPicPr>
          <p:nvPr/>
        </p:nvPicPr>
        <p:blipFill>
          <a:blip r:embed="rId5"/>
          <a:stretch>
            <a:fillRect/>
          </a:stretch>
        </p:blipFill>
        <p:spPr>
          <a:xfrm>
            <a:off x="5724144" y="3959352"/>
            <a:ext cx="347472" cy="347472"/>
          </a:xfrm>
          <a:prstGeom prst="rect">
            <a:avLst/>
          </a:prstGeom>
        </p:spPr>
      </p:pic>
      <p:sp>
        <p:nvSpPr>
          <p:cNvPr id="20" name="Shape 13"/>
          <p:cNvSpPr/>
          <p:nvPr/>
        </p:nvSpPr>
        <p:spPr>
          <a:xfrm>
            <a:off x="320040" y="1097280"/>
            <a:ext cx="1920240" cy="1371600"/>
          </a:xfrm>
          <a:prstGeom prst="roundRect">
            <a:avLst>
              <a:gd name="adj" fmla="val 10667"/>
            </a:avLst>
          </a:prstGeom>
          <a:solidFill>
            <a:srgbClr val="EFEBFE"/>
          </a:solidFill>
          <a:ln w="12700">
            <a:solidFill>
              <a:srgbClr val="EFEBFE"/>
            </a:solidFill>
            <a:prstDash val="solid"/>
          </a:ln>
        </p:spPr>
      </p:sp>
      <p:sp>
        <p:nvSpPr>
          <p:cNvPr id="21" name="Text 14"/>
          <p:cNvSpPr txBox="1"/>
          <p:nvPr/>
        </p:nvSpPr>
        <p:spPr>
          <a:xfrm>
            <a:off x="429768" y="1097280"/>
            <a:ext cx="1700784" cy="1371600"/>
          </a:xfrm>
          <a:prstGeom prst="rect">
            <a:avLst/>
          </a:prstGeom>
          <a:noFill/>
          <a:ln/>
        </p:spPr>
        <p:txBody>
          <a:bodyPr wrap="square" lIns="0" tIns="0" rIns="0" bIns="0" rtlCol="0" anchor="ctr"/>
          <a:lstStyle/>
          <a:p>
            <a:pPr algn="ctr" indent="0" marL="0">
              <a:buNone/>
            </a:pPr>
            <a:r>
              <a:rPr lang="en-US" sz="1050" dirty="0">
                <a:solidFill>
                  <a:srgbClr val="161616"/>
                </a:solidFill>
                <a:latin typeface="Segoe UI" pitchFamily="34" charset="0"/>
                <a:ea typeface="Segoe UI" pitchFamily="34" charset="-122"/>
                <a:cs typeface="Segoe UI" pitchFamily="34" charset="-120"/>
              </a:rPr>
              <a:t>A shelter is chosen only if food is still safe when it's served, not just delivered.</a:t>
            </a:r>
            <a:endParaRPr lang="en-US" sz="1050" dirty="0"/>
          </a:p>
        </p:txBody>
      </p:sp>
      <p:sp>
        <p:nvSpPr>
          <p:cNvPr id="22" name="Shape 15"/>
          <p:cNvSpPr/>
          <p:nvPr/>
        </p:nvSpPr>
        <p:spPr>
          <a:xfrm>
            <a:off x="6903720" y="1097280"/>
            <a:ext cx="1920240" cy="1371600"/>
          </a:xfrm>
          <a:prstGeom prst="roundRect">
            <a:avLst>
              <a:gd name="adj" fmla="val 10667"/>
            </a:avLst>
          </a:prstGeom>
          <a:solidFill>
            <a:srgbClr val="EFEBFE"/>
          </a:solidFill>
          <a:ln w="12700">
            <a:solidFill>
              <a:srgbClr val="EFEBFE"/>
            </a:solidFill>
            <a:prstDash val="solid"/>
          </a:ln>
        </p:spPr>
      </p:sp>
      <p:sp>
        <p:nvSpPr>
          <p:cNvPr id="23" name="Text 16"/>
          <p:cNvSpPr txBox="1"/>
          <p:nvPr/>
        </p:nvSpPr>
        <p:spPr>
          <a:xfrm>
            <a:off x="7013448" y="1097280"/>
            <a:ext cx="1700784" cy="1371600"/>
          </a:xfrm>
          <a:prstGeom prst="rect">
            <a:avLst/>
          </a:prstGeom>
          <a:noFill/>
          <a:ln/>
        </p:spPr>
        <p:txBody>
          <a:bodyPr wrap="square" lIns="0" tIns="0" rIns="0" bIns="0" rtlCol="0" anchor="ctr"/>
          <a:lstStyle/>
          <a:p>
            <a:pPr algn="ctr" indent="0" marL="0">
              <a:buNone/>
            </a:pPr>
            <a:r>
              <a:rPr lang="en-US" sz="1050" dirty="0">
                <a:solidFill>
                  <a:srgbClr val="161616"/>
                </a:solidFill>
                <a:latin typeface="Segoe UI" pitchFamily="34" charset="0"/>
                <a:ea typeface="Segoe UI" pitchFamily="34" charset="-122"/>
                <a:cs typeface="Segoe UI" pitchFamily="34" charset="-120"/>
              </a:rPr>
              <a:t>Calibrated p(yes) per volunteer; P(claim) = 1 − Π(1 − p). Just enough offers.</a:t>
            </a:r>
            <a:endParaRPr lang="en-US" sz="1050" dirty="0"/>
          </a:p>
        </p:txBody>
      </p:sp>
      <p:sp>
        <p:nvSpPr>
          <p:cNvPr id="24" name="Shape 17"/>
          <p:cNvSpPr/>
          <p:nvPr/>
        </p:nvSpPr>
        <p:spPr>
          <a:xfrm>
            <a:off x="320040" y="3154680"/>
            <a:ext cx="1920240" cy="1371600"/>
          </a:xfrm>
          <a:prstGeom prst="roundRect">
            <a:avLst>
              <a:gd name="adj" fmla="val 10667"/>
            </a:avLst>
          </a:prstGeom>
          <a:solidFill>
            <a:srgbClr val="EFEBFE"/>
          </a:solidFill>
          <a:ln w="12700">
            <a:solidFill>
              <a:srgbClr val="EFEBFE"/>
            </a:solidFill>
            <a:prstDash val="solid"/>
          </a:ln>
        </p:spPr>
      </p:sp>
      <p:sp>
        <p:nvSpPr>
          <p:cNvPr id="25" name="Text 18"/>
          <p:cNvSpPr txBox="1"/>
          <p:nvPr/>
        </p:nvSpPr>
        <p:spPr>
          <a:xfrm>
            <a:off x="429768" y="3154680"/>
            <a:ext cx="1700784" cy="1371600"/>
          </a:xfrm>
          <a:prstGeom prst="rect">
            <a:avLst/>
          </a:prstGeom>
          <a:noFill/>
          <a:ln/>
        </p:spPr>
        <p:txBody>
          <a:bodyPr wrap="square" lIns="0" tIns="0" rIns="0" bIns="0" rtlCol="0" anchor="ctr"/>
          <a:lstStyle/>
          <a:p>
            <a:pPr algn="ctr" indent="0" marL="0">
              <a:buNone/>
            </a:pPr>
            <a:r>
              <a:rPr lang="en-US" sz="1050" dirty="0">
                <a:solidFill>
                  <a:srgbClr val="161616"/>
                </a:solidFill>
                <a:latin typeface="Segoe UI" pitchFamily="34" charset="0"/>
                <a:ea typeface="Segoe UI" pitchFamily="34" charset="-122"/>
                <a:cs typeface="Segoe UI" pitchFamily="34" charset="-120"/>
              </a:rPr>
              <a:t>Computes the last safe moment to act, and alerts a human before it.</a:t>
            </a:r>
            <a:endParaRPr lang="en-US" sz="1050" dirty="0"/>
          </a:p>
        </p:txBody>
      </p:sp>
      <p:sp>
        <p:nvSpPr>
          <p:cNvPr id="26" name="Shape 19"/>
          <p:cNvSpPr/>
          <p:nvPr/>
        </p:nvSpPr>
        <p:spPr>
          <a:xfrm>
            <a:off x="6903720" y="3154680"/>
            <a:ext cx="1920240" cy="1371600"/>
          </a:xfrm>
          <a:prstGeom prst="roundRect">
            <a:avLst>
              <a:gd name="adj" fmla="val 10667"/>
            </a:avLst>
          </a:prstGeom>
          <a:solidFill>
            <a:srgbClr val="EFEBFE"/>
          </a:solidFill>
          <a:ln w="12700">
            <a:solidFill>
              <a:srgbClr val="EFEBFE"/>
            </a:solidFill>
            <a:prstDash val="solid"/>
          </a:ln>
        </p:spPr>
      </p:sp>
      <p:sp>
        <p:nvSpPr>
          <p:cNvPr id="27" name="Text 20"/>
          <p:cNvSpPr txBox="1"/>
          <p:nvPr/>
        </p:nvSpPr>
        <p:spPr>
          <a:xfrm>
            <a:off x="7013448" y="3154680"/>
            <a:ext cx="1700784" cy="1371600"/>
          </a:xfrm>
          <a:prstGeom prst="rect">
            <a:avLst/>
          </a:prstGeom>
          <a:noFill/>
          <a:ln/>
        </p:spPr>
        <p:txBody>
          <a:bodyPr wrap="square" lIns="0" tIns="0" rIns="0" bIns="0" rtlCol="0" anchor="ctr"/>
          <a:lstStyle/>
          <a:p>
            <a:pPr algn="ctr" indent="0" marL="0">
              <a:buNone/>
            </a:pPr>
            <a:r>
              <a:rPr lang="en-US" sz="1050" dirty="0">
                <a:solidFill>
                  <a:srgbClr val="161616"/>
                </a:solidFill>
                <a:latin typeface="Segoe UI" pitchFamily="34" charset="0"/>
                <a:ea typeface="Segoe UI" pitchFamily="34" charset="-122"/>
                <a:cs typeface="Segoe UI" pitchFamily="34" charset="-120"/>
              </a:rPr>
              <a:t>Offline RL decides how many to ask and when: halved pings vs rules.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Tech Stack Used</a:t>
            </a:r>
            <a:endParaRPr lang="en-US" sz="3000" dirty="0"/>
          </a:p>
        </p:txBody>
      </p:sp>
      <p:sp>
        <p:nvSpPr>
          <p:cNvPr id="6" name="Shape 3"/>
          <p:cNvSpPr/>
          <p:nvPr/>
        </p:nvSpPr>
        <p:spPr>
          <a:xfrm>
            <a:off x="411480" y="132588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7" name="Image 1" descr="preencoded.png">    </p:cNvPr>
          <p:cNvPicPr>
            <a:picLocks noChangeAspect="1"/>
          </p:cNvPicPr>
          <p:nvPr/>
        </p:nvPicPr>
        <p:blipFill>
          <a:blip r:embed="rId2"/>
          <a:stretch>
            <a:fillRect/>
          </a:stretch>
        </p:blipFill>
        <p:spPr>
          <a:xfrm>
            <a:off x="749808" y="1508760"/>
            <a:ext cx="566928" cy="566928"/>
          </a:xfrm>
          <a:prstGeom prst="rect">
            <a:avLst/>
          </a:prstGeom>
        </p:spPr>
      </p:pic>
      <p:sp>
        <p:nvSpPr>
          <p:cNvPr id="8" name="Text 4"/>
          <p:cNvSpPr txBox="1"/>
          <p:nvPr/>
        </p:nvSpPr>
        <p:spPr>
          <a:xfrm>
            <a:off x="457200" y="219456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Python</a:t>
            </a:r>
            <a:endParaRPr lang="en-US" sz="1050" dirty="0"/>
          </a:p>
        </p:txBody>
      </p:sp>
      <p:sp>
        <p:nvSpPr>
          <p:cNvPr id="9" name="Shape 5"/>
          <p:cNvSpPr/>
          <p:nvPr/>
        </p:nvSpPr>
        <p:spPr>
          <a:xfrm>
            <a:off x="1810512" y="132588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10" name="Image 2" descr="preencoded.png">    </p:cNvPr>
          <p:cNvPicPr>
            <a:picLocks noChangeAspect="1"/>
          </p:cNvPicPr>
          <p:nvPr/>
        </p:nvPicPr>
        <p:blipFill>
          <a:blip r:embed="rId3"/>
          <a:stretch>
            <a:fillRect/>
          </a:stretch>
        </p:blipFill>
        <p:spPr>
          <a:xfrm>
            <a:off x="2148840" y="1508760"/>
            <a:ext cx="566928" cy="566928"/>
          </a:xfrm>
          <a:prstGeom prst="rect">
            <a:avLst/>
          </a:prstGeom>
        </p:spPr>
      </p:pic>
      <p:sp>
        <p:nvSpPr>
          <p:cNvPr id="11" name="Text 6"/>
          <p:cNvSpPr txBox="1"/>
          <p:nvPr/>
        </p:nvSpPr>
        <p:spPr>
          <a:xfrm>
            <a:off x="1856232" y="219456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FastAPI</a:t>
            </a:r>
            <a:endParaRPr lang="en-US" sz="1050" dirty="0"/>
          </a:p>
        </p:txBody>
      </p:sp>
      <p:sp>
        <p:nvSpPr>
          <p:cNvPr id="12" name="Shape 7"/>
          <p:cNvSpPr/>
          <p:nvPr/>
        </p:nvSpPr>
        <p:spPr>
          <a:xfrm>
            <a:off x="3209544" y="132588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13" name="Image 3" descr="preencoded.png">    </p:cNvPr>
          <p:cNvPicPr>
            <a:picLocks noChangeAspect="1"/>
          </p:cNvPicPr>
          <p:nvPr/>
        </p:nvPicPr>
        <p:blipFill>
          <a:blip r:embed="rId4"/>
          <a:stretch>
            <a:fillRect/>
          </a:stretch>
        </p:blipFill>
        <p:spPr>
          <a:xfrm>
            <a:off x="3547872" y="1508760"/>
            <a:ext cx="566928" cy="566928"/>
          </a:xfrm>
          <a:prstGeom prst="rect">
            <a:avLst/>
          </a:prstGeom>
        </p:spPr>
      </p:pic>
      <p:sp>
        <p:nvSpPr>
          <p:cNvPr id="14" name="Text 8"/>
          <p:cNvSpPr txBox="1"/>
          <p:nvPr/>
        </p:nvSpPr>
        <p:spPr>
          <a:xfrm>
            <a:off x="3255264" y="219456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scikit-learn</a:t>
            </a:r>
            <a:endParaRPr lang="en-US" sz="1050" dirty="0"/>
          </a:p>
        </p:txBody>
      </p:sp>
      <p:sp>
        <p:nvSpPr>
          <p:cNvPr id="15" name="Shape 9"/>
          <p:cNvSpPr/>
          <p:nvPr/>
        </p:nvSpPr>
        <p:spPr>
          <a:xfrm>
            <a:off x="4608576" y="132588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16" name="Image 4" descr="preencoded.png">    </p:cNvPr>
          <p:cNvPicPr>
            <a:picLocks noChangeAspect="1"/>
          </p:cNvPicPr>
          <p:nvPr/>
        </p:nvPicPr>
        <p:blipFill>
          <a:blip r:embed="rId5"/>
          <a:stretch>
            <a:fillRect/>
          </a:stretch>
        </p:blipFill>
        <p:spPr>
          <a:xfrm>
            <a:off x="4946904" y="1508760"/>
            <a:ext cx="566928" cy="566928"/>
          </a:xfrm>
          <a:prstGeom prst="rect">
            <a:avLst/>
          </a:prstGeom>
        </p:spPr>
      </p:pic>
      <p:sp>
        <p:nvSpPr>
          <p:cNvPr id="17" name="Text 10"/>
          <p:cNvSpPr txBox="1"/>
          <p:nvPr/>
        </p:nvSpPr>
        <p:spPr>
          <a:xfrm>
            <a:off x="4654296" y="219456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pandas</a:t>
            </a:r>
            <a:endParaRPr lang="en-US" sz="1050" dirty="0"/>
          </a:p>
        </p:txBody>
      </p:sp>
      <p:sp>
        <p:nvSpPr>
          <p:cNvPr id="18" name="Shape 11"/>
          <p:cNvSpPr/>
          <p:nvPr/>
        </p:nvSpPr>
        <p:spPr>
          <a:xfrm>
            <a:off x="6007608" y="132588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19" name="Image 5" descr="preencoded.png">    </p:cNvPr>
          <p:cNvPicPr>
            <a:picLocks noChangeAspect="1"/>
          </p:cNvPicPr>
          <p:nvPr/>
        </p:nvPicPr>
        <p:blipFill>
          <a:blip r:embed="rId6"/>
          <a:stretch>
            <a:fillRect/>
          </a:stretch>
        </p:blipFill>
        <p:spPr>
          <a:xfrm>
            <a:off x="6345936" y="1508760"/>
            <a:ext cx="566928" cy="566928"/>
          </a:xfrm>
          <a:prstGeom prst="rect">
            <a:avLst/>
          </a:prstGeom>
        </p:spPr>
      </p:pic>
      <p:sp>
        <p:nvSpPr>
          <p:cNvPr id="20" name="Text 12"/>
          <p:cNvSpPr txBox="1"/>
          <p:nvPr/>
        </p:nvSpPr>
        <p:spPr>
          <a:xfrm>
            <a:off x="6053328" y="219456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MongoDB Atlas</a:t>
            </a:r>
            <a:endParaRPr lang="en-US" sz="1050" dirty="0"/>
          </a:p>
        </p:txBody>
      </p:sp>
      <p:sp>
        <p:nvSpPr>
          <p:cNvPr id="21" name="Shape 13"/>
          <p:cNvSpPr/>
          <p:nvPr/>
        </p:nvSpPr>
        <p:spPr>
          <a:xfrm>
            <a:off x="7406640" y="132588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22" name="Image 6" descr="preencoded.png">    </p:cNvPr>
          <p:cNvPicPr>
            <a:picLocks noChangeAspect="1"/>
          </p:cNvPicPr>
          <p:nvPr/>
        </p:nvPicPr>
        <p:blipFill>
          <a:blip r:embed="rId7"/>
          <a:stretch>
            <a:fillRect/>
          </a:stretch>
        </p:blipFill>
        <p:spPr>
          <a:xfrm>
            <a:off x="7744968" y="1508760"/>
            <a:ext cx="566928" cy="566928"/>
          </a:xfrm>
          <a:prstGeom prst="rect">
            <a:avLst/>
          </a:prstGeom>
        </p:spPr>
      </p:pic>
      <p:sp>
        <p:nvSpPr>
          <p:cNvPr id="23" name="Text 14"/>
          <p:cNvSpPr txBox="1"/>
          <p:nvPr/>
        </p:nvSpPr>
        <p:spPr>
          <a:xfrm>
            <a:off x="7452360" y="219456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SQLite</a:t>
            </a:r>
            <a:endParaRPr lang="en-US" sz="1050" dirty="0"/>
          </a:p>
        </p:txBody>
      </p:sp>
      <p:sp>
        <p:nvSpPr>
          <p:cNvPr id="24" name="Shape 15"/>
          <p:cNvSpPr/>
          <p:nvPr/>
        </p:nvSpPr>
        <p:spPr>
          <a:xfrm>
            <a:off x="411480" y="301752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25" name="Image 7" descr="preencoded.png">    </p:cNvPr>
          <p:cNvPicPr>
            <a:picLocks noChangeAspect="1"/>
          </p:cNvPicPr>
          <p:nvPr/>
        </p:nvPicPr>
        <p:blipFill>
          <a:blip r:embed="rId8"/>
          <a:stretch>
            <a:fillRect/>
          </a:stretch>
        </p:blipFill>
        <p:spPr>
          <a:xfrm>
            <a:off x="749808" y="3200400"/>
            <a:ext cx="566928" cy="566928"/>
          </a:xfrm>
          <a:prstGeom prst="rect">
            <a:avLst/>
          </a:prstGeom>
        </p:spPr>
      </p:pic>
      <p:sp>
        <p:nvSpPr>
          <p:cNvPr id="26" name="Text 16"/>
          <p:cNvSpPr txBox="1"/>
          <p:nvPr/>
        </p:nvSpPr>
        <p:spPr>
          <a:xfrm>
            <a:off x="457200" y="388620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Google OAuth</a:t>
            </a:r>
            <a:endParaRPr lang="en-US" sz="1050" dirty="0"/>
          </a:p>
        </p:txBody>
      </p:sp>
      <p:sp>
        <p:nvSpPr>
          <p:cNvPr id="27" name="Shape 17"/>
          <p:cNvSpPr/>
          <p:nvPr/>
        </p:nvSpPr>
        <p:spPr>
          <a:xfrm>
            <a:off x="1810512" y="301752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28" name="Image 8" descr="preencoded.png">    </p:cNvPr>
          <p:cNvPicPr>
            <a:picLocks noChangeAspect="1"/>
          </p:cNvPicPr>
          <p:nvPr/>
        </p:nvPicPr>
        <p:blipFill>
          <a:blip r:embed="rId9"/>
          <a:stretch>
            <a:fillRect/>
          </a:stretch>
        </p:blipFill>
        <p:spPr>
          <a:xfrm>
            <a:off x="2148840" y="3200400"/>
            <a:ext cx="566928" cy="566928"/>
          </a:xfrm>
          <a:prstGeom prst="rect">
            <a:avLst/>
          </a:prstGeom>
        </p:spPr>
      </p:pic>
      <p:sp>
        <p:nvSpPr>
          <p:cNvPr id="29" name="Text 18"/>
          <p:cNvSpPr txBox="1"/>
          <p:nvPr/>
        </p:nvSpPr>
        <p:spPr>
          <a:xfrm>
            <a:off x="1856232" y="388620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Leaflet + CARTO</a:t>
            </a:r>
            <a:endParaRPr lang="en-US" sz="1050" dirty="0"/>
          </a:p>
        </p:txBody>
      </p:sp>
      <p:sp>
        <p:nvSpPr>
          <p:cNvPr id="30" name="Shape 19"/>
          <p:cNvSpPr/>
          <p:nvPr/>
        </p:nvSpPr>
        <p:spPr>
          <a:xfrm>
            <a:off x="3209544" y="301752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31" name="Image 9" descr="preencoded.png">    </p:cNvPr>
          <p:cNvPicPr>
            <a:picLocks noChangeAspect="1"/>
          </p:cNvPicPr>
          <p:nvPr/>
        </p:nvPicPr>
        <p:blipFill>
          <a:blip r:embed="rId10"/>
          <a:stretch>
            <a:fillRect/>
          </a:stretch>
        </p:blipFill>
        <p:spPr>
          <a:xfrm>
            <a:off x="3547872" y="3200400"/>
            <a:ext cx="566928" cy="566928"/>
          </a:xfrm>
          <a:prstGeom prst="rect">
            <a:avLst/>
          </a:prstGeom>
        </p:spPr>
      </p:pic>
      <p:sp>
        <p:nvSpPr>
          <p:cNvPr id="32" name="Text 20"/>
          <p:cNvSpPr txBox="1"/>
          <p:nvPr/>
        </p:nvSpPr>
        <p:spPr>
          <a:xfrm>
            <a:off x="3255264" y="388620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JS · SVG animations</a:t>
            </a:r>
            <a:endParaRPr lang="en-US" sz="1050" dirty="0"/>
          </a:p>
        </p:txBody>
      </p:sp>
      <p:sp>
        <p:nvSpPr>
          <p:cNvPr id="33" name="Shape 21"/>
          <p:cNvSpPr/>
          <p:nvPr/>
        </p:nvSpPr>
        <p:spPr>
          <a:xfrm>
            <a:off x="4608576" y="301752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34" name="Image 10" descr="preencoded.png">    </p:cNvPr>
          <p:cNvPicPr>
            <a:picLocks noChangeAspect="1"/>
          </p:cNvPicPr>
          <p:nvPr/>
        </p:nvPicPr>
        <p:blipFill>
          <a:blip r:embed="rId11"/>
          <a:stretch>
            <a:fillRect/>
          </a:stretch>
        </p:blipFill>
        <p:spPr>
          <a:xfrm>
            <a:off x="4946904" y="3200400"/>
            <a:ext cx="566928" cy="566928"/>
          </a:xfrm>
          <a:prstGeom prst="rect">
            <a:avLst/>
          </a:prstGeom>
        </p:spPr>
      </p:pic>
      <p:sp>
        <p:nvSpPr>
          <p:cNvPr id="35" name="Text 22"/>
          <p:cNvSpPr txBox="1"/>
          <p:nvPr/>
        </p:nvSpPr>
        <p:spPr>
          <a:xfrm>
            <a:off x="4654296" y="388620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Brevo email API</a:t>
            </a:r>
            <a:endParaRPr lang="en-US" sz="1050" dirty="0"/>
          </a:p>
        </p:txBody>
      </p:sp>
      <p:sp>
        <p:nvSpPr>
          <p:cNvPr id="36" name="Shape 23"/>
          <p:cNvSpPr/>
          <p:nvPr/>
        </p:nvSpPr>
        <p:spPr>
          <a:xfrm>
            <a:off x="6007608" y="301752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37" name="Image 11" descr="preencoded.png">    </p:cNvPr>
          <p:cNvPicPr>
            <a:picLocks noChangeAspect="1"/>
          </p:cNvPicPr>
          <p:nvPr/>
        </p:nvPicPr>
        <p:blipFill>
          <a:blip r:embed="rId12"/>
          <a:stretch>
            <a:fillRect/>
          </a:stretch>
        </p:blipFill>
        <p:spPr>
          <a:xfrm>
            <a:off x="6345936" y="3200400"/>
            <a:ext cx="566928" cy="566928"/>
          </a:xfrm>
          <a:prstGeom prst="rect">
            <a:avLst/>
          </a:prstGeom>
        </p:spPr>
      </p:pic>
      <p:sp>
        <p:nvSpPr>
          <p:cNvPr id="38" name="Text 24"/>
          <p:cNvSpPr txBox="1"/>
          <p:nvPr/>
        </p:nvSpPr>
        <p:spPr>
          <a:xfrm>
            <a:off x="6053328" y="388620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Docker</a:t>
            </a:r>
            <a:endParaRPr lang="en-US" sz="1050" dirty="0"/>
          </a:p>
        </p:txBody>
      </p:sp>
      <p:sp>
        <p:nvSpPr>
          <p:cNvPr id="39" name="Shape 25"/>
          <p:cNvSpPr/>
          <p:nvPr/>
        </p:nvSpPr>
        <p:spPr>
          <a:xfrm>
            <a:off x="7406640" y="3017520"/>
            <a:ext cx="1234440" cy="1417320"/>
          </a:xfrm>
          <a:prstGeom prst="roundRect">
            <a:avLst>
              <a:gd name="adj" fmla="val 10370"/>
            </a:avLst>
          </a:prstGeom>
          <a:solidFill>
            <a:srgbClr val="FFFFFF"/>
          </a:solidFill>
          <a:ln w="12700">
            <a:solidFill>
              <a:srgbClr val="E6E3F5"/>
            </a:solidFill>
            <a:prstDash val="solid"/>
          </a:ln>
          <a:effectLst>
            <a:outerShdw sx="100000" sy="100000" kx="0" ky="0" algn="bl" rotWithShape="0" blurRad="76200" dist="25400" dir="5400000">
              <a:srgbClr val="6C4EF5">
                <a:alpha val="12000"/>
              </a:srgbClr>
            </a:outerShdw>
          </a:effectLst>
        </p:spPr>
      </p:sp>
      <p:pic>
        <p:nvPicPr>
          <p:cNvPr id="40" name="Image 12" descr="preencoded.png">    </p:cNvPr>
          <p:cNvPicPr>
            <a:picLocks noChangeAspect="1"/>
          </p:cNvPicPr>
          <p:nvPr/>
        </p:nvPicPr>
        <p:blipFill>
          <a:blip r:embed="rId13"/>
          <a:stretch>
            <a:fillRect/>
          </a:stretch>
        </p:blipFill>
        <p:spPr>
          <a:xfrm>
            <a:off x="7744968" y="3200400"/>
            <a:ext cx="566928" cy="566928"/>
          </a:xfrm>
          <a:prstGeom prst="rect">
            <a:avLst/>
          </a:prstGeom>
        </p:spPr>
      </p:pic>
      <p:sp>
        <p:nvSpPr>
          <p:cNvPr id="41" name="Text 26"/>
          <p:cNvSpPr txBox="1"/>
          <p:nvPr/>
        </p:nvSpPr>
        <p:spPr>
          <a:xfrm>
            <a:off x="7452360" y="3886200"/>
            <a:ext cx="1143000" cy="457200"/>
          </a:xfrm>
          <a:prstGeom prst="rect">
            <a:avLst/>
          </a:prstGeom>
          <a:noFill/>
          <a:ln/>
        </p:spPr>
        <p:txBody>
          <a:bodyPr wrap="square" lIns="0" tIns="0" rIns="0" bIns="0" rtlCol="0" anchor="ctr"/>
          <a:lstStyle/>
          <a:p>
            <a:pPr algn="ctr" indent="0" marL="0">
              <a:buNone/>
            </a:pPr>
            <a:r>
              <a:rPr lang="en-US" sz="1050" b="1" dirty="0">
                <a:solidFill>
                  <a:srgbClr val="161616"/>
                </a:solidFill>
                <a:latin typeface="Segoe UI" pitchFamily="34" charset="0"/>
                <a:ea typeface="Segoe UI" pitchFamily="34" charset="-122"/>
                <a:cs typeface="Segoe UI" pitchFamily="34" charset="-120"/>
              </a:rPr>
              <a:t>Render (free)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65760" y="566928"/>
            <a:ext cx="3840480" cy="548640"/>
          </a:xfrm>
          <a:prstGeom prst="rect">
            <a:avLst/>
          </a:prstGeom>
          <a:noFill/>
          <a:ln/>
        </p:spPr>
        <p:txBody>
          <a:bodyPr wrap="square" lIns="0" tIns="0" rIns="0" bIns="0" rtlCol="0" anchor="ctr"/>
          <a:lstStyle/>
          <a:p>
            <a:pPr algn="ctr" indent="0" marL="0">
              <a:buNone/>
            </a:pPr>
            <a:r>
              <a:rPr lang="en-US" sz="2800" b="1" dirty="0">
                <a:solidFill>
                  <a:srgbClr val="161616"/>
                </a:solidFill>
                <a:latin typeface="Segoe UI" pitchFamily="34" charset="0"/>
                <a:ea typeface="Segoe UI" pitchFamily="34" charset="-122"/>
                <a:cs typeface="Segoe UI" pitchFamily="34" charset="-120"/>
              </a:rPr>
              <a:t>Feasibility</a:t>
            </a:r>
            <a:endParaRPr lang="en-US" sz="2800" dirty="0"/>
          </a:p>
        </p:txBody>
      </p:sp>
      <p:sp>
        <p:nvSpPr>
          <p:cNvPr id="3" name="Text 1"/>
          <p:cNvSpPr txBox="1"/>
          <p:nvPr/>
        </p:nvSpPr>
        <p:spPr>
          <a:xfrm>
            <a:off x="365760" y="1078992"/>
            <a:ext cx="3840480" cy="292608"/>
          </a:xfrm>
          <a:prstGeom prst="rect">
            <a:avLst/>
          </a:prstGeom>
          <a:noFill/>
          <a:ln/>
        </p:spPr>
        <p:txBody>
          <a:bodyPr wrap="square" lIns="0" tIns="0" rIns="0" bIns="0" rtlCol="0" anchor="ctr"/>
          <a:lstStyle/>
          <a:p>
            <a:pPr algn="ctr" indent="0" marL="0">
              <a:buNone/>
            </a:pPr>
            <a:r>
              <a:rPr lang="en-US" sz="1250" dirty="0">
                <a:solidFill>
                  <a:srgbClr val="7A7A85"/>
                </a:solidFill>
                <a:latin typeface="Segoe UI" pitchFamily="34" charset="0"/>
                <a:ea typeface="Segoe UI" pitchFamily="34" charset="-122"/>
                <a:cs typeface="Segoe UI" pitchFamily="34" charset="-120"/>
              </a:rPr>
              <a:t>Built, tested and deployable today</a:t>
            </a:r>
            <a:endParaRPr lang="en-US" sz="1250" dirty="0"/>
          </a:p>
        </p:txBody>
      </p:sp>
      <p:sp>
        <p:nvSpPr>
          <p:cNvPr id="4" name="Text 2"/>
          <p:cNvSpPr txBox="1"/>
          <p:nvPr/>
        </p:nvSpPr>
        <p:spPr>
          <a:xfrm>
            <a:off x="4937760" y="566928"/>
            <a:ext cx="3840480" cy="548640"/>
          </a:xfrm>
          <a:prstGeom prst="rect">
            <a:avLst/>
          </a:prstGeom>
          <a:noFill/>
          <a:ln/>
        </p:spPr>
        <p:txBody>
          <a:bodyPr wrap="square" lIns="0" tIns="0" rIns="0" bIns="0" rtlCol="0" anchor="ctr"/>
          <a:lstStyle/>
          <a:p>
            <a:pPr algn="ctr" indent="0" marL="0">
              <a:buNone/>
            </a:pPr>
            <a:r>
              <a:rPr lang="en-US" sz="2800" b="1" dirty="0">
                <a:solidFill>
                  <a:srgbClr val="161616"/>
                </a:solidFill>
                <a:latin typeface="Segoe UI" pitchFamily="34" charset="0"/>
                <a:ea typeface="Segoe UI" pitchFamily="34" charset="-122"/>
                <a:cs typeface="Segoe UI" pitchFamily="34" charset="-120"/>
              </a:rPr>
              <a:t>Viability</a:t>
            </a:r>
            <a:endParaRPr lang="en-US" sz="2800" dirty="0"/>
          </a:p>
        </p:txBody>
      </p:sp>
      <p:sp>
        <p:nvSpPr>
          <p:cNvPr id="5" name="Text 3"/>
          <p:cNvSpPr txBox="1"/>
          <p:nvPr/>
        </p:nvSpPr>
        <p:spPr>
          <a:xfrm>
            <a:off x="4937760" y="1078992"/>
            <a:ext cx="3840480" cy="292608"/>
          </a:xfrm>
          <a:prstGeom prst="rect">
            <a:avLst/>
          </a:prstGeom>
          <a:noFill/>
          <a:ln/>
        </p:spPr>
        <p:txBody>
          <a:bodyPr wrap="square" lIns="0" tIns="0" rIns="0" bIns="0" rtlCol="0" anchor="ctr"/>
          <a:lstStyle/>
          <a:p>
            <a:pPr algn="ctr" indent="0" marL="0">
              <a:buNone/>
            </a:pPr>
            <a:r>
              <a:rPr lang="en-US" sz="1250" dirty="0">
                <a:solidFill>
                  <a:srgbClr val="7A7A85"/>
                </a:solidFill>
                <a:latin typeface="Segoe UI" pitchFamily="34" charset="0"/>
                <a:ea typeface="Segoe UI" pitchFamily="34" charset="-122"/>
                <a:cs typeface="Segoe UI" pitchFamily="34" charset="-120"/>
              </a:rPr>
              <a:t>Sustainable and ready to scale</a:t>
            </a:r>
            <a:endParaRPr lang="en-US" sz="1250" dirty="0"/>
          </a:p>
        </p:txBody>
      </p:sp>
      <p:sp>
        <p:nvSpPr>
          <p:cNvPr id="6" name="Shape 4"/>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7"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8" name="Text 5"/>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9" name="Shape 6"/>
          <p:cNvSpPr/>
          <p:nvPr/>
        </p:nvSpPr>
        <p:spPr>
          <a:xfrm>
            <a:off x="3794760" y="2148840"/>
            <a:ext cx="1554480" cy="1554480"/>
          </a:xfrm>
          <a:prstGeom prst="ellipse">
            <a:avLst/>
          </a:prstGeom>
          <a:solidFill>
            <a:srgbClr val="8E7BF7"/>
          </a:solidFill>
          <a:ln w="12700">
            <a:solidFill>
              <a:srgbClr val="8E7BF7"/>
            </a:solidFill>
            <a:prstDash val="solid"/>
          </a:ln>
        </p:spPr>
      </p:sp>
      <p:sp>
        <p:nvSpPr>
          <p:cNvPr id="10" name="Shape 7"/>
          <p:cNvSpPr/>
          <p:nvPr/>
        </p:nvSpPr>
        <p:spPr>
          <a:xfrm>
            <a:off x="4224528" y="2578608"/>
            <a:ext cx="694944" cy="694944"/>
          </a:xfrm>
          <a:prstGeom prst="ellipse">
            <a:avLst/>
          </a:prstGeom>
          <a:solidFill>
            <a:srgbClr val="FFFFFF"/>
          </a:solidFill>
          <a:ln w="12700">
            <a:solidFill>
              <a:srgbClr val="FFFFFF"/>
            </a:solidFill>
            <a:prstDash val="solid"/>
          </a:ln>
        </p:spPr>
      </p:sp>
      <p:sp>
        <p:nvSpPr>
          <p:cNvPr id="11" name="Shape 8"/>
          <p:cNvSpPr/>
          <p:nvPr/>
        </p:nvSpPr>
        <p:spPr>
          <a:xfrm>
            <a:off x="4498848" y="2103120"/>
            <a:ext cx="146304" cy="1645920"/>
          </a:xfrm>
          <a:prstGeom prst="rect">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411480" y="1645920"/>
            <a:ext cx="384048" cy="384048"/>
          </a:xfrm>
          <a:prstGeom prst="rect">
            <a:avLst/>
          </a:prstGeom>
        </p:spPr>
      </p:pic>
      <p:sp>
        <p:nvSpPr>
          <p:cNvPr id="13" name="Text 9"/>
          <p:cNvSpPr txBox="1"/>
          <p:nvPr/>
        </p:nvSpPr>
        <p:spPr>
          <a:xfrm>
            <a:off x="914400" y="1600200"/>
            <a:ext cx="2743200" cy="548640"/>
          </a:xfrm>
          <a:prstGeom prst="rect">
            <a:avLst/>
          </a:prstGeom>
          <a:noFill/>
          <a:ln/>
        </p:spPr>
        <p:txBody>
          <a:bodyPr wrap="square" lIns="0" tIns="0" rIns="0" bIns="0" rtlCol="0" anchor="ctr"/>
          <a:lstStyle/>
          <a:p>
            <a:pPr indent="0" marL="0">
              <a:buNone/>
            </a:pPr>
            <a:r>
              <a:rPr lang="en-US" sz="1200" b="1" dirty="0">
                <a:solidFill>
                  <a:srgbClr val="161616"/>
                </a:solidFill>
                <a:latin typeface="Segoe UI" pitchFamily="34" charset="0"/>
                <a:ea typeface="Segoe UI" pitchFamily="34" charset="-122"/>
                <a:cs typeface="Segoe UI" pitchFamily="34" charset="-120"/>
              </a:rPr>
              <a:t>40 automated checks pass</a:t>
            </a:r>
            <a:endParaRPr lang="en-US" sz="1200" dirty="0"/>
          </a:p>
          <a:p>
            <a:pPr indent="0" marL="0">
              <a:buNone/>
            </a:pPr>
            <a:r>
              <a:rPr lang="en-US" sz="950" dirty="0">
                <a:solidFill>
                  <a:srgbClr val="5B5B66"/>
                </a:solidFill>
                <a:latin typeface="Segoe UI" pitchFamily="34" charset="0"/>
                <a:ea typeface="Segoe UI" pitchFamily="34" charset="-122"/>
                <a:cs typeface="Segoe UI" pitchFamily="34" charset="-120"/>
              </a:rPr>
              <a:t>end-to-end, storage, email, safety</a:t>
            </a:r>
            <a:endParaRPr lang="en-US" sz="1200" dirty="0"/>
          </a:p>
        </p:txBody>
      </p:sp>
      <p:pic>
        <p:nvPicPr>
          <p:cNvPr id="14" name="Image 2" descr="preencoded.png">    </p:cNvPr>
          <p:cNvPicPr>
            <a:picLocks noChangeAspect="1"/>
          </p:cNvPicPr>
          <p:nvPr/>
        </p:nvPicPr>
        <p:blipFill>
          <a:blip r:embed="rId3"/>
          <a:stretch>
            <a:fillRect/>
          </a:stretch>
        </p:blipFill>
        <p:spPr>
          <a:xfrm>
            <a:off x="8348472" y="1645920"/>
            <a:ext cx="384048" cy="384048"/>
          </a:xfrm>
          <a:prstGeom prst="rect">
            <a:avLst/>
          </a:prstGeom>
        </p:spPr>
      </p:pic>
      <p:sp>
        <p:nvSpPr>
          <p:cNvPr id="15" name="Text 10"/>
          <p:cNvSpPr txBox="1"/>
          <p:nvPr/>
        </p:nvSpPr>
        <p:spPr>
          <a:xfrm>
            <a:off x="5486400" y="1600200"/>
            <a:ext cx="2743200" cy="548640"/>
          </a:xfrm>
          <a:prstGeom prst="rect">
            <a:avLst/>
          </a:prstGeom>
          <a:noFill/>
          <a:ln/>
        </p:spPr>
        <p:txBody>
          <a:bodyPr wrap="square" lIns="0" tIns="0" rIns="0" bIns="0" rtlCol="0" anchor="ctr"/>
          <a:lstStyle/>
          <a:p>
            <a:pPr algn="r" indent="0" marL="0">
              <a:buNone/>
            </a:pPr>
            <a:r>
              <a:rPr lang="en-US" sz="1200" b="1" dirty="0">
                <a:solidFill>
                  <a:srgbClr val="161616"/>
                </a:solidFill>
                <a:latin typeface="Segoe UI" pitchFamily="34" charset="0"/>
                <a:ea typeface="Segoe UI" pitchFamily="34" charset="-122"/>
                <a:cs typeface="Segoe UI" pitchFamily="34" charset="-120"/>
              </a:rPr>
              <a:t>Free for NGOs &amp; volunteers</a:t>
            </a:r>
            <a:endParaRPr lang="en-US" sz="1200" dirty="0"/>
          </a:p>
          <a:p>
            <a:pPr algn="r" indent="0" marL="0">
              <a:buNone/>
            </a:pPr>
            <a:r>
              <a:rPr lang="en-US" sz="950" dirty="0">
                <a:solidFill>
                  <a:srgbClr val="5B5B66"/>
                </a:solidFill>
                <a:latin typeface="Segoe UI" pitchFamily="34" charset="0"/>
                <a:ea typeface="Segoe UI" pitchFamily="34" charset="-122"/>
                <a:cs typeface="Segoe UI" pitchFamily="34" charset="-120"/>
              </a:rPr>
              <a:t>no cost to people doing good</a:t>
            </a:r>
            <a:endParaRPr lang="en-US" sz="1200" dirty="0"/>
          </a:p>
        </p:txBody>
      </p:sp>
      <p:pic>
        <p:nvPicPr>
          <p:cNvPr id="16" name="Image 3" descr="preencoded.png">    </p:cNvPr>
          <p:cNvPicPr>
            <a:picLocks noChangeAspect="1"/>
          </p:cNvPicPr>
          <p:nvPr/>
        </p:nvPicPr>
        <p:blipFill>
          <a:blip r:embed="rId4"/>
          <a:stretch>
            <a:fillRect/>
          </a:stretch>
        </p:blipFill>
        <p:spPr>
          <a:xfrm>
            <a:off x="411480" y="2423160"/>
            <a:ext cx="384048" cy="384048"/>
          </a:xfrm>
          <a:prstGeom prst="rect">
            <a:avLst/>
          </a:prstGeom>
        </p:spPr>
      </p:pic>
      <p:sp>
        <p:nvSpPr>
          <p:cNvPr id="17" name="Text 11"/>
          <p:cNvSpPr txBox="1"/>
          <p:nvPr/>
        </p:nvSpPr>
        <p:spPr>
          <a:xfrm>
            <a:off x="914400" y="2377440"/>
            <a:ext cx="2743200" cy="548640"/>
          </a:xfrm>
          <a:prstGeom prst="rect">
            <a:avLst/>
          </a:prstGeom>
          <a:noFill/>
          <a:ln/>
        </p:spPr>
        <p:txBody>
          <a:bodyPr wrap="square" lIns="0" tIns="0" rIns="0" bIns="0" rtlCol="0" anchor="ctr"/>
          <a:lstStyle/>
          <a:p>
            <a:pPr indent="0" marL="0">
              <a:buNone/>
            </a:pPr>
            <a:r>
              <a:rPr lang="en-US" sz="1200" b="1" dirty="0">
                <a:solidFill>
                  <a:srgbClr val="161616"/>
                </a:solidFill>
                <a:latin typeface="Segoe UI" pitchFamily="34" charset="0"/>
                <a:ea typeface="Segoe UI" pitchFamily="34" charset="-122"/>
                <a:cs typeface="Segoe UI" pitchFamily="34" charset="-120"/>
              </a:rPr>
              <a:t>Runs free: ~215 MB, no GPU</a:t>
            </a:r>
            <a:endParaRPr lang="en-US" sz="1200" dirty="0"/>
          </a:p>
          <a:p>
            <a:pPr indent="0" marL="0">
              <a:buNone/>
            </a:pPr>
            <a:r>
              <a:rPr lang="en-US" sz="950" dirty="0">
                <a:solidFill>
                  <a:srgbClr val="5B5B66"/>
                </a:solidFill>
                <a:latin typeface="Segoe UI" pitchFamily="34" charset="0"/>
                <a:ea typeface="Segoe UI" pitchFamily="34" charset="-122"/>
                <a:cs typeface="Segoe UI" pitchFamily="34" charset="-120"/>
              </a:rPr>
              <a:t>Render + Atlas + Brevo free tiers</a:t>
            </a:r>
            <a:endParaRPr lang="en-US" sz="1200" dirty="0"/>
          </a:p>
        </p:txBody>
      </p:sp>
      <p:pic>
        <p:nvPicPr>
          <p:cNvPr id="18" name="Image 4" descr="preencoded.png">    </p:cNvPr>
          <p:cNvPicPr>
            <a:picLocks noChangeAspect="1"/>
          </p:cNvPicPr>
          <p:nvPr/>
        </p:nvPicPr>
        <p:blipFill>
          <a:blip r:embed="rId5"/>
          <a:stretch>
            <a:fillRect/>
          </a:stretch>
        </p:blipFill>
        <p:spPr>
          <a:xfrm>
            <a:off x="8348472" y="2423160"/>
            <a:ext cx="384048" cy="384048"/>
          </a:xfrm>
          <a:prstGeom prst="rect">
            <a:avLst/>
          </a:prstGeom>
        </p:spPr>
      </p:pic>
      <p:sp>
        <p:nvSpPr>
          <p:cNvPr id="19" name="Text 12"/>
          <p:cNvSpPr txBox="1"/>
          <p:nvPr/>
        </p:nvSpPr>
        <p:spPr>
          <a:xfrm>
            <a:off x="5486400" y="2377440"/>
            <a:ext cx="2743200" cy="548640"/>
          </a:xfrm>
          <a:prstGeom prst="rect">
            <a:avLst/>
          </a:prstGeom>
          <a:noFill/>
          <a:ln/>
        </p:spPr>
        <p:txBody>
          <a:bodyPr wrap="square" lIns="0" tIns="0" rIns="0" bIns="0" rtlCol="0" anchor="ctr"/>
          <a:lstStyle/>
          <a:p>
            <a:pPr algn="r" indent="0" marL="0">
              <a:buNone/>
            </a:pPr>
            <a:r>
              <a:rPr lang="en-US" sz="1200" b="1" dirty="0">
                <a:solidFill>
                  <a:srgbClr val="161616"/>
                </a:solidFill>
                <a:latin typeface="Segoe UI" pitchFamily="34" charset="0"/>
                <a:ea typeface="Segoe UI" pitchFamily="34" charset="-122"/>
                <a:cs typeface="Segoe UI" pitchFamily="34" charset="-120"/>
              </a:rPr>
              <a:t>Paid ESG / CSR reports</a:t>
            </a:r>
            <a:endParaRPr lang="en-US" sz="1200" dirty="0"/>
          </a:p>
          <a:p>
            <a:pPr algn="r" indent="0" marL="0">
              <a:buNone/>
            </a:pPr>
            <a:r>
              <a:rPr lang="en-US" sz="950" dirty="0">
                <a:solidFill>
                  <a:srgbClr val="5B5B66"/>
                </a:solidFill>
                <a:latin typeface="Segoe UI" pitchFamily="34" charset="0"/>
                <a:ea typeface="Segoe UI" pitchFamily="34" charset="-122"/>
                <a:cs typeface="Segoe UI" pitchFamily="34" charset="-120"/>
              </a:rPr>
              <a:t>for food chains and hotels</a:t>
            </a:r>
            <a:endParaRPr lang="en-US" sz="1200" dirty="0"/>
          </a:p>
        </p:txBody>
      </p:sp>
      <p:pic>
        <p:nvPicPr>
          <p:cNvPr id="20" name="Image 5" descr="preencoded.png">    </p:cNvPr>
          <p:cNvPicPr>
            <a:picLocks noChangeAspect="1"/>
          </p:cNvPicPr>
          <p:nvPr/>
        </p:nvPicPr>
        <p:blipFill>
          <a:blip r:embed="rId6"/>
          <a:stretch>
            <a:fillRect/>
          </a:stretch>
        </p:blipFill>
        <p:spPr>
          <a:xfrm>
            <a:off x="411480" y="3200400"/>
            <a:ext cx="384048" cy="384048"/>
          </a:xfrm>
          <a:prstGeom prst="rect">
            <a:avLst/>
          </a:prstGeom>
        </p:spPr>
      </p:pic>
      <p:sp>
        <p:nvSpPr>
          <p:cNvPr id="21" name="Text 13"/>
          <p:cNvSpPr txBox="1"/>
          <p:nvPr/>
        </p:nvSpPr>
        <p:spPr>
          <a:xfrm>
            <a:off x="914400" y="3154680"/>
            <a:ext cx="2743200" cy="548640"/>
          </a:xfrm>
          <a:prstGeom prst="rect">
            <a:avLst/>
          </a:prstGeom>
          <a:noFill/>
          <a:ln/>
        </p:spPr>
        <p:txBody>
          <a:bodyPr wrap="square" lIns="0" tIns="0" rIns="0" bIns="0" rtlCol="0" anchor="ctr"/>
          <a:lstStyle/>
          <a:p>
            <a:pPr indent="0" marL="0">
              <a:buNone/>
            </a:pPr>
            <a:r>
              <a:rPr lang="en-US" sz="1200" b="1" dirty="0">
                <a:solidFill>
                  <a:srgbClr val="161616"/>
                </a:solidFill>
                <a:latin typeface="Segoe UI" pitchFamily="34" charset="0"/>
                <a:ea typeface="Segoe UI" pitchFamily="34" charset="-122"/>
                <a:cs typeface="Segoe UI" pitchFamily="34" charset="-120"/>
              </a:rPr>
              <a:t>Fallbacks built in</a:t>
            </a:r>
            <a:endParaRPr lang="en-US" sz="1200" dirty="0"/>
          </a:p>
          <a:p>
            <a:pPr indent="0" marL="0">
              <a:buNone/>
            </a:pPr>
            <a:r>
              <a:rPr lang="en-US" sz="950" dirty="0">
                <a:solidFill>
                  <a:srgbClr val="5B5B66"/>
                </a:solidFill>
                <a:latin typeface="Segoe UI" pitchFamily="34" charset="0"/>
                <a:ea typeface="Segoe UI" pitchFamily="34" charset="-122"/>
                <a:cs typeface="Segoe UI" pitchFamily="34" charset="-120"/>
              </a:rPr>
              <a:t>SQLite · email previews · backup courier</a:t>
            </a:r>
            <a:endParaRPr lang="en-US" sz="1200" dirty="0"/>
          </a:p>
        </p:txBody>
      </p:sp>
      <p:pic>
        <p:nvPicPr>
          <p:cNvPr id="22" name="Image 6" descr="preencoded.png">    </p:cNvPr>
          <p:cNvPicPr>
            <a:picLocks noChangeAspect="1"/>
          </p:cNvPicPr>
          <p:nvPr/>
        </p:nvPicPr>
        <p:blipFill>
          <a:blip r:embed="rId7"/>
          <a:stretch>
            <a:fillRect/>
          </a:stretch>
        </p:blipFill>
        <p:spPr>
          <a:xfrm>
            <a:off x="8348472" y="3200400"/>
            <a:ext cx="384048" cy="384048"/>
          </a:xfrm>
          <a:prstGeom prst="rect">
            <a:avLst/>
          </a:prstGeom>
        </p:spPr>
      </p:pic>
      <p:sp>
        <p:nvSpPr>
          <p:cNvPr id="23" name="Text 14"/>
          <p:cNvSpPr txBox="1"/>
          <p:nvPr/>
        </p:nvSpPr>
        <p:spPr>
          <a:xfrm>
            <a:off x="5486400" y="3154680"/>
            <a:ext cx="2743200" cy="548640"/>
          </a:xfrm>
          <a:prstGeom prst="rect">
            <a:avLst/>
          </a:prstGeom>
          <a:noFill/>
          <a:ln/>
        </p:spPr>
        <p:txBody>
          <a:bodyPr wrap="square" lIns="0" tIns="0" rIns="0" bIns="0" rtlCol="0" anchor="ctr"/>
          <a:lstStyle/>
          <a:p>
            <a:pPr algn="r" indent="0" marL="0">
              <a:buNone/>
            </a:pPr>
            <a:r>
              <a:rPr lang="en-US" sz="1200" b="1" dirty="0">
                <a:solidFill>
                  <a:srgbClr val="161616"/>
                </a:solidFill>
                <a:latin typeface="Segoe UI" pitchFamily="34" charset="0"/>
                <a:ea typeface="Segoe UI" pitchFamily="34" charset="-122"/>
                <a:cs typeface="Segoe UI" pitchFamily="34" charset="-120"/>
              </a:rPr>
              <a:t>City by city</a:t>
            </a:r>
            <a:endParaRPr lang="en-US" sz="1200" dirty="0"/>
          </a:p>
          <a:p>
            <a:pPr algn="r" indent="0" marL="0">
              <a:buNone/>
            </a:pPr>
            <a:r>
              <a:rPr lang="en-US" sz="950" dirty="0">
                <a:solidFill>
                  <a:srgbClr val="5B5B66"/>
                </a:solidFill>
                <a:latin typeface="Segoe UI" pitchFamily="34" charset="0"/>
                <a:ea typeface="Segoe UI" pitchFamily="34" charset="-122"/>
                <a:cs typeface="Segoe UI" pitchFamily="34" charset="-120"/>
              </a:rPr>
              <a:t>new city = new config, not new code</a:t>
            </a:r>
            <a:endParaRPr lang="en-US" sz="1200" dirty="0"/>
          </a:p>
        </p:txBody>
      </p:sp>
      <p:pic>
        <p:nvPicPr>
          <p:cNvPr id="24" name="Image 7" descr="preencoded.png">    </p:cNvPr>
          <p:cNvPicPr>
            <a:picLocks noChangeAspect="1"/>
          </p:cNvPicPr>
          <p:nvPr/>
        </p:nvPicPr>
        <p:blipFill>
          <a:blip r:embed="rId8"/>
          <a:stretch>
            <a:fillRect/>
          </a:stretch>
        </p:blipFill>
        <p:spPr>
          <a:xfrm>
            <a:off x="411480" y="3977640"/>
            <a:ext cx="384048" cy="384048"/>
          </a:xfrm>
          <a:prstGeom prst="rect">
            <a:avLst/>
          </a:prstGeom>
        </p:spPr>
      </p:pic>
      <p:sp>
        <p:nvSpPr>
          <p:cNvPr id="25" name="Text 15"/>
          <p:cNvSpPr txBox="1"/>
          <p:nvPr/>
        </p:nvSpPr>
        <p:spPr>
          <a:xfrm>
            <a:off x="914400" y="3931920"/>
            <a:ext cx="2743200" cy="548640"/>
          </a:xfrm>
          <a:prstGeom prst="rect">
            <a:avLst/>
          </a:prstGeom>
          <a:noFill/>
          <a:ln/>
        </p:spPr>
        <p:txBody>
          <a:bodyPr wrap="square" lIns="0" tIns="0" rIns="0" bIns="0" rtlCol="0" anchor="ctr"/>
          <a:lstStyle/>
          <a:p>
            <a:pPr indent="0" marL="0">
              <a:buNone/>
            </a:pPr>
            <a:r>
              <a:rPr lang="en-US" sz="1200" b="1" dirty="0">
                <a:solidFill>
                  <a:srgbClr val="161616"/>
                </a:solidFill>
                <a:latin typeface="Segoe UI" pitchFamily="34" charset="0"/>
                <a:ea typeface="Segoe UI" pitchFamily="34" charset="-122"/>
                <a:cs typeface="Segoe UI" pitchFamily="34" charset="-120"/>
              </a:rPr>
              <a:t>Safety by rules</a:t>
            </a:r>
            <a:endParaRPr lang="en-US" sz="1200" dirty="0"/>
          </a:p>
          <a:p>
            <a:pPr indent="0" marL="0">
              <a:buNone/>
            </a:pPr>
            <a:r>
              <a:rPr lang="en-US" sz="950" dirty="0">
                <a:solidFill>
                  <a:srgbClr val="5B5B66"/>
                </a:solidFill>
                <a:latin typeface="Segoe UI" pitchFamily="34" charset="0"/>
                <a:ea typeface="Segoe UI" pitchFamily="34" charset="-122"/>
                <a:cs typeface="Segoe UI" pitchFamily="34" charset="-120"/>
              </a:rPr>
              <a:t>conservative FDA/FSSAI-based clock</a:t>
            </a:r>
            <a:endParaRPr lang="en-US" sz="1200" dirty="0"/>
          </a:p>
        </p:txBody>
      </p:sp>
      <p:pic>
        <p:nvPicPr>
          <p:cNvPr id="26" name="Image 8" descr="preencoded.png">    </p:cNvPr>
          <p:cNvPicPr>
            <a:picLocks noChangeAspect="1"/>
          </p:cNvPicPr>
          <p:nvPr/>
        </p:nvPicPr>
        <p:blipFill>
          <a:blip r:embed="rId9"/>
          <a:stretch>
            <a:fillRect/>
          </a:stretch>
        </p:blipFill>
        <p:spPr>
          <a:xfrm>
            <a:off x="8348472" y="3977640"/>
            <a:ext cx="384048" cy="384048"/>
          </a:xfrm>
          <a:prstGeom prst="rect">
            <a:avLst/>
          </a:prstGeom>
        </p:spPr>
      </p:pic>
      <p:sp>
        <p:nvSpPr>
          <p:cNvPr id="27" name="Text 16"/>
          <p:cNvSpPr txBox="1"/>
          <p:nvPr/>
        </p:nvSpPr>
        <p:spPr>
          <a:xfrm>
            <a:off x="5486400" y="3931920"/>
            <a:ext cx="2743200" cy="548640"/>
          </a:xfrm>
          <a:prstGeom prst="rect">
            <a:avLst/>
          </a:prstGeom>
          <a:noFill/>
          <a:ln/>
        </p:spPr>
        <p:txBody>
          <a:bodyPr wrap="square" lIns="0" tIns="0" rIns="0" bIns="0" rtlCol="0" anchor="ctr"/>
          <a:lstStyle/>
          <a:p>
            <a:pPr algn="r" indent="0" marL="0">
              <a:buNone/>
            </a:pPr>
            <a:r>
              <a:rPr lang="en-US" sz="1200" b="1" dirty="0">
                <a:solidFill>
                  <a:srgbClr val="161616"/>
                </a:solidFill>
                <a:latin typeface="Segoe UI" pitchFamily="34" charset="0"/>
                <a:ea typeface="Segoe UI" pitchFamily="34" charset="-122"/>
                <a:cs typeface="Segoe UI" pitchFamily="34" charset="-120"/>
              </a:rPr>
              <a:t>Pilot: 6 weeks, shadow mode</a:t>
            </a:r>
            <a:endParaRPr lang="en-US" sz="1200" dirty="0"/>
          </a:p>
          <a:p>
            <a:pPr algn="r" indent="0" marL="0">
              <a:buNone/>
            </a:pPr>
            <a:r>
              <a:rPr lang="en-US" sz="950" dirty="0">
                <a:solidFill>
                  <a:srgbClr val="5B5B66"/>
                </a:solidFill>
                <a:latin typeface="Segoe UI" pitchFamily="34" charset="0"/>
                <a:ea typeface="Segoe UI" pitchFamily="34" charset="-122"/>
                <a:cs typeface="Segoe UI" pitchFamily="34" charset="-120"/>
              </a:rPr>
              <a:t>campus dining + 1 NGO chapter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Impact &amp; Benefits</a:t>
            </a:r>
            <a:endParaRPr lang="en-US" sz="3000" dirty="0"/>
          </a:p>
        </p:txBody>
      </p:sp>
      <p:sp>
        <p:nvSpPr>
          <p:cNvPr id="6" name="Text 3"/>
          <p:cNvSpPr txBox="1"/>
          <p:nvPr/>
        </p:nvSpPr>
        <p:spPr>
          <a:xfrm>
            <a:off x="457200" y="768096"/>
            <a:ext cx="8229600" cy="310896"/>
          </a:xfrm>
          <a:prstGeom prst="rect">
            <a:avLst/>
          </a:prstGeom>
          <a:noFill/>
          <a:ln/>
        </p:spPr>
        <p:txBody>
          <a:bodyPr wrap="square" lIns="0" tIns="0" rIns="0" bIns="0" rtlCol="0" anchor="ctr"/>
          <a:lstStyle/>
          <a:p>
            <a:pPr algn="ctr" indent="0" marL="0">
              <a:buNone/>
            </a:pPr>
            <a:r>
              <a:rPr lang="en-US" sz="1350" dirty="0">
                <a:solidFill>
                  <a:srgbClr val="7A7A85"/>
                </a:solidFill>
                <a:latin typeface="Segoe UI" pitchFamily="34" charset="0"/>
                <a:ea typeface="Segoe UI" pitchFamily="34" charset="-122"/>
                <a:cs typeface="Segoe UI" pitchFamily="34" charset="-120"/>
              </a:rPr>
              <a:t>Who gains, and by how much (simulated vs WhatsApp broadcast)</a:t>
            </a:r>
            <a:endParaRPr lang="en-US" sz="1350" dirty="0"/>
          </a:p>
        </p:txBody>
      </p:sp>
      <p:sp>
        <p:nvSpPr>
          <p:cNvPr id="7" name="Shape 4"/>
          <p:cNvSpPr/>
          <p:nvPr/>
        </p:nvSpPr>
        <p:spPr>
          <a:xfrm>
            <a:off x="502920" y="1280160"/>
            <a:ext cx="2560320" cy="1234440"/>
          </a:xfrm>
          <a:prstGeom prst="roundRect">
            <a:avLst>
              <a:gd name="adj" fmla="val 10370"/>
            </a:avLst>
          </a:prstGeom>
          <a:solidFill>
            <a:srgbClr val="EFEBFE"/>
          </a:solidFill>
          <a:ln w="12700">
            <a:solidFill>
              <a:srgbClr val="EFEBFE"/>
            </a:solidFill>
            <a:prstDash val="solid"/>
          </a:ln>
        </p:spPr>
      </p:sp>
      <p:sp>
        <p:nvSpPr>
          <p:cNvPr id="8" name="Shape 5"/>
          <p:cNvSpPr/>
          <p:nvPr/>
        </p:nvSpPr>
        <p:spPr>
          <a:xfrm>
            <a:off x="685800" y="1618488"/>
            <a:ext cx="566928" cy="566928"/>
          </a:xfrm>
          <a:prstGeom prst="ellipse">
            <a:avLst/>
          </a:prstGeom>
          <a:solidFill>
            <a:srgbClr val="6C4EF5"/>
          </a:solidFill>
          <a:ln w="12700">
            <a:solidFill>
              <a:srgbClr val="6C4EF5"/>
            </a:solidFill>
            <a:prstDash val="solid"/>
          </a:ln>
        </p:spPr>
      </p:sp>
      <p:pic>
        <p:nvPicPr>
          <p:cNvPr id="9" name="Image 1" descr="preencoded.png">    </p:cNvPr>
          <p:cNvPicPr>
            <a:picLocks noChangeAspect="1"/>
          </p:cNvPicPr>
          <p:nvPr/>
        </p:nvPicPr>
        <p:blipFill>
          <a:blip r:embed="rId2"/>
          <a:stretch>
            <a:fillRect/>
          </a:stretch>
        </p:blipFill>
        <p:spPr>
          <a:xfrm>
            <a:off x="832104" y="1764792"/>
            <a:ext cx="274320" cy="274320"/>
          </a:xfrm>
          <a:prstGeom prst="rect">
            <a:avLst/>
          </a:prstGeom>
        </p:spPr>
      </p:pic>
      <p:sp>
        <p:nvSpPr>
          <p:cNvPr id="10" name="Text 6"/>
          <p:cNvSpPr txBox="1"/>
          <p:nvPr/>
        </p:nvSpPr>
        <p:spPr>
          <a:xfrm>
            <a:off x="1371600" y="1444752"/>
            <a:ext cx="1600200" cy="502920"/>
          </a:xfrm>
          <a:prstGeom prst="rect">
            <a:avLst/>
          </a:prstGeom>
          <a:noFill/>
          <a:ln/>
        </p:spPr>
        <p:txBody>
          <a:bodyPr wrap="square" lIns="0" tIns="0" rIns="0" bIns="0" rtlCol="0" anchor="ctr"/>
          <a:lstStyle/>
          <a:p>
            <a:pPr indent="0" marL="0">
              <a:buNone/>
            </a:pPr>
            <a:r>
              <a:rPr lang="en-US" sz="2600" b="1" dirty="0">
                <a:solidFill>
                  <a:srgbClr val="6C4EF5"/>
                </a:solidFill>
                <a:latin typeface="Segoe UI" pitchFamily="34" charset="0"/>
                <a:ea typeface="Segoe UI" pitchFamily="34" charset="-122"/>
                <a:cs typeface="Segoe UI" pitchFamily="34" charset="-120"/>
              </a:rPr>
              <a:t>+16%</a:t>
            </a:r>
            <a:endParaRPr lang="en-US" sz="2600" dirty="0"/>
          </a:p>
        </p:txBody>
      </p:sp>
      <p:sp>
        <p:nvSpPr>
          <p:cNvPr id="11" name="Text 7"/>
          <p:cNvSpPr txBox="1"/>
          <p:nvPr/>
        </p:nvSpPr>
        <p:spPr>
          <a:xfrm>
            <a:off x="1371600" y="1938528"/>
            <a:ext cx="1600200" cy="438912"/>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meals reaching people</a:t>
            </a:r>
            <a:endParaRPr lang="en-US" sz="1050" dirty="0"/>
          </a:p>
        </p:txBody>
      </p:sp>
      <p:sp>
        <p:nvSpPr>
          <p:cNvPr id="12" name="Shape 8"/>
          <p:cNvSpPr/>
          <p:nvPr/>
        </p:nvSpPr>
        <p:spPr>
          <a:xfrm>
            <a:off x="3291840" y="1280160"/>
            <a:ext cx="2560320" cy="1234440"/>
          </a:xfrm>
          <a:prstGeom prst="roundRect">
            <a:avLst>
              <a:gd name="adj" fmla="val 10370"/>
            </a:avLst>
          </a:prstGeom>
          <a:solidFill>
            <a:srgbClr val="EFEBFE"/>
          </a:solidFill>
          <a:ln w="12700">
            <a:solidFill>
              <a:srgbClr val="EFEBFE"/>
            </a:solidFill>
            <a:prstDash val="solid"/>
          </a:ln>
        </p:spPr>
      </p:sp>
      <p:sp>
        <p:nvSpPr>
          <p:cNvPr id="13" name="Shape 9"/>
          <p:cNvSpPr/>
          <p:nvPr/>
        </p:nvSpPr>
        <p:spPr>
          <a:xfrm>
            <a:off x="3474720" y="1618488"/>
            <a:ext cx="566928" cy="566928"/>
          </a:xfrm>
          <a:prstGeom prst="ellipse">
            <a:avLst/>
          </a:prstGeom>
          <a:solidFill>
            <a:srgbClr val="6C4EF5"/>
          </a:solidFill>
          <a:ln w="12700">
            <a:solidFill>
              <a:srgbClr val="6C4EF5"/>
            </a:solidFill>
            <a:prstDash val="solid"/>
          </a:ln>
        </p:spPr>
      </p:sp>
      <p:pic>
        <p:nvPicPr>
          <p:cNvPr id="14" name="Image 2" descr="preencoded.png">    </p:cNvPr>
          <p:cNvPicPr>
            <a:picLocks noChangeAspect="1"/>
          </p:cNvPicPr>
          <p:nvPr/>
        </p:nvPicPr>
        <p:blipFill>
          <a:blip r:embed="rId3"/>
          <a:stretch>
            <a:fillRect/>
          </a:stretch>
        </p:blipFill>
        <p:spPr>
          <a:xfrm>
            <a:off x="3621024" y="1764792"/>
            <a:ext cx="274320" cy="274320"/>
          </a:xfrm>
          <a:prstGeom prst="rect">
            <a:avLst/>
          </a:prstGeom>
        </p:spPr>
      </p:pic>
      <p:sp>
        <p:nvSpPr>
          <p:cNvPr id="15" name="Text 10"/>
          <p:cNvSpPr txBox="1"/>
          <p:nvPr/>
        </p:nvSpPr>
        <p:spPr>
          <a:xfrm>
            <a:off x="4160520" y="1444752"/>
            <a:ext cx="1600200" cy="502920"/>
          </a:xfrm>
          <a:prstGeom prst="rect">
            <a:avLst/>
          </a:prstGeom>
          <a:noFill/>
          <a:ln/>
        </p:spPr>
        <p:txBody>
          <a:bodyPr wrap="square" lIns="0" tIns="0" rIns="0" bIns="0" rtlCol="0" anchor="ctr"/>
          <a:lstStyle/>
          <a:p>
            <a:pPr indent="0" marL="0">
              <a:buNone/>
            </a:pPr>
            <a:r>
              <a:rPr lang="en-US" sz="2600" b="1" dirty="0">
                <a:solidFill>
                  <a:srgbClr val="6C4EF5"/>
                </a:solidFill>
                <a:latin typeface="Segoe UI" pitchFamily="34" charset="0"/>
                <a:ea typeface="Segoe UI" pitchFamily="34" charset="-122"/>
                <a:cs typeface="Segoe UI" pitchFamily="34" charset="-120"/>
              </a:rPr>
              <a:t>−78%</a:t>
            </a:r>
            <a:endParaRPr lang="en-US" sz="2600" dirty="0"/>
          </a:p>
        </p:txBody>
      </p:sp>
      <p:sp>
        <p:nvSpPr>
          <p:cNvPr id="16" name="Text 11"/>
          <p:cNvSpPr txBox="1"/>
          <p:nvPr/>
        </p:nvSpPr>
        <p:spPr>
          <a:xfrm>
            <a:off x="4160520" y="1938528"/>
            <a:ext cx="1600200" cy="438912"/>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pings to the busiest volunteers</a:t>
            </a:r>
            <a:endParaRPr lang="en-US" sz="1050" dirty="0"/>
          </a:p>
        </p:txBody>
      </p:sp>
      <p:sp>
        <p:nvSpPr>
          <p:cNvPr id="17" name="Shape 12"/>
          <p:cNvSpPr/>
          <p:nvPr/>
        </p:nvSpPr>
        <p:spPr>
          <a:xfrm>
            <a:off x="6080760" y="1280160"/>
            <a:ext cx="2560320" cy="1234440"/>
          </a:xfrm>
          <a:prstGeom prst="roundRect">
            <a:avLst>
              <a:gd name="adj" fmla="val 10370"/>
            </a:avLst>
          </a:prstGeom>
          <a:solidFill>
            <a:srgbClr val="EFEBFE"/>
          </a:solidFill>
          <a:ln w="12700">
            <a:solidFill>
              <a:srgbClr val="EFEBFE"/>
            </a:solidFill>
            <a:prstDash val="solid"/>
          </a:ln>
        </p:spPr>
      </p:sp>
      <p:sp>
        <p:nvSpPr>
          <p:cNvPr id="18" name="Shape 13"/>
          <p:cNvSpPr/>
          <p:nvPr/>
        </p:nvSpPr>
        <p:spPr>
          <a:xfrm>
            <a:off x="6263640" y="1618488"/>
            <a:ext cx="566928" cy="566928"/>
          </a:xfrm>
          <a:prstGeom prst="ellipse">
            <a:avLst/>
          </a:prstGeom>
          <a:solidFill>
            <a:srgbClr val="6C4EF5"/>
          </a:solidFill>
          <a:ln w="12700">
            <a:solidFill>
              <a:srgbClr val="6C4EF5"/>
            </a:solidFill>
            <a:prstDash val="solid"/>
          </a:ln>
        </p:spPr>
      </p:sp>
      <p:pic>
        <p:nvPicPr>
          <p:cNvPr id="19" name="Image 3" descr="preencoded.png">    </p:cNvPr>
          <p:cNvPicPr>
            <a:picLocks noChangeAspect="1"/>
          </p:cNvPicPr>
          <p:nvPr/>
        </p:nvPicPr>
        <p:blipFill>
          <a:blip r:embed="rId4"/>
          <a:stretch>
            <a:fillRect/>
          </a:stretch>
        </p:blipFill>
        <p:spPr>
          <a:xfrm>
            <a:off x="6409944" y="1764792"/>
            <a:ext cx="274320" cy="274320"/>
          </a:xfrm>
          <a:prstGeom prst="rect">
            <a:avLst/>
          </a:prstGeom>
        </p:spPr>
      </p:pic>
      <p:sp>
        <p:nvSpPr>
          <p:cNvPr id="20" name="Text 14"/>
          <p:cNvSpPr txBox="1"/>
          <p:nvPr/>
        </p:nvSpPr>
        <p:spPr>
          <a:xfrm>
            <a:off x="6949440" y="1444752"/>
            <a:ext cx="1600200" cy="502920"/>
          </a:xfrm>
          <a:prstGeom prst="rect">
            <a:avLst/>
          </a:prstGeom>
          <a:noFill/>
          <a:ln/>
        </p:spPr>
        <p:txBody>
          <a:bodyPr wrap="square" lIns="0" tIns="0" rIns="0" bIns="0" rtlCol="0" anchor="ctr"/>
          <a:lstStyle/>
          <a:p>
            <a:pPr indent="0" marL="0">
              <a:buNone/>
            </a:pPr>
            <a:r>
              <a:rPr lang="en-US" sz="2600" b="1" dirty="0">
                <a:solidFill>
                  <a:srgbClr val="6C4EF5"/>
                </a:solidFill>
                <a:latin typeface="Segoe UI" pitchFamily="34" charset="0"/>
                <a:ea typeface="Segoe UI" pitchFamily="34" charset="-122"/>
                <a:cs typeface="Segoe UI" pitchFamily="34" charset="-120"/>
              </a:rPr>
              <a:t>−59%</a:t>
            </a:r>
            <a:endParaRPr lang="en-US" sz="2600" dirty="0"/>
          </a:p>
        </p:txBody>
      </p:sp>
      <p:sp>
        <p:nvSpPr>
          <p:cNvPr id="21" name="Text 15"/>
          <p:cNvSpPr txBox="1"/>
          <p:nvPr/>
        </p:nvSpPr>
        <p:spPr>
          <a:xfrm>
            <a:off x="6949440" y="1938528"/>
            <a:ext cx="1600200" cy="438912"/>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food lost</a:t>
            </a:r>
            <a:endParaRPr lang="en-US" sz="1050" dirty="0"/>
          </a:p>
        </p:txBody>
      </p:sp>
      <p:sp>
        <p:nvSpPr>
          <p:cNvPr id="22" name="Shape 16"/>
          <p:cNvSpPr/>
          <p:nvPr/>
        </p:nvSpPr>
        <p:spPr>
          <a:xfrm>
            <a:off x="502920" y="2697480"/>
            <a:ext cx="2560320" cy="1234440"/>
          </a:xfrm>
          <a:prstGeom prst="roundRect">
            <a:avLst>
              <a:gd name="adj" fmla="val 10370"/>
            </a:avLst>
          </a:prstGeom>
          <a:solidFill>
            <a:srgbClr val="EFEBFE"/>
          </a:solidFill>
          <a:ln w="12700">
            <a:solidFill>
              <a:srgbClr val="EFEBFE"/>
            </a:solidFill>
            <a:prstDash val="solid"/>
          </a:ln>
        </p:spPr>
      </p:sp>
      <p:sp>
        <p:nvSpPr>
          <p:cNvPr id="23" name="Shape 17"/>
          <p:cNvSpPr/>
          <p:nvPr/>
        </p:nvSpPr>
        <p:spPr>
          <a:xfrm>
            <a:off x="685800" y="3035808"/>
            <a:ext cx="566928" cy="566928"/>
          </a:xfrm>
          <a:prstGeom prst="ellipse">
            <a:avLst/>
          </a:prstGeom>
          <a:solidFill>
            <a:srgbClr val="6C4EF5"/>
          </a:solidFill>
          <a:ln w="12700">
            <a:solidFill>
              <a:srgbClr val="6C4EF5"/>
            </a:solidFill>
            <a:prstDash val="solid"/>
          </a:ln>
        </p:spPr>
      </p:sp>
      <p:pic>
        <p:nvPicPr>
          <p:cNvPr id="24" name="Image 4" descr="preencoded.png">    </p:cNvPr>
          <p:cNvPicPr>
            <a:picLocks noChangeAspect="1"/>
          </p:cNvPicPr>
          <p:nvPr/>
        </p:nvPicPr>
        <p:blipFill>
          <a:blip r:embed="rId5"/>
          <a:stretch>
            <a:fillRect/>
          </a:stretch>
        </p:blipFill>
        <p:spPr>
          <a:xfrm>
            <a:off x="832104" y="3182112"/>
            <a:ext cx="274320" cy="274320"/>
          </a:xfrm>
          <a:prstGeom prst="rect">
            <a:avLst/>
          </a:prstGeom>
        </p:spPr>
      </p:pic>
      <p:sp>
        <p:nvSpPr>
          <p:cNvPr id="25" name="Text 18"/>
          <p:cNvSpPr txBox="1"/>
          <p:nvPr/>
        </p:nvSpPr>
        <p:spPr>
          <a:xfrm>
            <a:off x="1371600" y="2862072"/>
            <a:ext cx="1600200" cy="502920"/>
          </a:xfrm>
          <a:prstGeom prst="rect">
            <a:avLst/>
          </a:prstGeom>
          <a:noFill/>
          <a:ln/>
        </p:spPr>
        <p:txBody>
          <a:bodyPr wrap="square" lIns="0" tIns="0" rIns="0" bIns="0" rtlCol="0" anchor="ctr"/>
          <a:lstStyle/>
          <a:p>
            <a:pPr indent="0" marL="0">
              <a:buNone/>
            </a:pPr>
            <a:r>
              <a:rPr lang="en-US" sz="2600" b="1" dirty="0">
                <a:solidFill>
                  <a:srgbClr val="6C4EF5"/>
                </a:solidFill>
                <a:latin typeface="Segoe UI" pitchFamily="34" charset="0"/>
                <a:ea typeface="Segoe UI" pitchFamily="34" charset="-122"/>
                <a:cs typeface="Segoe UI" pitchFamily="34" charset="-120"/>
              </a:rPr>
              <a:t>30 s</a:t>
            </a:r>
            <a:endParaRPr lang="en-US" sz="2600" dirty="0"/>
          </a:p>
        </p:txBody>
      </p:sp>
      <p:sp>
        <p:nvSpPr>
          <p:cNvPr id="26" name="Text 19"/>
          <p:cNvSpPr txBox="1"/>
          <p:nvPr/>
        </p:nvSpPr>
        <p:spPr>
          <a:xfrm>
            <a:off x="1371600" y="3355848"/>
            <a:ext cx="1600200" cy="438912"/>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for a restaurant to donate</a:t>
            </a:r>
            <a:endParaRPr lang="en-US" sz="1050" dirty="0"/>
          </a:p>
        </p:txBody>
      </p:sp>
      <p:sp>
        <p:nvSpPr>
          <p:cNvPr id="27" name="Shape 20"/>
          <p:cNvSpPr/>
          <p:nvPr/>
        </p:nvSpPr>
        <p:spPr>
          <a:xfrm>
            <a:off x="3291840" y="2697480"/>
            <a:ext cx="2560320" cy="1234440"/>
          </a:xfrm>
          <a:prstGeom prst="roundRect">
            <a:avLst>
              <a:gd name="adj" fmla="val 10370"/>
            </a:avLst>
          </a:prstGeom>
          <a:solidFill>
            <a:srgbClr val="EFEBFE"/>
          </a:solidFill>
          <a:ln w="12700">
            <a:solidFill>
              <a:srgbClr val="EFEBFE"/>
            </a:solidFill>
            <a:prstDash val="solid"/>
          </a:ln>
        </p:spPr>
      </p:sp>
      <p:sp>
        <p:nvSpPr>
          <p:cNvPr id="28" name="Shape 21"/>
          <p:cNvSpPr/>
          <p:nvPr/>
        </p:nvSpPr>
        <p:spPr>
          <a:xfrm>
            <a:off x="3474720" y="3035808"/>
            <a:ext cx="566928" cy="566928"/>
          </a:xfrm>
          <a:prstGeom prst="ellipse">
            <a:avLst/>
          </a:prstGeom>
          <a:solidFill>
            <a:srgbClr val="6C4EF5"/>
          </a:solidFill>
          <a:ln w="12700">
            <a:solidFill>
              <a:srgbClr val="6C4EF5"/>
            </a:solidFill>
            <a:prstDash val="solid"/>
          </a:ln>
        </p:spPr>
      </p:sp>
      <p:pic>
        <p:nvPicPr>
          <p:cNvPr id="29" name="Image 5" descr="preencoded.png">    </p:cNvPr>
          <p:cNvPicPr>
            <a:picLocks noChangeAspect="1"/>
          </p:cNvPicPr>
          <p:nvPr/>
        </p:nvPicPr>
        <p:blipFill>
          <a:blip r:embed="rId6"/>
          <a:stretch>
            <a:fillRect/>
          </a:stretch>
        </p:blipFill>
        <p:spPr>
          <a:xfrm>
            <a:off x="3621024" y="3182112"/>
            <a:ext cx="274320" cy="274320"/>
          </a:xfrm>
          <a:prstGeom prst="rect">
            <a:avLst/>
          </a:prstGeom>
        </p:spPr>
      </p:pic>
      <p:sp>
        <p:nvSpPr>
          <p:cNvPr id="30" name="Text 22"/>
          <p:cNvSpPr txBox="1"/>
          <p:nvPr/>
        </p:nvSpPr>
        <p:spPr>
          <a:xfrm>
            <a:off x="4160520" y="2862072"/>
            <a:ext cx="1600200" cy="502920"/>
          </a:xfrm>
          <a:prstGeom prst="rect">
            <a:avLst/>
          </a:prstGeom>
          <a:noFill/>
          <a:ln/>
        </p:spPr>
        <p:txBody>
          <a:bodyPr wrap="square" lIns="0" tIns="0" rIns="0" bIns="0" rtlCol="0" anchor="ctr"/>
          <a:lstStyle/>
          <a:p>
            <a:pPr indent="0" marL="0">
              <a:buNone/>
            </a:pPr>
            <a:r>
              <a:rPr lang="en-US" sz="2600" b="1" dirty="0">
                <a:solidFill>
                  <a:srgbClr val="6C4EF5"/>
                </a:solidFill>
                <a:latin typeface="Segoe UI" pitchFamily="34" charset="0"/>
                <a:ea typeface="Segoe UI" pitchFamily="34" charset="-122"/>
                <a:cs typeface="Segoe UI" pitchFamily="34" charset="-120"/>
              </a:rPr>
              <a:t>0</a:t>
            </a:r>
            <a:endParaRPr lang="en-US" sz="2600" dirty="0"/>
          </a:p>
        </p:txBody>
      </p:sp>
      <p:sp>
        <p:nvSpPr>
          <p:cNvPr id="31" name="Text 23"/>
          <p:cNvSpPr txBox="1"/>
          <p:nvPr/>
        </p:nvSpPr>
        <p:spPr>
          <a:xfrm>
            <a:off x="4160520" y="3355848"/>
            <a:ext cx="1600200" cy="438912"/>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food-safety violations</a:t>
            </a:r>
            <a:endParaRPr lang="en-US" sz="1050" dirty="0"/>
          </a:p>
        </p:txBody>
      </p:sp>
      <p:sp>
        <p:nvSpPr>
          <p:cNvPr id="32" name="Shape 24"/>
          <p:cNvSpPr/>
          <p:nvPr/>
        </p:nvSpPr>
        <p:spPr>
          <a:xfrm>
            <a:off x="6080760" y="2697480"/>
            <a:ext cx="2560320" cy="1234440"/>
          </a:xfrm>
          <a:prstGeom prst="roundRect">
            <a:avLst>
              <a:gd name="adj" fmla="val 10370"/>
            </a:avLst>
          </a:prstGeom>
          <a:solidFill>
            <a:srgbClr val="EFEBFE"/>
          </a:solidFill>
          <a:ln w="12700">
            <a:solidFill>
              <a:srgbClr val="EFEBFE"/>
            </a:solidFill>
            <a:prstDash val="solid"/>
          </a:ln>
        </p:spPr>
      </p:sp>
      <p:sp>
        <p:nvSpPr>
          <p:cNvPr id="33" name="Shape 25"/>
          <p:cNvSpPr/>
          <p:nvPr/>
        </p:nvSpPr>
        <p:spPr>
          <a:xfrm>
            <a:off x="6263640" y="3035808"/>
            <a:ext cx="566928" cy="566928"/>
          </a:xfrm>
          <a:prstGeom prst="ellipse">
            <a:avLst/>
          </a:prstGeom>
          <a:solidFill>
            <a:srgbClr val="6C4EF5"/>
          </a:solidFill>
          <a:ln w="12700">
            <a:solidFill>
              <a:srgbClr val="6C4EF5"/>
            </a:solidFill>
            <a:prstDash val="solid"/>
          </a:ln>
        </p:spPr>
      </p:sp>
      <p:pic>
        <p:nvPicPr>
          <p:cNvPr id="34" name="Image 6" descr="preencoded.png">    </p:cNvPr>
          <p:cNvPicPr>
            <a:picLocks noChangeAspect="1"/>
          </p:cNvPicPr>
          <p:nvPr/>
        </p:nvPicPr>
        <p:blipFill>
          <a:blip r:embed="rId7"/>
          <a:stretch>
            <a:fillRect/>
          </a:stretch>
        </p:blipFill>
        <p:spPr>
          <a:xfrm>
            <a:off x="6409944" y="3182112"/>
            <a:ext cx="274320" cy="274320"/>
          </a:xfrm>
          <a:prstGeom prst="rect">
            <a:avLst/>
          </a:prstGeom>
        </p:spPr>
      </p:pic>
      <p:sp>
        <p:nvSpPr>
          <p:cNvPr id="35" name="Text 26"/>
          <p:cNvSpPr txBox="1"/>
          <p:nvPr/>
        </p:nvSpPr>
        <p:spPr>
          <a:xfrm>
            <a:off x="6949440" y="2862072"/>
            <a:ext cx="1600200" cy="502920"/>
          </a:xfrm>
          <a:prstGeom prst="rect">
            <a:avLst/>
          </a:prstGeom>
          <a:noFill/>
          <a:ln/>
        </p:spPr>
        <p:txBody>
          <a:bodyPr wrap="square" lIns="0" tIns="0" rIns="0" bIns="0" rtlCol="0" anchor="ctr"/>
          <a:lstStyle/>
          <a:p>
            <a:pPr indent="0" marL="0">
              <a:buNone/>
            </a:pPr>
            <a:r>
              <a:rPr lang="en-US" sz="2600" b="1" dirty="0">
                <a:solidFill>
                  <a:srgbClr val="6C4EF5"/>
                </a:solidFill>
                <a:latin typeface="Segoe UI" pitchFamily="34" charset="0"/>
                <a:ea typeface="Segoe UI" pitchFamily="34" charset="-122"/>
                <a:cs typeface="Segoe UI" pitchFamily="34" charset="-120"/>
              </a:rPr>
              <a:t>100%</a:t>
            </a:r>
            <a:endParaRPr lang="en-US" sz="2600" dirty="0"/>
          </a:p>
        </p:txBody>
      </p:sp>
      <p:sp>
        <p:nvSpPr>
          <p:cNvPr id="36" name="Text 27"/>
          <p:cNvSpPr txBox="1"/>
          <p:nvPr/>
        </p:nvSpPr>
        <p:spPr>
          <a:xfrm>
            <a:off x="6949440" y="3355848"/>
            <a:ext cx="1600200" cy="438912"/>
          </a:xfrm>
          <a:prstGeom prst="rect">
            <a:avLst/>
          </a:prstGeom>
          <a:noFill/>
          <a:ln/>
        </p:spPr>
        <p:txBody>
          <a:bodyPr wrap="square" lIns="0" tIns="0" rIns="0" bIns="0" rtlCol="0" anchor="ctr"/>
          <a:lstStyle/>
          <a:p>
            <a:pPr indent="0" marL="0">
              <a:buNone/>
            </a:pPr>
            <a:r>
              <a:rPr lang="en-US" sz="1050" dirty="0">
                <a:solidFill>
                  <a:srgbClr val="161616"/>
                </a:solidFill>
                <a:latin typeface="Segoe UI" pitchFamily="34" charset="0"/>
                <a:ea typeface="Segoe UI" pitchFamily="34" charset="-122"/>
                <a:cs typeface="Segoe UI" pitchFamily="34" charset="-120"/>
              </a:rPr>
              <a:t>rescues on an audit-ready log</a:t>
            </a:r>
            <a:endParaRPr lang="en-US" sz="1050" dirty="0"/>
          </a:p>
        </p:txBody>
      </p:sp>
      <p:sp>
        <p:nvSpPr>
          <p:cNvPr id="37" name="Shape 28"/>
          <p:cNvSpPr/>
          <p:nvPr/>
        </p:nvSpPr>
        <p:spPr>
          <a:xfrm>
            <a:off x="1417320" y="4251960"/>
            <a:ext cx="2011680" cy="420624"/>
          </a:xfrm>
          <a:prstGeom prst="roundRect">
            <a:avLst>
              <a:gd name="adj" fmla="val 50000"/>
            </a:avLst>
          </a:prstGeom>
          <a:solidFill>
            <a:srgbClr val="DDA63A"/>
          </a:solidFill>
          <a:ln w="12700">
            <a:solidFill>
              <a:srgbClr val="DDA63A"/>
            </a:solidFill>
            <a:prstDash val="solid"/>
          </a:ln>
        </p:spPr>
      </p:sp>
      <p:sp>
        <p:nvSpPr>
          <p:cNvPr id="38" name="Text 29"/>
          <p:cNvSpPr txBox="1"/>
          <p:nvPr/>
        </p:nvSpPr>
        <p:spPr>
          <a:xfrm>
            <a:off x="1417320" y="4251960"/>
            <a:ext cx="201168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SDG 2  </a:t>
            </a:r>
            <a:pPr algn="ctr" indent="0" marL="0">
              <a:buNone/>
            </a:pPr>
            <a:r>
              <a:rPr lang="en-US" sz="1100" dirty="0">
                <a:solidFill>
                  <a:srgbClr val="FFFFFF"/>
                </a:solidFill>
                <a:latin typeface="Segoe UI" pitchFamily="34" charset="0"/>
                <a:ea typeface="Segoe UI" pitchFamily="34" charset="-122"/>
                <a:cs typeface="Segoe UI" pitchFamily="34" charset="-120"/>
              </a:rPr>
              <a:t>Zero Hunger</a:t>
            </a:r>
            <a:endParaRPr lang="en-US" sz="1100" dirty="0"/>
          </a:p>
        </p:txBody>
      </p:sp>
      <p:sp>
        <p:nvSpPr>
          <p:cNvPr id="39" name="Shape 30"/>
          <p:cNvSpPr/>
          <p:nvPr/>
        </p:nvSpPr>
        <p:spPr>
          <a:xfrm>
            <a:off x="3611880" y="4251960"/>
            <a:ext cx="2011680" cy="420624"/>
          </a:xfrm>
          <a:prstGeom prst="roundRect">
            <a:avLst>
              <a:gd name="adj" fmla="val 50000"/>
            </a:avLst>
          </a:prstGeom>
          <a:solidFill>
            <a:srgbClr val="BF8B2E"/>
          </a:solidFill>
          <a:ln w="12700">
            <a:solidFill>
              <a:srgbClr val="BF8B2E"/>
            </a:solidFill>
            <a:prstDash val="solid"/>
          </a:ln>
        </p:spPr>
      </p:sp>
      <p:sp>
        <p:nvSpPr>
          <p:cNvPr id="40" name="Text 31"/>
          <p:cNvSpPr txBox="1"/>
          <p:nvPr/>
        </p:nvSpPr>
        <p:spPr>
          <a:xfrm>
            <a:off x="3611880" y="4251960"/>
            <a:ext cx="201168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SDG 12.3  </a:t>
            </a:r>
            <a:pPr algn="ctr" indent="0" marL="0">
              <a:buNone/>
            </a:pPr>
            <a:r>
              <a:rPr lang="en-US" sz="1100" dirty="0">
                <a:solidFill>
                  <a:srgbClr val="FFFFFF"/>
                </a:solidFill>
                <a:latin typeface="Segoe UI" pitchFamily="34" charset="0"/>
                <a:ea typeface="Segoe UI" pitchFamily="34" charset="-122"/>
                <a:cs typeface="Segoe UI" pitchFamily="34" charset="-120"/>
              </a:rPr>
              <a:t>Halve food waste</a:t>
            </a:r>
            <a:endParaRPr lang="en-US" sz="1100" dirty="0"/>
          </a:p>
        </p:txBody>
      </p:sp>
      <p:sp>
        <p:nvSpPr>
          <p:cNvPr id="41" name="Shape 32"/>
          <p:cNvSpPr/>
          <p:nvPr/>
        </p:nvSpPr>
        <p:spPr>
          <a:xfrm>
            <a:off x="5806440" y="4251960"/>
            <a:ext cx="2011680" cy="420624"/>
          </a:xfrm>
          <a:prstGeom prst="roundRect">
            <a:avLst>
              <a:gd name="adj" fmla="val 50000"/>
            </a:avLst>
          </a:prstGeom>
          <a:solidFill>
            <a:srgbClr val="3F7E44"/>
          </a:solidFill>
          <a:ln w="12700">
            <a:solidFill>
              <a:srgbClr val="3F7E44"/>
            </a:solidFill>
            <a:prstDash val="solid"/>
          </a:ln>
        </p:spPr>
      </p:sp>
      <p:sp>
        <p:nvSpPr>
          <p:cNvPr id="42" name="Text 33"/>
          <p:cNvSpPr txBox="1"/>
          <p:nvPr/>
        </p:nvSpPr>
        <p:spPr>
          <a:xfrm>
            <a:off x="5806440" y="4251960"/>
            <a:ext cx="201168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SDG 13  </a:t>
            </a:r>
            <a:pPr algn="ctr" indent="0" marL="0">
              <a:buNone/>
            </a:pPr>
            <a:r>
              <a:rPr lang="en-US" sz="1100" dirty="0">
                <a:solidFill>
                  <a:srgbClr val="FFFFFF"/>
                </a:solidFill>
                <a:latin typeface="Segoe UI" pitchFamily="34" charset="0"/>
                <a:ea typeface="Segoe UI" pitchFamily="34" charset="-122"/>
                <a:cs typeface="Segoe UI" pitchFamily="34" charset="-120"/>
              </a:rPr>
              <a:t>Climate action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Text 2"/>
          <p:cNvSpPr txBox="1"/>
          <p:nvPr/>
        </p:nvSpPr>
        <p:spPr>
          <a:xfrm>
            <a:off x="457200" y="201168"/>
            <a:ext cx="8229600" cy="566928"/>
          </a:xfrm>
          <a:prstGeom prst="rect">
            <a:avLst/>
          </a:prstGeom>
          <a:noFill/>
          <a:ln/>
        </p:spPr>
        <p:txBody>
          <a:bodyPr wrap="square" lIns="0" tIns="0" rIns="0" bIns="0" rtlCol="0" anchor="ctr"/>
          <a:lstStyle/>
          <a:p>
            <a:pPr algn="ctr" indent="0" marL="0">
              <a:buNone/>
            </a:pPr>
            <a:r>
              <a:rPr lang="en-US" sz="3000" b="1" dirty="0">
                <a:solidFill>
                  <a:srgbClr val="161616"/>
                </a:solidFill>
                <a:latin typeface="Segoe UI" pitchFamily="34" charset="0"/>
                <a:ea typeface="Segoe UI" pitchFamily="34" charset="-122"/>
                <a:cs typeface="Segoe UI" pitchFamily="34" charset="-120"/>
              </a:rPr>
              <a:t>Methodology &amp; Roadmap</a:t>
            </a:r>
            <a:endParaRPr lang="en-US" sz="3000" dirty="0"/>
          </a:p>
        </p:txBody>
      </p:sp>
      <p:sp>
        <p:nvSpPr>
          <p:cNvPr id="6" name="Shape 3"/>
          <p:cNvSpPr/>
          <p:nvPr/>
        </p:nvSpPr>
        <p:spPr>
          <a:xfrm>
            <a:off x="685800" y="2514600"/>
            <a:ext cx="7534656" cy="0"/>
          </a:xfrm>
          <a:prstGeom prst="line">
            <a:avLst/>
          </a:prstGeom>
          <a:noFill/>
          <a:ln w="38100">
            <a:solidFill>
              <a:srgbClr val="D5CEFB"/>
            </a:solidFill>
            <a:prstDash val="solid"/>
          </a:ln>
        </p:spPr>
      </p:sp>
      <p:sp>
        <p:nvSpPr>
          <p:cNvPr id="7" name="Shape 4"/>
          <p:cNvSpPr/>
          <p:nvPr/>
        </p:nvSpPr>
        <p:spPr>
          <a:xfrm>
            <a:off x="411480" y="2240280"/>
            <a:ext cx="548640" cy="548640"/>
          </a:xfrm>
          <a:prstGeom prst="ellipse">
            <a:avLst/>
          </a:prstGeom>
          <a:solidFill>
            <a:srgbClr val="6C4EF5"/>
          </a:solidFill>
          <a:ln w="19050">
            <a:solidFill>
              <a:srgbClr val="6C4EF5"/>
            </a:solidFill>
            <a:prstDash val="solid"/>
          </a:ln>
        </p:spPr>
      </p:sp>
      <p:pic>
        <p:nvPicPr>
          <p:cNvPr id="8" name="Image 1" descr="preencoded.png">    </p:cNvPr>
          <p:cNvPicPr>
            <a:picLocks noChangeAspect="1"/>
          </p:cNvPicPr>
          <p:nvPr/>
        </p:nvPicPr>
        <p:blipFill>
          <a:blip r:embed="rId2"/>
          <a:stretch>
            <a:fillRect/>
          </a:stretch>
        </p:blipFill>
        <p:spPr>
          <a:xfrm>
            <a:off x="557784" y="2386584"/>
            <a:ext cx="256032" cy="256032"/>
          </a:xfrm>
          <a:prstGeom prst="rect">
            <a:avLst/>
          </a:prstGeom>
        </p:spPr>
      </p:pic>
      <p:sp>
        <p:nvSpPr>
          <p:cNvPr id="9" name="Text 5"/>
          <p:cNvSpPr txBox="1"/>
          <p:nvPr/>
        </p:nvSpPr>
        <p:spPr>
          <a:xfrm>
            <a:off x="228600" y="1581912"/>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Research</a:t>
            </a:r>
            <a:endParaRPr lang="en-US" sz="1150" dirty="0"/>
          </a:p>
        </p:txBody>
      </p:sp>
      <p:sp>
        <p:nvSpPr>
          <p:cNvPr id="10" name="Text 6"/>
          <p:cNvSpPr txBox="1"/>
          <p:nvPr/>
        </p:nvSpPr>
        <p:spPr>
          <a:xfrm>
            <a:off x="210312" y="1837944"/>
            <a:ext cx="950976" cy="384048"/>
          </a:xfrm>
          <a:prstGeom prst="rect">
            <a:avLst/>
          </a:prstGeom>
          <a:noFill/>
          <a:ln/>
        </p:spPr>
        <p:txBody>
          <a:bodyPr wrap="square" lIns="0" tIns="0" rIns="0" bIns="0" rtlCol="0" anchor="b"/>
          <a:lstStyle/>
          <a:p>
            <a:pPr algn="ctr" indent="0" marL="0">
              <a:buNone/>
            </a:pPr>
            <a:r>
              <a:rPr lang="en-US" sz="850" dirty="0">
                <a:solidFill>
                  <a:srgbClr val="5B5B66"/>
                </a:solidFill>
                <a:latin typeface="Segoe UI" pitchFamily="34" charset="0"/>
                <a:ea typeface="Segoe UI" pitchFamily="34" charset="-122"/>
                <a:cs typeface="Segoe UI" pitchFamily="34" charset="-120"/>
              </a:rPr>
              <a:t>PS + 412FR, UNEP, FDA, FSSAI</a:t>
            </a:r>
            <a:endParaRPr lang="en-US" sz="850" dirty="0"/>
          </a:p>
        </p:txBody>
      </p:sp>
      <p:sp>
        <p:nvSpPr>
          <p:cNvPr id="11" name="Shape 7"/>
          <p:cNvSpPr/>
          <p:nvPr/>
        </p:nvSpPr>
        <p:spPr>
          <a:xfrm>
            <a:off x="1353312" y="2240280"/>
            <a:ext cx="548640" cy="548640"/>
          </a:xfrm>
          <a:prstGeom prst="ellipse">
            <a:avLst/>
          </a:prstGeom>
          <a:solidFill>
            <a:srgbClr val="6C4EF5"/>
          </a:solidFill>
          <a:ln w="19050">
            <a:solidFill>
              <a:srgbClr val="6C4EF5"/>
            </a:solidFill>
            <a:prstDash val="solid"/>
          </a:ln>
        </p:spPr>
      </p:sp>
      <p:pic>
        <p:nvPicPr>
          <p:cNvPr id="12" name="Image 2" descr="preencoded.png">    </p:cNvPr>
          <p:cNvPicPr>
            <a:picLocks noChangeAspect="1"/>
          </p:cNvPicPr>
          <p:nvPr/>
        </p:nvPicPr>
        <p:blipFill>
          <a:blip r:embed="rId3"/>
          <a:stretch>
            <a:fillRect/>
          </a:stretch>
        </p:blipFill>
        <p:spPr>
          <a:xfrm>
            <a:off x="1499616" y="2386584"/>
            <a:ext cx="256032" cy="256032"/>
          </a:xfrm>
          <a:prstGeom prst="rect">
            <a:avLst/>
          </a:prstGeom>
        </p:spPr>
      </p:pic>
      <p:sp>
        <p:nvSpPr>
          <p:cNvPr id="13" name="Text 8"/>
          <p:cNvSpPr txBox="1"/>
          <p:nvPr/>
        </p:nvSpPr>
        <p:spPr>
          <a:xfrm>
            <a:off x="1170432" y="2898648"/>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Data audit</a:t>
            </a:r>
            <a:endParaRPr lang="en-US" sz="1150" dirty="0"/>
          </a:p>
        </p:txBody>
      </p:sp>
      <p:sp>
        <p:nvSpPr>
          <p:cNvPr id="14" name="Text 9"/>
          <p:cNvSpPr txBox="1"/>
          <p:nvPr/>
        </p:nvSpPr>
        <p:spPr>
          <a:xfrm>
            <a:off x="1152144" y="3154680"/>
            <a:ext cx="950976" cy="384048"/>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5 bugs fixed</a:t>
            </a:r>
            <a:endParaRPr lang="en-US" sz="850" dirty="0"/>
          </a:p>
        </p:txBody>
      </p:sp>
      <p:sp>
        <p:nvSpPr>
          <p:cNvPr id="15" name="Shape 10"/>
          <p:cNvSpPr/>
          <p:nvPr/>
        </p:nvSpPr>
        <p:spPr>
          <a:xfrm>
            <a:off x="2295144" y="2240280"/>
            <a:ext cx="548640" cy="548640"/>
          </a:xfrm>
          <a:prstGeom prst="ellipse">
            <a:avLst/>
          </a:prstGeom>
          <a:solidFill>
            <a:srgbClr val="6C4EF5"/>
          </a:solidFill>
          <a:ln w="19050">
            <a:solidFill>
              <a:srgbClr val="6C4EF5"/>
            </a:solidFill>
            <a:prstDash val="solid"/>
          </a:ln>
        </p:spPr>
      </p:sp>
      <p:pic>
        <p:nvPicPr>
          <p:cNvPr id="16" name="Image 3" descr="preencoded.png">    </p:cNvPr>
          <p:cNvPicPr>
            <a:picLocks noChangeAspect="1"/>
          </p:cNvPicPr>
          <p:nvPr/>
        </p:nvPicPr>
        <p:blipFill>
          <a:blip r:embed="rId4"/>
          <a:stretch>
            <a:fillRect/>
          </a:stretch>
        </p:blipFill>
        <p:spPr>
          <a:xfrm>
            <a:off x="2441448" y="2386584"/>
            <a:ext cx="256032" cy="256032"/>
          </a:xfrm>
          <a:prstGeom prst="rect">
            <a:avLst/>
          </a:prstGeom>
        </p:spPr>
      </p:pic>
      <p:sp>
        <p:nvSpPr>
          <p:cNvPr id="17" name="Text 11"/>
          <p:cNvSpPr txBox="1"/>
          <p:nvPr/>
        </p:nvSpPr>
        <p:spPr>
          <a:xfrm>
            <a:off x="2112264" y="1581912"/>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Rules</a:t>
            </a:r>
            <a:endParaRPr lang="en-US" sz="1150" dirty="0"/>
          </a:p>
        </p:txBody>
      </p:sp>
      <p:sp>
        <p:nvSpPr>
          <p:cNvPr id="18" name="Text 12"/>
          <p:cNvSpPr txBox="1"/>
          <p:nvPr/>
        </p:nvSpPr>
        <p:spPr>
          <a:xfrm>
            <a:off x="2093976" y="1837944"/>
            <a:ext cx="950976" cy="384048"/>
          </a:xfrm>
          <a:prstGeom prst="rect">
            <a:avLst/>
          </a:prstGeom>
          <a:noFill/>
          <a:ln/>
        </p:spPr>
        <p:txBody>
          <a:bodyPr wrap="square" lIns="0" tIns="0" rIns="0" bIns="0" rtlCol="0" anchor="b"/>
          <a:lstStyle/>
          <a:p>
            <a:pPr algn="ctr" indent="0" marL="0">
              <a:buNone/>
            </a:pPr>
            <a:r>
              <a:rPr lang="en-US" sz="850" dirty="0">
                <a:solidFill>
                  <a:srgbClr val="5B5B66"/>
                </a:solidFill>
                <a:latin typeface="Segoe UI" pitchFamily="34" charset="0"/>
                <a:ea typeface="Segoe UI" pitchFamily="34" charset="-122"/>
                <a:cs typeface="Segoe UI" pitchFamily="34" charset="-120"/>
              </a:rPr>
              <a:t>safety clock, feasibility</a:t>
            </a:r>
            <a:endParaRPr lang="en-US" sz="850" dirty="0"/>
          </a:p>
        </p:txBody>
      </p:sp>
      <p:sp>
        <p:nvSpPr>
          <p:cNvPr id="19" name="Shape 13"/>
          <p:cNvSpPr/>
          <p:nvPr/>
        </p:nvSpPr>
        <p:spPr>
          <a:xfrm>
            <a:off x="3236976" y="2240280"/>
            <a:ext cx="548640" cy="548640"/>
          </a:xfrm>
          <a:prstGeom prst="ellipse">
            <a:avLst/>
          </a:prstGeom>
          <a:solidFill>
            <a:srgbClr val="6C4EF5"/>
          </a:solidFill>
          <a:ln w="19050">
            <a:solidFill>
              <a:srgbClr val="6C4EF5"/>
            </a:solidFill>
            <a:prstDash val="solid"/>
          </a:ln>
        </p:spPr>
      </p:sp>
      <p:pic>
        <p:nvPicPr>
          <p:cNvPr id="20" name="Image 4" descr="preencoded.png">    </p:cNvPr>
          <p:cNvPicPr>
            <a:picLocks noChangeAspect="1"/>
          </p:cNvPicPr>
          <p:nvPr/>
        </p:nvPicPr>
        <p:blipFill>
          <a:blip r:embed="rId5"/>
          <a:stretch>
            <a:fillRect/>
          </a:stretch>
        </p:blipFill>
        <p:spPr>
          <a:xfrm>
            <a:off x="3383280" y="2386584"/>
            <a:ext cx="256032" cy="256032"/>
          </a:xfrm>
          <a:prstGeom prst="rect">
            <a:avLst/>
          </a:prstGeom>
        </p:spPr>
      </p:pic>
      <p:sp>
        <p:nvSpPr>
          <p:cNvPr id="21" name="Text 14"/>
          <p:cNvSpPr txBox="1"/>
          <p:nvPr/>
        </p:nvSpPr>
        <p:spPr>
          <a:xfrm>
            <a:off x="3054096" y="2898648"/>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ML</a:t>
            </a:r>
            <a:endParaRPr lang="en-US" sz="1150" dirty="0"/>
          </a:p>
        </p:txBody>
      </p:sp>
      <p:sp>
        <p:nvSpPr>
          <p:cNvPr id="22" name="Text 15"/>
          <p:cNvSpPr txBox="1"/>
          <p:nvPr/>
        </p:nvSpPr>
        <p:spPr>
          <a:xfrm>
            <a:off x="3035808" y="3154680"/>
            <a:ext cx="950976" cy="384048"/>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acceptance model</a:t>
            </a:r>
            <a:endParaRPr lang="en-US" sz="850" dirty="0"/>
          </a:p>
        </p:txBody>
      </p:sp>
      <p:sp>
        <p:nvSpPr>
          <p:cNvPr id="23" name="Shape 16"/>
          <p:cNvSpPr/>
          <p:nvPr/>
        </p:nvSpPr>
        <p:spPr>
          <a:xfrm>
            <a:off x="4178808" y="2240280"/>
            <a:ext cx="548640" cy="548640"/>
          </a:xfrm>
          <a:prstGeom prst="ellipse">
            <a:avLst/>
          </a:prstGeom>
          <a:solidFill>
            <a:srgbClr val="6C4EF5"/>
          </a:solidFill>
          <a:ln w="19050">
            <a:solidFill>
              <a:srgbClr val="6C4EF5"/>
            </a:solidFill>
            <a:prstDash val="solid"/>
          </a:ln>
        </p:spPr>
      </p:sp>
      <p:pic>
        <p:nvPicPr>
          <p:cNvPr id="24" name="Image 5" descr="preencoded.png">    </p:cNvPr>
          <p:cNvPicPr>
            <a:picLocks noChangeAspect="1"/>
          </p:cNvPicPr>
          <p:nvPr/>
        </p:nvPicPr>
        <p:blipFill>
          <a:blip r:embed="rId6"/>
          <a:stretch>
            <a:fillRect/>
          </a:stretch>
        </p:blipFill>
        <p:spPr>
          <a:xfrm>
            <a:off x="4325112" y="2386584"/>
            <a:ext cx="256032" cy="256032"/>
          </a:xfrm>
          <a:prstGeom prst="rect">
            <a:avLst/>
          </a:prstGeom>
        </p:spPr>
      </p:pic>
      <p:sp>
        <p:nvSpPr>
          <p:cNvPr id="25" name="Text 17"/>
          <p:cNvSpPr txBox="1"/>
          <p:nvPr/>
        </p:nvSpPr>
        <p:spPr>
          <a:xfrm>
            <a:off x="3995928" y="1581912"/>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RL</a:t>
            </a:r>
            <a:endParaRPr lang="en-US" sz="1150" dirty="0"/>
          </a:p>
        </p:txBody>
      </p:sp>
      <p:sp>
        <p:nvSpPr>
          <p:cNvPr id="26" name="Text 18"/>
          <p:cNvSpPr txBox="1"/>
          <p:nvPr/>
        </p:nvSpPr>
        <p:spPr>
          <a:xfrm>
            <a:off x="3977640" y="1837944"/>
            <a:ext cx="950976" cy="384048"/>
          </a:xfrm>
          <a:prstGeom prst="rect">
            <a:avLst/>
          </a:prstGeom>
          <a:noFill/>
          <a:ln/>
        </p:spPr>
        <p:txBody>
          <a:bodyPr wrap="square" lIns="0" tIns="0" rIns="0" bIns="0" rtlCol="0" anchor="b"/>
          <a:lstStyle/>
          <a:p>
            <a:pPr algn="ctr" indent="0" marL="0">
              <a:buNone/>
            </a:pPr>
            <a:r>
              <a:rPr lang="en-US" sz="850" dirty="0">
                <a:solidFill>
                  <a:srgbClr val="5B5B66"/>
                </a:solidFill>
                <a:latin typeface="Segoe UI" pitchFamily="34" charset="0"/>
                <a:ea typeface="Segoe UI" pitchFamily="34" charset="-122"/>
                <a:cs typeface="Segoe UI" pitchFamily="34" charset="-120"/>
              </a:rPr>
              <a:t>offline FQI</a:t>
            </a:r>
            <a:endParaRPr lang="en-US" sz="850" dirty="0"/>
          </a:p>
        </p:txBody>
      </p:sp>
      <p:sp>
        <p:nvSpPr>
          <p:cNvPr id="27" name="Shape 19"/>
          <p:cNvSpPr/>
          <p:nvPr/>
        </p:nvSpPr>
        <p:spPr>
          <a:xfrm>
            <a:off x="5120640" y="2240280"/>
            <a:ext cx="548640" cy="548640"/>
          </a:xfrm>
          <a:prstGeom prst="ellipse">
            <a:avLst/>
          </a:prstGeom>
          <a:solidFill>
            <a:srgbClr val="6C4EF5"/>
          </a:solidFill>
          <a:ln w="19050">
            <a:solidFill>
              <a:srgbClr val="6C4EF5"/>
            </a:solidFill>
            <a:prstDash val="solid"/>
          </a:ln>
        </p:spPr>
      </p:sp>
      <p:pic>
        <p:nvPicPr>
          <p:cNvPr id="28" name="Image 6" descr="preencoded.png">    </p:cNvPr>
          <p:cNvPicPr>
            <a:picLocks noChangeAspect="1"/>
          </p:cNvPicPr>
          <p:nvPr/>
        </p:nvPicPr>
        <p:blipFill>
          <a:blip r:embed="rId7"/>
          <a:stretch>
            <a:fillRect/>
          </a:stretch>
        </p:blipFill>
        <p:spPr>
          <a:xfrm>
            <a:off x="5266944" y="2386584"/>
            <a:ext cx="256032" cy="256032"/>
          </a:xfrm>
          <a:prstGeom prst="rect">
            <a:avLst/>
          </a:prstGeom>
        </p:spPr>
      </p:pic>
      <p:sp>
        <p:nvSpPr>
          <p:cNvPr id="29" name="Text 20"/>
          <p:cNvSpPr txBox="1"/>
          <p:nvPr/>
        </p:nvSpPr>
        <p:spPr>
          <a:xfrm>
            <a:off x="4937760" y="2898648"/>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Simulate</a:t>
            </a:r>
            <a:endParaRPr lang="en-US" sz="1150" dirty="0"/>
          </a:p>
        </p:txBody>
      </p:sp>
      <p:sp>
        <p:nvSpPr>
          <p:cNvPr id="30" name="Text 21"/>
          <p:cNvSpPr txBox="1"/>
          <p:nvPr/>
        </p:nvSpPr>
        <p:spPr>
          <a:xfrm>
            <a:off x="4919472" y="3154680"/>
            <a:ext cx="950976" cy="384048"/>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30 held-out nights</a:t>
            </a:r>
            <a:endParaRPr lang="en-US" sz="850" dirty="0"/>
          </a:p>
        </p:txBody>
      </p:sp>
      <p:sp>
        <p:nvSpPr>
          <p:cNvPr id="31" name="Shape 22"/>
          <p:cNvSpPr/>
          <p:nvPr/>
        </p:nvSpPr>
        <p:spPr>
          <a:xfrm>
            <a:off x="6062472" y="2240280"/>
            <a:ext cx="548640" cy="548640"/>
          </a:xfrm>
          <a:prstGeom prst="ellipse">
            <a:avLst/>
          </a:prstGeom>
          <a:solidFill>
            <a:srgbClr val="6C4EF5"/>
          </a:solidFill>
          <a:ln w="19050">
            <a:solidFill>
              <a:srgbClr val="6C4EF5"/>
            </a:solidFill>
            <a:prstDash val="solid"/>
          </a:ln>
        </p:spPr>
      </p:sp>
      <p:pic>
        <p:nvPicPr>
          <p:cNvPr id="32" name="Image 7" descr="preencoded.png">    </p:cNvPr>
          <p:cNvPicPr>
            <a:picLocks noChangeAspect="1"/>
          </p:cNvPicPr>
          <p:nvPr/>
        </p:nvPicPr>
        <p:blipFill>
          <a:blip r:embed="rId8"/>
          <a:stretch>
            <a:fillRect/>
          </a:stretch>
        </p:blipFill>
        <p:spPr>
          <a:xfrm>
            <a:off x="6208776" y="2386584"/>
            <a:ext cx="256032" cy="256032"/>
          </a:xfrm>
          <a:prstGeom prst="rect">
            <a:avLst/>
          </a:prstGeom>
        </p:spPr>
      </p:pic>
      <p:sp>
        <p:nvSpPr>
          <p:cNvPr id="33" name="Text 23"/>
          <p:cNvSpPr txBox="1"/>
          <p:nvPr/>
        </p:nvSpPr>
        <p:spPr>
          <a:xfrm>
            <a:off x="5879592" y="1581912"/>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Product</a:t>
            </a:r>
            <a:endParaRPr lang="en-US" sz="1150" dirty="0"/>
          </a:p>
        </p:txBody>
      </p:sp>
      <p:sp>
        <p:nvSpPr>
          <p:cNvPr id="34" name="Text 24"/>
          <p:cNvSpPr txBox="1"/>
          <p:nvPr/>
        </p:nvSpPr>
        <p:spPr>
          <a:xfrm>
            <a:off x="5861304" y="1837944"/>
            <a:ext cx="950976" cy="384048"/>
          </a:xfrm>
          <a:prstGeom prst="rect">
            <a:avLst/>
          </a:prstGeom>
          <a:noFill/>
          <a:ln/>
        </p:spPr>
        <p:txBody>
          <a:bodyPr wrap="square" lIns="0" tIns="0" rIns="0" bIns="0" rtlCol="0" anchor="b"/>
          <a:lstStyle/>
          <a:p>
            <a:pPr algn="ctr" indent="0" marL="0">
              <a:buNone/>
            </a:pPr>
            <a:r>
              <a:rPr lang="en-US" sz="850" dirty="0">
                <a:solidFill>
                  <a:srgbClr val="5B5B66"/>
                </a:solidFill>
                <a:latin typeface="Segoe UI" pitchFamily="34" charset="0"/>
                <a:ea typeface="Segoe UI" pitchFamily="34" charset="-122"/>
                <a:cs typeface="Segoe UI" pitchFamily="34" charset="-120"/>
              </a:rPr>
              <a:t>roles, email, Mongo, deploy</a:t>
            </a:r>
            <a:endParaRPr lang="en-US" sz="850" dirty="0"/>
          </a:p>
        </p:txBody>
      </p:sp>
      <p:sp>
        <p:nvSpPr>
          <p:cNvPr id="35" name="Shape 25"/>
          <p:cNvSpPr/>
          <p:nvPr/>
        </p:nvSpPr>
        <p:spPr>
          <a:xfrm>
            <a:off x="7004304" y="2240280"/>
            <a:ext cx="548640" cy="548640"/>
          </a:xfrm>
          <a:prstGeom prst="ellipse">
            <a:avLst/>
          </a:prstGeom>
          <a:solidFill>
            <a:srgbClr val="FFFFFF"/>
          </a:solidFill>
          <a:ln w="19050">
            <a:solidFill>
              <a:srgbClr val="6C4EF5"/>
            </a:solidFill>
            <a:prstDash val="dash"/>
          </a:ln>
        </p:spPr>
      </p:sp>
      <p:pic>
        <p:nvPicPr>
          <p:cNvPr id="36" name="Image 8" descr="preencoded.png">    </p:cNvPr>
          <p:cNvPicPr>
            <a:picLocks noChangeAspect="1"/>
          </p:cNvPicPr>
          <p:nvPr/>
        </p:nvPicPr>
        <p:blipFill>
          <a:blip r:embed="rId9"/>
          <a:stretch>
            <a:fillRect/>
          </a:stretch>
        </p:blipFill>
        <p:spPr>
          <a:xfrm>
            <a:off x="7150608" y="2386584"/>
            <a:ext cx="256032" cy="256032"/>
          </a:xfrm>
          <a:prstGeom prst="rect">
            <a:avLst/>
          </a:prstGeom>
        </p:spPr>
      </p:pic>
      <p:sp>
        <p:nvSpPr>
          <p:cNvPr id="37" name="Text 26"/>
          <p:cNvSpPr txBox="1"/>
          <p:nvPr/>
        </p:nvSpPr>
        <p:spPr>
          <a:xfrm>
            <a:off x="6821424" y="2898648"/>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Pilot</a:t>
            </a:r>
            <a:endParaRPr lang="en-US" sz="1150" dirty="0"/>
          </a:p>
        </p:txBody>
      </p:sp>
      <p:sp>
        <p:nvSpPr>
          <p:cNvPr id="38" name="Text 27"/>
          <p:cNvSpPr txBox="1"/>
          <p:nvPr/>
        </p:nvSpPr>
        <p:spPr>
          <a:xfrm>
            <a:off x="6803136" y="3154680"/>
            <a:ext cx="950976" cy="384048"/>
          </a:xfrm>
          <a:prstGeom prst="rect">
            <a:avLst/>
          </a:prstGeom>
          <a:noFill/>
          <a:ln/>
        </p:spPr>
        <p:txBody>
          <a:bodyPr wrap="square" lIns="0" tIns="0" rIns="0" bIns="0" rtlCol="0" anchor="t"/>
          <a:lstStyle/>
          <a:p>
            <a:pPr algn="ctr" indent="0" marL="0">
              <a:buNone/>
            </a:pPr>
            <a:r>
              <a:rPr lang="en-US" sz="850" dirty="0">
                <a:solidFill>
                  <a:srgbClr val="5B5B66"/>
                </a:solidFill>
                <a:latin typeface="Segoe UI" pitchFamily="34" charset="0"/>
                <a:ea typeface="Segoe UI" pitchFamily="34" charset="-122"/>
                <a:cs typeface="Segoe UI" pitchFamily="34" charset="-120"/>
              </a:rPr>
              <a:t>6-week shadow mode</a:t>
            </a:r>
            <a:endParaRPr lang="en-US" sz="850" dirty="0"/>
          </a:p>
        </p:txBody>
      </p:sp>
      <p:sp>
        <p:nvSpPr>
          <p:cNvPr id="39" name="Shape 28"/>
          <p:cNvSpPr/>
          <p:nvPr/>
        </p:nvSpPr>
        <p:spPr>
          <a:xfrm>
            <a:off x="7946136" y="2240280"/>
            <a:ext cx="548640" cy="548640"/>
          </a:xfrm>
          <a:prstGeom prst="ellipse">
            <a:avLst/>
          </a:prstGeom>
          <a:solidFill>
            <a:srgbClr val="FFFFFF"/>
          </a:solidFill>
          <a:ln w="19050">
            <a:solidFill>
              <a:srgbClr val="6C4EF5"/>
            </a:solidFill>
            <a:prstDash val="dash"/>
          </a:ln>
        </p:spPr>
      </p:sp>
      <p:pic>
        <p:nvPicPr>
          <p:cNvPr id="40" name="Image 9" descr="preencoded.png">    </p:cNvPr>
          <p:cNvPicPr>
            <a:picLocks noChangeAspect="1"/>
          </p:cNvPicPr>
          <p:nvPr/>
        </p:nvPicPr>
        <p:blipFill>
          <a:blip r:embed="rId10"/>
          <a:stretch>
            <a:fillRect/>
          </a:stretch>
        </p:blipFill>
        <p:spPr>
          <a:xfrm>
            <a:off x="8092440" y="2386584"/>
            <a:ext cx="256032" cy="256032"/>
          </a:xfrm>
          <a:prstGeom prst="rect">
            <a:avLst/>
          </a:prstGeom>
        </p:spPr>
      </p:pic>
      <p:sp>
        <p:nvSpPr>
          <p:cNvPr id="41" name="Text 29"/>
          <p:cNvSpPr txBox="1"/>
          <p:nvPr/>
        </p:nvSpPr>
        <p:spPr>
          <a:xfrm>
            <a:off x="7763256" y="1581912"/>
            <a:ext cx="914400" cy="274320"/>
          </a:xfrm>
          <a:prstGeom prst="rect">
            <a:avLst/>
          </a:prstGeom>
          <a:noFill/>
          <a:ln/>
        </p:spPr>
        <p:txBody>
          <a:bodyPr wrap="square" lIns="0" tIns="0" rIns="0" bIns="0" rtlCol="0" anchor="ctr"/>
          <a:lstStyle/>
          <a:p>
            <a:pPr algn="ctr" indent="0" marL="0">
              <a:buNone/>
            </a:pPr>
            <a:r>
              <a:rPr lang="en-US" sz="1150" b="1" dirty="0">
                <a:solidFill>
                  <a:srgbClr val="161616"/>
                </a:solidFill>
                <a:latin typeface="Segoe UI" pitchFamily="34" charset="0"/>
                <a:ea typeface="Segoe UI" pitchFamily="34" charset="-122"/>
                <a:cs typeface="Segoe UI" pitchFamily="34" charset="-120"/>
              </a:rPr>
              <a:t>Scale</a:t>
            </a:r>
            <a:endParaRPr lang="en-US" sz="1150" dirty="0"/>
          </a:p>
        </p:txBody>
      </p:sp>
      <p:sp>
        <p:nvSpPr>
          <p:cNvPr id="42" name="Text 30"/>
          <p:cNvSpPr txBox="1"/>
          <p:nvPr/>
        </p:nvSpPr>
        <p:spPr>
          <a:xfrm>
            <a:off x="7744968" y="1837944"/>
            <a:ext cx="950976" cy="384048"/>
          </a:xfrm>
          <a:prstGeom prst="rect">
            <a:avLst/>
          </a:prstGeom>
          <a:noFill/>
          <a:ln/>
        </p:spPr>
        <p:txBody>
          <a:bodyPr wrap="square" lIns="0" tIns="0" rIns="0" bIns="0" rtlCol="0" anchor="b"/>
          <a:lstStyle/>
          <a:p>
            <a:pPr algn="ctr" indent="0" marL="0">
              <a:buNone/>
            </a:pPr>
            <a:r>
              <a:rPr lang="en-US" sz="850" dirty="0">
                <a:solidFill>
                  <a:srgbClr val="5B5B66"/>
                </a:solidFill>
                <a:latin typeface="Segoe UI" pitchFamily="34" charset="0"/>
                <a:ea typeface="Segoe UI" pitchFamily="34" charset="-122"/>
                <a:cs typeface="Segoe UI" pitchFamily="34" charset="-120"/>
              </a:rPr>
              <a:t>city by city</a:t>
            </a:r>
            <a:endParaRPr lang="en-US" sz="850" dirty="0"/>
          </a:p>
        </p:txBody>
      </p:sp>
      <p:sp>
        <p:nvSpPr>
          <p:cNvPr id="43" name="Shape 31"/>
          <p:cNvSpPr/>
          <p:nvPr/>
        </p:nvSpPr>
        <p:spPr>
          <a:xfrm>
            <a:off x="1371600" y="3931920"/>
            <a:ext cx="2834640" cy="384048"/>
          </a:xfrm>
          <a:prstGeom prst="roundRect">
            <a:avLst>
              <a:gd name="adj" fmla="val 50000"/>
            </a:avLst>
          </a:prstGeom>
          <a:solidFill>
            <a:srgbClr val="6C4EF5"/>
          </a:solidFill>
          <a:ln w="12700">
            <a:solidFill>
              <a:srgbClr val="6C4EF5"/>
            </a:solidFill>
            <a:prstDash val="solid"/>
          </a:ln>
        </p:spPr>
      </p:sp>
      <p:sp>
        <p:nvSpPr>
          <p:cNvPr id="44" name="Text 32"/>
          <p:cNvSpPr txBox="1"/>
          <p:nvPr/>
        </p:nvSpPr>
        <p:spPr>
          <a:xfrm>
            <a:off x="1371600" y="3931920"/>
            <a:ext cx="28346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Built during the hackathon</a:t>
            </a:r>
            <a:endParaRPr lang="en-US" sz="1100" dirty="0"/>
          </a:p>
        </p:txBody>
      </p:sp>
      <p:sp>
        <p:nvSpPr>
          <p:cNvPr id="45" name="Shape 33"/>
          <p:cNvSpPr/>
          <p:nvPr/>
        </p:nvSpPr>
        <p:spPr>
          <a:xfrm>
            <a:off x="4937760" y="3931920"/>
            <a:ext cx="2834640" cy="384048"/>
          </a:xfrm>
          <a:prstGeom prst="roundRect">
            <a:avLst>
              <a:gd name="adj" fmla="val 50000"/>
            </a:avLst>
          </a:prstGeom>
          <a:solidFill>
            <a:srgbClr val="FFFFFF"/>
          </a:solidFill>
          <a:ln w="15875">
            <a:solidFill>
              <a:srgbClr val="6C4EF5"/>
            </a:solidFill>
            <a:prstDash val="dash"/>
          </a:ln>
        </p:spPr>
      </p:sp>
      <p:sp>
        <p:nvSpPr>
          <p:cNvPr id="46" name="Text 34"/>
          <p:cNvSpPr txBox="1"/>
          <p:nvPr/>
        </p:nvSpPr>
        <p:spPr>
          <a:xfrm>
            <a:off x="4937760" y="3931920"/>
            <a:ext cx="2834640" cy="384048"/>
          </a:xfrm>
          <a:prstGeom prst="rect">
            <a:avLst/>
          </a:prstGeom>
          <a:noFill/>
          <a:ln/>
        </p:spPr>
        <p:txBody>
          <a:bodyPr wrap="square" lIns="0" tIns="0" rIns="0" bIns="0" rtlCol="0" anchor="ctr"/>
          <a:lstStyle/>
          <a:p>
            <a:pPr algn="ctr" indent="0" marL="0">
              <a:buNone/>
            </a:pPr>
            <a:r>
              <a:rPr lang="en-US" sz="1100" b="1" dirty="0">
                <a:solidFill>
                  <a:srgbClr val="6C4EF5"/>
                </a:solidFill>
                <a:latin typeface="Segoe UI" pitchFamily="34" charset="0"/>
                <a:ea typeface="Segoe UI" pitchFamily="34" charset="-122"/>
                <a:cs typeface="Segoe UI" pitchFamily="34" charset="-120"/>
              </a:rPr>
              <a:t>Next: field pilot → scale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256032" y="182880"/>
            <a:ext cx="310896" cy="310896"/>
          </a:xfrm>
          <a:prstGeom prst="roundRect">
            <a:avLst>
              <a:gd name="adj" fmla="val 25000"/>
            </a:avLst>
          </a:prstGeom>
          <a:solidFill>
            <a:srgbClr val="6C4EF5"/>
          </a:solidFill>
          <a:ln w="12700">
            <a:solidFill>
              <a:srgbClr val="6C4EF5"/>
            </a:solidFill>
            <a:prstDash val="solid"/>
          </a:ln>
        </p:spPr>
      </p:sp>
      <p:pic>
        <p:nvPicPr>
          <p:cNvPr id="3" name="Image 0" descr="preencoded.png">    </p:cNvPr>
          <p:cNvPicPr>
            <a:picLocks noChangeAspect="1"/>
          </p:cNvPicPr>
          <p:nvPr/>
        </p:nvPicPr>
        <p:blipFill>
          <a:blip r:embed="rId1"/>
          <a:stretch>
            <a:fillRect/>
          </a:stretch>
        </p:blipFill>
        <p:spPr>
          <a:xfrm>
            <a:off x="324429" y="251277"/>
            <a:ext cx="174102" cy="174102"/>
          </a:xfrm>
          <a:prstGeom prst="rect">
            <a:avLst/>
          </a:prstGeom>
        </p:spPr>
      </p:pic>
      <p:sp>
        <p:nvSpPr>
          <p:cNvPr id="4" name="Text 1"/>
          <p:cNvSpPr txBox="1"/>
          <p:nvPr/>
        </p:nvSpPr>
        <p:spPr>
          <a:xfrm>
            <a:off x="621792" y="146304"/>
            <a:ext cx="1097280" cy="384048"/>
          </a:xfrm>
          <a:prstGeom prst="rect">
            <a:avLst/>
          </a:prstGeom>
          <a:noFill/>
          <a:ln/>
        </p:spPr>
        <p:txBody>
          <a:bodyPr wrap="square" lIns="0" tIns="0" rIns="0" bIns="0" rtlCol="0" anchor="ctr"/>
          <a:lstStyle/>
          <a:p>
            <a:pPr indent="0" marL="0">
              <a:buNone/>
            </a:pPr>
            <a:r>
              <a:rPr lang="en-US" sz="1700" b="1" dirty="0">
                <a:solidFill>
                  <a:srgbClr val="6C4EF5"/>
                </a:solidFill>
                <a:latin typeface="Segoe UI" pitchFamily="34" charset="0"/>
                <a:ea typeface="Segoe UI" pitchFamily="34" charset="-122"/>
                <a:cs typeface="Segoe UI" pitchFamily="34" charset="-120"/>
              </a:rPr>
              <a:t>relay</a:t>
            </a:r>
            <a:endParaRPr lang="en-US" sz="1700" dirty="0"/>
          </a:p>
        </p:txBody>
      </p:sp>
      <p:sp>
        <p:nvSpPr>
          <p:cNvPr id="5" name="Shape 2"/>
          <p:cNvSpPr/>
          <p:nvPr/>
        </p:nvSpPr>
        <p:spPr>
          <a:xfrm>
            <a:off x="3063240" y="1600200"/>
            <a:ext cx="868680" cy="868680"/>
          </a:xfrm>
          <a:prstGeom prst="roundRect">
            <a:avLst>
              <a:gd name="adj" fmla="val 25000"/>
            </a:avLst>
          </a:prstGeom>
          <a:solidFill>
            <a:srgbClr val="6C4EF5"/>
          </a:solidFill>
          <a:ln w="12700">
            <a:solidFill>
              <a:srgbClr val="6C4EF5"/>
            </a:solidFill>
            <a:prstDash val="solid"/>
          </a:ln>
        </p:spPr>
      </p:sp>
      <p:pic>
        <p:nvPicPr>
          <p:cNvPr id="6" name="Image 1" descr="preencoded.png">    </p:cNvPr>
          <p:cNvPicPr>
            <a:picLocks noChangeAspect="1"/>
          </p:cNvPicPr>
          <p:nvPr/>
        </p:nvPicPr>
        <p:blipFill>
          <a:blip r:embed="rId2"/>
          <a:stretch>
            <a:fillRect/>
          </a:stretch>
        </p:blipFill>
        <p:spPr>
          <a:xfrm>
            <a:off x="3254350" y="1791310"/>
            <a:ext cx="486461" cy="486461"/>
          </a:xfrm>
          <a:prstGeom prst="rect">
            <a:avLst/>
          </a:prstGeom>
        </p:spPr>
      </p:pic>
      <p:sp>
        <p:nvSpPr>
          <p:cNvPr id="7" name="Text 3"/>
          <p:cNvSpPr txBox="1"/>
          <p:nvPr/>
        </p:nvSpPr>
        <p:spPr>
          <a:xfrm>
            <a:off x="4041648" y="1490472"/>
            <a:ext cx="2743200" cy="1088136"/>
          </a:xfrm>
          <a:prstGeom prst="rect">
            <a:avLst/>
          </a:prstGeom>
          <a:noFill/>
          <a:ln/>
        </p:spPr>
        <p:txBody>
          <a:bodyPr wrap="square" lIns="0" tIns="0" rIns="0" bIns="0" rtlCol="0" anchor="ctr"/>
          <a:lstStyle/>
          <a:p>
            <a:pPr indent="0" marL="0">
              <a:buNone/>
            </a:pPr>
            <a:r>
              <a:rPr lang="en-US" sz="6000" b="1" dirty="0">
                <a:solidFill>
                  <a:srgbClr val="6C4EF5"/>
                </a:solidFill>
                <a:latin typeface="Segoe UI" pitchFamily="34" charset="0"/>
                <a:ea typeface="Segoe UI" pitchFamily="34" charset="-122"/>
                <a:cs typeface="Segoe UI" pitchFamily="34" charset="-120"/>
              </a:rPr>
              <a:t>relay</a:t>
            </a:r>
            <a:endParaRPr lang="en-US" sz="6000" dirty="0"/>
          </a:p>
        </p:txBody>
      </p:sp>
      <p:sp>
        <p:nvSpPr>
          <p:cNvPr id="8" name="Text 4"/>
          <p:cNvSpPr txBox="1"/>
          <p:nvPr/>
        </p:nvSpPr>
        <p:spPr>
          <a:xfrm>
            <a:off x="731520" y="2651760"/>
            <a:ext cx="7680960" cy="502920"/>
          </a:xfrm>
          <a:prstGeom prst="rect">
            <a:avLst/>
          </a:prstGeom>
          <a:noFill/>
          <a:ln/>
        </p:spPr>
        <p:txBody>
          <a:bodyPr wrap="square" lIns="0" tIns="0" rIns="0" bIns="0" rtlCol="0" anchor="ctr"/>
          <a:lstStyle/>
          <a:p>
            <a:pPr algn="ctr" indent="0" marL="0">
              <a:buNone/>
            </a:pPr>
            <a:r>
              <a:rPr lang="en-US" sz="2200" i="1" dirty="0">
                <a:solidFill>
                  <a:srgbClr val="161616"/>
                </a:solidFill>
                <a:latin typeface="Segoe UI" pitchFamily="34" charset="0"/>
                <a:ea typeface="Segoe UI" pitchFamily="34" charset="-122"/>
                <a:cs typeface="Segoe UI" pitchFamily="34" charset="-120"/>
              </a:rPr>
              <a:t>Surplus food, on a plate, while it's still safe to eat.</a:t>
            </a:r>
            <a:endParaRPr lang="en-US" sz="2200" dirty="0"/>
          </a:p>
        </p:txBody>
      </p:sp>
      <p:sp>
        <p:nvSpPr>
          <p:cNvPr id="9" name="Shape 5"/>
          <p:cNvSpPr/>
          <p:nvPr/>
        </p:nvSpPr>
        <p:spPr>
          <a:xfrm>
            <a:off x="1234440" y="3429000"/>
            <a:ext cx="1554480" cy="402336"/>
          </a:xfrm>
          <a:prstGeom prst="roundRect">
            <a:avLst>
              <a:gd name="adj" fmla="val 50000"/>
            </a:avLst>
          </a:prstGeom>
          <a:solidFill>
            <a:srgbClr val="6C4EF5"/>
          </a:solidFill>
          <a:ln w="12700">
            <a:solidFill>
              <a:srgbClr val="6C4EF5"/>
            </a:solidFill>
            <a:prstDash val="solid"/>
          </a:ln>
        </p:spPr>
      </p:sp>
      <p:sp>
        <p:nvSpPr>
          <p:cNvPr id="10" name="Text 6"/>
          <p:cNvSpPr txBox="1"/>
          <p:nvPr/>
        </p:nvSpPr>
        <p:spPr>
          <a:xfrm>
            <a:off x="1234440" y="3429000"/>
            <a:ext cx="155448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Live demo</a:t>
            </a:r>
            <a:endParaRPr lang="en-US" sz="1100" dirty="0"/>
          </a:p>
        </p:txBody>
      </p:sp>
      <p:sp>
        <p:nvSpPr>
          <p:cNvPr id="11" name="Shape 7"/>
          <p:cNvSpPr/>
          <p:nvPr/>
        </p:nvSpPr>
        <p:spPr>
          <a:xfrm>
            <a:off x="2971800" y="3429000"/>
            <a:ext cx="1554480" cy="402336"/>
          </a:xfrm>
          <a:prstGeom prst="roundRect">
            <a:avLst>
              <a:gd name="adj" fmla="val 50000"/>
            </a:avLst>
          </a:prstGeom>
          <a:solidFill>
            <a:srgbClr val="EFEBFE"/>
          </a:solidFill>
          <a:ln w="12700">
            <a:solidFill>
              <a:srgbClr val="EFEBFE"/>
            </a:solidFill>
            <a:prstDash val="solid"/>
          </a:ln>
        </p:spPr>
      </p:sp>
      <p:sp>
        <p:nvSpPr>
          <p:cNvPr id="12" name="Text 8"/>
          <p:cNvSpPr txBox="1"/>
          <p:nvPr/>
        </p:nvSpPr>
        <p:spPr>
          <a:xfrm>
            <a:off x="2971800" y="3429000"/>
            <a:ext cx="1554480" cy="402336"/>
          </a:xfrm>
          <a:prstGeom prst="rect">
            <a:avLst/>
          </a:prstGeom>
          <a:noFill/>
          <a:ln/>
        </p:spPr>
        <p:txBody>
          <a:bodyPr wrap="square" lIns="0" tIns="0" rIns="0" bIns="0" rtlCol="0" anchor="ctr"/>
          <a:lstStyle/>
          <a:p>
            <a:pPr algn="ctr" indent="0" marL="0">
              <a:buNone/>
            </a:pPr>
            <a:r>
              <a:rPr lang="en-US" sz="1100" b="1" dirty="0">
                <a:solidFill>
                  <a:srgbClr val="6C4EF5"/>
                </a:solidFill>
                <a:latin typeface="Segoe UI" pitchFamily="34" charset="0"/>
                <a:ea typeface="Segoe UI" pitchFamily="34" charset="-122"/>
                <a:cs typeface="Segoe UI" pitchFamily="34" charset="-120"/>
              </a:rPr>
              <a:t>Safety by rules</a:t>
            </a:r>
            <a:endParaRPr lang="en-US" sz="1100" dirty="0"/>
          </a:p>
        </p:txBody>
      </p:sp>
      <p:sp>
        <p:nvSpPr>
          <p:cNvPr id="13" name="Shape 9"/>
          <p:cNvSpPr/>
          <p:nvPr/>
        </p:nvSpPr>
        <p:spPr>
          <a:xfrm>
            <a:off x="4709160" y="3429000"/>
            <a:ext cx="1554480" cy="402336"/>
          </a:xfrm>
          <a:prstGeom prst="roundRect">
            <a:avLst>
              <a:gd name="adj" fmla="val 50000"/>
            </a:avLst>
          </a:prstGeom>
          <a:solidFill>
            <a:srgbClr val="EFEBFE"/>
          </a:solidFill>
          <a:ln w="12700">
            <a:solidFill>
              <a:srgbClr val="EFEBFE"/>
            </a:solidFill>
            <a:prstDash val="solid"/>
          </a:ln>
        </p:spPr>
      </p:sp>
      <p:sp>
        <p:nvSpPr>
          <p:cNvPr id="14" name="Text 10"/>
          <p:cNvSpPr txBox="1"/>
          <p:nvPr/>
        </p:nvSpPr>
        <p:spPr>
          <a:xfrm>
            <a:off x="4709160" y="3429000"/>
            <a:ext cx="1554480" cy="402336"/>
          </a:xfrm>
          <a:prstGeom prst="rect">
            <a:avLst/>
          </a:prstGeom>
          <a:noFill/>
          <a:ln/>
        </p:spPr>
        <p:txBody>
          <a:bodyPr wrap="square" lIns="0" tIns="0" rIns="0" bIns="0" rtlCol="0" anchor="ctr"/>
          <a:lstStyle/>
          <a:p>
            <a:pPr algn="ctr" indent="0" marL="0">
              <a:buNone/>
            </a:pPr>
            <a:r>
              <a:rPr lang="en-US" sz="1100" b="1" dirty="0">
                <a:solidFill>
                  <a:srgbClr val="6C4EF5"/>
                </a:solidFill>
                <a:latin typeface="Segoe UI" pitchFamily="34" charset="0"/>
                <a:ea typeface="Segoe UI" pitchFamily="34" charset="-122"/>
                <a:cs typeface="Segoe UI" pitchFamily="34" charset="-120"/>
              </a:rPr>
              <a:t>Efficiency by AI</a:t>
            </a:r>
            <a:endParaRPr lang="en-US" sz="1100" dirty="0"/>
          </a:p>
        </p:txBody>
      </p:sp>
      <p:sp>
        <p:nvSpPr>
          <p:cNvPr id="15" name="Shape 11"/>
          <p:cNvSpPr/>
          <p:nvPr/>
        </p:nvSpPr>
        <p:spPr>
          <a:xfrm>
            <a:off x="6446520" y="3429000"/>
            <a:ext cx="1554480" cy="402336"/>
          </a:xfrm>
          <a:prstGeom prst="roundRect">
            <a:avLst>
              <a:gd name="adj" fmla="val 50000"/>
            </a:avLst>
          </a:prstGeom>
          <a:solidFill>
            <a:srgbClr val="EFEBFE"/>
          </a:solidFill>
          <a:ln w="12700">
            <a:solidFill>
              <a:srgbClr val="EFEBFE"/>
            </a:solidFill>
            <a:prstDash val="solid"/>
          </a:ln>
        </p:spPr>
      </p:sp>
      <p:sp>
        <p:nvSpPr>
          <p:cNvPr id="16" name="Text 12"/>
          <p:cNvSpPr txBox="1"/>
          <p:nvPr/>
        </p:nvSpPr>
        <p:spPr>
          <a:xfrm>
            <a:off x="6446520" y="3429000"/>
            <a:ext cx="1554480" cy="402336"/>
          </a:xfrm>
          <a:prstGeom prst="rect">
            <a:avLst/>
          </a:prstGeom>
          <a:noFill/>
          <a:ln/>
        </p:spPr>
        <p:txBody>
          <a:bodyPr wrap="square" lIns="0" tIns="0" rIns="0" bIns="0" rtlCol="0" anchor="ctr"/>
          <a:lstStyle/>
          <a:p>
            <a:pPr algn="ctr" indent="0" marL="0">
              <a:buNone/>
            </a:pPr>
            <a:r>
              <a:rPr lang="en-US" sz="1100" b="1" dirty="0">
                <a:solidFill>
                  <a:srgbClr val="6C4EF5"/>
                </a:solidFill>
                <a:latin typeface="Segoe UI" pitchFamily="34" charset="0"/>
                <a:ea typeface="Segoe UI" pitchFamily="34" charset="-122"/>
                <a:cs typeface="Segoe UI" pitchFamily="34" charset="-120"/>
              </a:rPr>
              <a:t>Deployable at ₹0</a:t>
            </a:r>
            <a:endParaRPr lang="en-US" sz="1100" dirty="0"/>
          </a:p>
        </p:txBody>
      </p:sp>
      <p:sp>
        <p:nvSpPr>
          <p:cNvPr id="17" name="Text 13"/>
          <p:cNvSpPr txBox="1"/>
          <p:nvPr/>
        </p:nvSpPr>
        <p:spPr>
          <a:xfrm>
            <a:off x="914400" y="4206240"/>
            <a:ext cx="7315200" cy="411480"/>
          </a:xfrm>
          <a:prstGeom prst="rect">
            <a:avLst/>
          </a:prstGeom>
          <a:noFill/>
          <a:ln/>
        </p:spPr>
        <p:txBody>
          <a:bodyPr wrap="square" lIns="0" tIns="0" rIns="0" bIns="0" rtlCol="0" anchor="ctr"/>
          <a:lstStyle/>
          <a:p>
            <a:pPr algn="ctr" indent="0" marL="0">
              <a:buNone/>
            </a:pPr>
            <a:r>
              <a:rPr lang="en-US" sz="1800" b="1" dirty="0">
                <a:solidFill>
                  <a:srgbClr val="161616"/>
                </a:solidFill>
                <a:latin typeface="Segoe UI" pitchFamily="34" charset="0"/>
                <a:ea typeface="Segoe UI" pitchFamily="34" charset="-122"/>
                <a:cs typeface="Segoe UI" pitchFamily="34" charset="-120"/>
              </a:rPr>
              <a:t>Thank you  ·  Team ____</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Relay: Deadline-aware food rescue dispatch</dc:title>
  <dc:subject>PptxGenJS Presentation</dc:subject>
  <dc:creator>PptxGenJS</dc:creator>
  <cp:lastModifiedBy>PptxGenJS</cp:lastModifiedBy>
  <cp:revision>1</cp:revision>
  <dcterms:created xsi:type="dcterms:W3CDTF">2026-09-25T01:25:40Z</dcterms:created>
  <dcterms:modified xsi:type="dcterms:W3CDTF">2026-09-25T01:25:40Z</dcterms:modified>
</cp:coreProperties>
</file>